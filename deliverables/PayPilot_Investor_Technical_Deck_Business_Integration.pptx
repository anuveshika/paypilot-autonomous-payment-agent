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PayPilot is a reusable control layer for agentic commerce. The current repository proves bounded authorization, deterministic metering, settlement state, and signed receipts on a local demo rail. This updated deck shows the exact Circle path required for eligibility, while clearly separating future integrations from what exists today.</a:t>
            </a:r>
          </a:p>
          <a:p>
            <a:endParaRPr/>
          </a:p>
          <a:p>
            <a:r>
              <a:t>[Sources]</a:t>
            </a:r>
          </a:p>
          <a:p>
            <a:r>
              <a:t>- Official requirements: https://www.geminixprize.com/agentic-payments?utm_source=luma#section-5</a:t>
            </a:r>
          </a:p>
          <a:p>
            <a:r>
              <a:t>- Internal implementation: README.md</a:t>
            </a:r>
          </a:p>
          <a:p>
            <a:r>
              <a:t>- Internal architecture: docs/ARCHITECTURE.md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commercial gap is not simply API access to a payment provider. Agentic services need bounded authority, exact post-usage charging, and independently verifiable proof. The competition also makes autonomy binary: a human-completed checkout does not qualify.</a:t>
            </a:r>
          </a:p>
          <a:p>
            <a:endParaRPr/>
          </a:p>
          <a:p>
            <a:r>
              <a:t>[Sources]</a:t>
            </a:r>
          </a:p>
          <a:p>
            <a:r>
              <a:t>- Official requirements and eligibility: https://www.geminixprize.com/agentic-payments?utm_source=luma#section-5</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extensibility story is simple: users keep one familiar payment policy and one Circle wallet, while each business supplies a trusted service plugin, merchant identity, pricing version, and typed usage contract. New businesses do not receive permission to rewrite the user’s financial controls.</a:t>
            </a:r>
          </a:p>
          <a:p>
            <a:endParaRPr/>
          </a:p>
          <a:p>
            <a:r>
              <a:t>[Sources]</a:t>
            </a:r>
          </a:p>
          <a:p>
            <a:r>
              <a:t>- Built-in business plugins: src/businesses/registry.js</a:t>
            </a:r>
          </a:p>
          <a:p>
            <a:r>
              <a:t>- Plugin boundary: docs/ARCHITECTURE.md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user funds and configures the wallet before the task. That prior consent is not a manual checkout for the qualifying payment; it is a bounded policy. Once the task begins, the agent selects the permitted service, executes it, pays, and returns proof without a human approving the individual transaction.</a:t>
            </a:r>
          </a:p>
          <a:p>
            <a:endParaRPr/>
          </a:p>
          <a:p>
            <a:r>
              <a:t>[Sources]</a:t>
            </a:r>
          </a:p>
          <a:p>
            <a:r>
              <a:t>- Circle wallet policies: https://www.circle.com/agent-stack</a:t>
            </a:r>
          </a:p>
          <a:p>
            <a:r>
              <a:t>- Official autonomy rule: https://www.geminixprize.com/agentic-payments?utm_source=luma#section-5</a:t>
            </a:r>
          </a:p>
          <a:p>
            <a:r>
              <a:t>- Current PayPilot flow: README.md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Business onboarding is deliberately narrow. The business declares identity, service inputs, a plan, a pricing version, allowed usage event types, and execution logic. Registration is an administrator or deployment action—not something the user or model can create at runtime.</a:t>
            </a:r>
          </a:p>
          <a:p>
            <a:endParaRPr/>
          </a:p>
          <a:p>
            <a:r>
              <a:t>[Sources]</a:t>
            </a:r>
          </a:p>
          <a:p>
            <a:r>
              <a:t>- Business registry and plugin contract: src/businesses/registry.js</a:t>
            </a:r>
          </a:p>
          <a:p>
            <a:r>
              <a:t>- Trust boundaries: docs/ARCHITECTURE.md</a:t>
            </a:r>
          </a:p>
          <a:p>
            <a:r>
              <a:t>- Circle Marketplace: https://www.circle.com/agent-stack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provider-neutral end-to-end path. The user pre-authorizes a bounded session. The configured AI planner selects tools and business services. PayPilot validates policy, meters usage, and computes the exact settlement. Circle Agent Wallet executes the autonomous USDC payment. The business returns the result, and the receipt records independently verifiable proof.</a:t>
            </a:r>
          </a:p>
          <a:p>
            <a:endParaRPr/>
          </a:p>
          <a:p>
            <a:r>
              <a:t>[Sources]</a:t>
            </a:r>
          </a:p>
          <a:p>
            <a:r>
              <a:t>- Official Circle Agent Stack: https://www.circle.com/agent-stack</a:t>
            </a:r>
          </a:p>
          <a:p>
            <a:r>
              <a:t>- PayPilot trust boundary: docs/ARCHITECTURE.md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Circle’s agent tooling for wallet operations, service discovery, and USDC payments. Bind those capabilities behind PayPilot’s prior user-approved policy and session, and require every business adapter to return metered usage and delivery evidence before settlement.</a:t>
            </a:r>
          </a:p>
          <a:p>
            <a:endParaRPr/>
          </a:p>
          <a:p>
            <a:r>
              <a:t>[Sources]</a:t>
            </a:r>
          </a:p>
          <a:p>
            <a:r>
              <a:t>- Circle Agent Stack: https://www.circle.com/agent-stack</a:t>
            </a:r>
          </a:p>
          <a:p>
            <a:r>
              <a:t>- Current PayPilot flow: README.md</a:t>
            </a:r>
          </a:p>
          <a:p>
            <a:r>
              <a:t>- PayPilot trust boundary: docs/ARCHITECTURE.md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standard HTTPS path when the business exposes a versioned API. Use the private adapter when the business must remain behind its existing gateway or network. In both models, PayPilot sends a scoped task request and receives result, metered usage, and delivery evidence; the business never receives wallet credentials, payment-provider secrets, or settlement authority.</a:t>
            </a:r>
          </a:p>
          <a:p>
            <a:endParaRPr/>
          </a:p>
          <a:p>
            <a:r>
              <a:t>[Sources]</a:t>
            </a:r>
          </a:p>
          <a:p>
            <a:r>
              <a:t>- Internal implementation: README.md</a:t>
            </a:r>
          </a:p>
          <a:p>
            <a:r>
              <a:t>- Internal architecture: docs/ARCHITECTURE.md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Razorpay should complement rather than replace Circle. It improves the payment experience for customers who want INR and a familiar human checkout. However, that flow does not satisfy the Circle prize’s autonomous USDC requirement. Use Circle in the competition demo and keep Razorpay as an optional commercial rail.</a:t>
            </a:r>
          </a:p>
          <a:p>
            <a:endParaRPr/>
          </a:p>
          <a:p>
            <a:r>
              <a:t>[Sources]</a:t>
            </a:r>
          </a:p>
          <a:p>
            <a:r>
              <a:t>- Internal Razorpay guide: docs/RAZORPAY-INTEGRATION.md</a:t>
            </a:r>
          </a:p>
          <a:p>
            <a:r>
              <a:t>- Current helpers: src/payments/razorpay-signatures.js</a:t>
            </a:r>
          </a:p>
          <a:p>
            <a:r>
              <a:t>- Razorpay Standard Checkout: https://razorpay.com/docs/payments/payment-gateway/web-integration/standard/</a:t>
            </a:r>
          </a:p>
          <a:p>
            <a:r>
              <a:t>- Razorpay webhooks: https://razorpay.com/docs/webhooks/</a:t>
            </a:r>
          </a:p>
          <a:p>
            <a:r>
              <a:t>- Official Circle requirement: https://www.geminixprize.com/agentic-payments?utm_source=luma#section-5</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PayPilot treats the model as an untrusted planner. Only deterministic code may calculate price, verify policy, persist usage, transition the session, submit the payment, or create proof fields. Circle adds a second policy boundary at the wallet level.</a:t>
            </a:r>
          </a:p>
          <a:p>
            <a:endParaRPr/>
          </a:p>
          <a:p>
            <a:r>
              <a:t>[Sources]</a:t>
            </a:r>
          </a:p>
          <a:p>
            <a:r>
              <a:t>- PayPilot trust boundary: docs/ARCHITECTURE.md</a:t>
            </a:r>
          </a:p>
          <a:p>
            <a:r>
              <a:t>- Payment policy engine: src/services/payment-policy-engine.js</a:t>
            </a:r>
          </a:p>
          <a:p>
            <a:r>
              <a:t>- Circle Agent Wallet controls: https://www.circle.com/agent-stack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both a product and submission contract. The explorer URL cannot be a hard-coded or sample link. It must be generated from the confirmed network and transaction reference, displayed in the UI and receipt, and clicked during the recorded demo to show the independent explorer record.</a:t>
            </a:r>
          </a:p>
          <a:p>
            <a:endParaRPr/>
          </a:p>
          <a:p>
            <a:r>
              <a:t>[Sources]</a:t>
            </a:r>
          </a:p>
          <a:p>
            <a:r>
              <a:t>- Official wallet and explorer proof requirement: https://www.geminixprize.com/agentic-payments?utm_source=luma#section-5</a:t>
            </a:r>
          </a:p>
          <a:p>
            <a:r>
              <a:t>- Current receipt implementation: src/agents/merchant-billing-agent.js</a:t>
            </a:r>
          </a:p>
          <a:p>
            <a:r>
              <a:t>- Current demo rail: src/payments/demo-payment-rail.js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roadmap first establishes the governed Circle money path, then connects provider-neutral business APIs or private adapters. Verified payment proof follows, and commercial rails can be added after the core control, metering, settlement, and receipt contracts are stable.</a:t>
            </a:r>
          </a:p>
          <a:p>
            <a:endParaRPr/>
          </a:p>
          <a:p>
            <a:r>
              <a:t>[Sources]</a:t>
            </a:r>
          </a:p>
          <a:p>
            <a:r>
              <a:t>- Internal production plan: docs/PRODUCTION-DEPLOYMENT.md</a:t>
            </a:r>
          </a:p>
          <a:p>
            <a:r>
              <a:t>- Internal architecture: docs/ARCHITECTURE.md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A0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3BE7385-7C80-45DC-8D9A-4D0AA5D91A65}"/>
              </a:ext>
            </a:extLst>
          </p:cNvPr>
          <p:cNvSpPr>
            <a:spLocks noGrp="1"/>
          </p:cNvSpPr>
          <p:nvPr/>
        </p:nvSpPr>
        <p:spPr>
          <a:xfrm>
            <a:off x="8286750" y="0"/>
            <a:ext cx="3905250" cy="6858000"/>
          </a:xfrm>
          <a:prstGeom prst="rect">
            <a:avLst/>
          </a:prstGeom>
          <a:solidFill>
            <a:srgbClr val="0A0F18"/>
          </a:solidFill>
          <a:ln w="0">
            <a:noFill/>
            <a:prstDash val="solid"/>
          </a:ln>
        </p:spPr>
        <p:txBody>
          <a:bodyPr/>
          <a:lstStyle/>
          <a:p>
            <a:endParaRPr lang="en-IN"/>
          </a:p>
        </p:txBody>
      </p:sp>
      <p:sp>
        <p:nvSpPr>
          <p:cNvPr id="2" name="Rectangle 1">
            <a:extLst>
              <a:ext uri="{FF2B5EF4-FFF2-40B4-BE49-F238E27FC236}">
                <a16:creationId xmlns:a16="http://schemas.microsoft.com/office/drawing/2014/main" id="{B1D76B8E-AA9B-43D6-90B6-712F33F7540D}"/>
              </a:ext>
            </a:extLst>
          </p:cNvPr>
          <p:cNvSpPr>
            <a:spLocks noGrp="1"/>
          </p:cNvSpPr>
          <p:nvPr/>
        </p:nvSpPr>
        <p:spPr>
          <a:xfrm>
            <a:off x="8286750" y="0"/>
            <a:ext cx="76200" cy="6858000"/>
          </a:xfrm>
          <a:prstGeom prst="rect">
            <a:avLst/>
          </a:prstGeom>
          <a:solidFill>
            <a:srgbClr val="5BE7FF"/>
          </a:solidFill>
          <a:ln w="0">
            <a:noFill/>
            <a:prstDash val="solid"/>
          </a:ln>
        </p:spPr>
        <p:txBody>
          <a:bodyPr/>
          <a:lstStyle/>
          <a:p>
            <a:endParaRPr lang="en-IN"/>
          </a:p>
        </p:txBody>
      </p:sp>
      <p:sp>
        <p:nvSpPr>
          <p:cNvPr id="3" name="Rectangle 2">
            <a:extLst>
              <a:ext uri="{FF2B5EF4-FFF2-40B4-BE49-F238E27FC236}">
                <a16:creationId xmlns:a16="http://schemas.microsoft.com/office/drawing/2014/main" id="{AF163D19-41B3-4940-86CD-D5BCC0C9EAFD}"/>
              </a:ext>
            </a:extLst>
          </p:cNvPr>
          <p:cNvSpPr>
            <a:spLocks noGrp="1"/>
          </p:cNvSpPr>
          <p:nvPr/>
        </p:nvSpPr>
        <p:spPr>
          <a:xfrm>
            <a:off x="457200" y="323850"/>
            <a:ext cx="7334250" cy="2286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5BE7FF"/>
                </a:solidFill>
                <a:latin typeface="Aptos"/>
                <a:ea typeface="Aptos"/>
                <a:cs typeface="Aptos"/>
              </a:defRPr>
            </a:pPr>
            <a:r>
              <a:rPr sz="1050" b="1">
                <a:solidFill>
                  <a:srgbClr val="5BE7FF"/>
                </a:solidFill>
                <a:latin typeface="Aptos"/>
                <a:ea typeface="Aptos"/>
                <a:cs typeface="Aptos"/>
              </a:rPr>
              <a:t>INVESTOR + TECHNICAL ARCHITECTURE REVIEW</a:t>
            </a:r>
          </a:p>
        </p:txBody>
      </p:sp>
      <p:sp>
        <p:nvSpPr>
          <p:cNvPr id="4" name="Rectangle 3">
            <a:extLst>
              <a:ext uri="{FF2B5EF4-FFF2-40B4-BE49-F238E27FC236}">
                <a16:creationId xmlns:a16="http://schemas.microsoft.com/office/drawing/2014/main" id="{2D4CFF3F-1116-48D4-AE22-D784C5BA7C68}"/>
              </a:ext>
            </a:extLst>
          </p:cNvPr>
          <p:cNvSpPr>
            <a:spLocks noGrp="1"/>
          </p:cNvSpPr>
          <p:nvPr/>
        </p:nvSpPr>
        <p:spPr>
          <a:xfrm>
            <a:off x="457200" y="1371600"/>
            <a:ext cx="6858000" cy="895350"/>
          </a:xfrm>
          <a:prstGeom prst="rect">
            <a:avLst/>
          </a:prstGeom>
          <a:noFill/>
          <a:ln w="0">
            <a:noFill/>
            <a:prstDash val="solid"/>
          </a:ln>
        </p:spPr>
        <p:txBody>
          <a:bodyPr wrap="square" lIns="0" tIns="0" rIns="0" bIns="0" anchor="t">
            <a:normAutofit/>
          </a:bodyPr>
          <a:lstStyle/>
          <a:p>
            <a:pPr algn="l">
              <a:lnSpc>
                <a:spcPct val="90000"/>
              </a:lnSpc>
              <a:buNone/>
              <a:defRPr sz="6150" b="1">
                <a:solidFill>
                  <a:srgbClr val="F4F7FB"/>
                </a:solidFill>
                <a:latin typeface="Aptos"/>
                <a:ea typeface="Aptos"/>
                <a:cs typeface="Aptos"/>
              </a:defRPr>
            </a:pPr>
            <a:r>
              <a:rPr sz="6150" b="1">
                <a:solidFill>
                  <a:srgbClr val="F4F7FB"/>
                </a:solidFill>
                <a:latin typeface="Aptos"/>
                <a:ea typeface="Aptos"/>
                <a:cs typeface="Aptos"/>
              </a:rPr>
              <a:t>PayPilot</a:t>
            </a:r>
          </a:p>
        </p:txBody>
      </p:sp>
      <p:sp>
        <p:nvSpPr>
          <p:cNvPr id="5" name="Rectangle 4">
            <a:extLst>
              <a:ext uri="{FF2B5EF4-FFF2-40B4-BE49-F238E27FC236}">
                <a16:creationId xmlns:a16="http://schemas.microsoft.com/office/drawing/2014/main" id="{9011B7C7-7EDC-4B1C-B92C-9207C35C60CE}"/>
              </a:ext>
            </a:extLst>
          </p:cNvPr>
          <p:cNvSpPr>
            <a:spLocks noGrp="1"/>
          </p:cNvSpPr>
          <p:nvPr/>
        </p:nvSpPr>
        <p:spPr>
          <a:xfrm>
            <a:off x="457200" y="2514600"/>
            <a:ext cx="7000875" cy="1238250"/>
          </a:xfrm>
          <a:prstGeom prst="rect">
            <a:avLst/>
          </a:prstGeom>
          <a:noFill/>
          <a:ln w="0">
            <a:noFill/>
            <a:prstDash val="solid"/>
          </a:ln>
        </p:spPr>
        <p:txBody>
          <a:bodyPr wrap="square" lIns="0" tIns="0" rIns="0" bIns="0" anchor="t">
            <a:normAutofit/>
          </a:bodyPr>
          <a:lstStyle/>
          <a:p>
            <a:pPr algn="l">
              <a:lnSpc>
                <a:spcPct val="96000"/>
              </a:lnSpc>
              <a:buNone/>
              <a:defRPr sz="3450" b="1">
                <a:solidFill>
                  <a:srgbClr val="F4F7FB"/>
                </a:solidFill>
                <a:latin typeface="Aptos"/>
                <a:ea typeface="Aptos"/>
                <a:cs typeface="Aptos"/>
              </a:defRPr>
            </a:pPr>
            <a:r>
              <a:rPr sz="3450" b="1">
                <a:solidFill>
                  <a:srgbClr val="F4F7FB"/>
                </a:solidFill>
                <a:latin typeface="Aptos"/>
                <a:ea typeface="Aptos"/>
                <a:cs typeface="Aptos"/>
              </a:rPr>
              <a:t>Autonomous payments</a:t>
            </a:r>
          </a:p>
          <a:p>
            <a:pPr algn="l">
              <a:lnSpc>
                <a:spcPct val="96000"/>
              </a:lnSpc>
              <a:buNone/>
              <a:defRPr sz="3450" b="1">
                <a:solidFill>
                  <a:srgbClr val="F4F7FB"/>
                </a:solidFill>
                <a:latin typeface="Aptos"/>
                <a:ea typeface="Aptos"/>
                <a:cs typeface="Aptos"/>
              </a:defRPr>
            </a:pPr>
            <a:r>
              <a:rPr sz="3450" b="1">
                <a:solidFill>
                  <a:srgbClr val="F4F7FB"/>
                </a:solidFill>
                <a:latin typeface="Aptos"/>
                <a:ea typeface="Aptos"/>
                <a:cs typeface="Aptos"/>
              </a:rPr>
              <a:t>that prove themselves</a:t>
            </a:r>
          </a:p>
        </p:txBody>
      </p:sp>
      <p:sp>
        <p:nvSpPr>
          <p:cNvPr id="6" name="Rectangle 5">
            <a:extLst>
              <a:ext uri="{FF2B5EF4-FFF2-40B4-BE49-F238E27FC236}">
                <a16:creationId xmlns:a16="http://schemas.microsoft.com/office/drawing/2014/main" id="{1FF67EE1-6398-4E86-81A0-AC9CEDD5643A}"/>
              </a:ext>
            </a:extLst>
          </p:cNvPr>
          <p:cNvSpPr>
            <a:spLocks noGrp="1"/>
          </p:cNvSpPr>
          <p:nvPr/>
        </p:nvSpPr>
        <p:spPr>
          <a:xfrm>
            <a:off x="457200" y="4191000"/>
            <a:ext cx="7048500" cy="495300"/>
          </a:xfrm>
          <a:prstGeom prst="rect">
            <a:avLst/>
          </a:prstGeom>
          <a:noFill/>
          <a:ln w="0">
            <a:noFill/>
            <a:prstDash val="solid"/>
          </a:ln>
        </p:spPr>
        <p:txBody>
          <a:bodyPr wrap="square" lIns="0" tIns="0" rIns="0" bIns="0" anchor="t">
            <a:normAutofit/>
          </a:bodyPr>
          <a:lstStyle/>
          <a:p>
            <a:pPr algn="l">
              <a:lnSpc>
                <a:spcPct val="102000"/>
              </a:lnSpc>
              <a:buNone/>
              <a:defRPr sz="1650" b="0">
                <a:solidFill>
                  <a:srgbClr val="99A6B8"/>
                </a:solidFill>
                <a:latin typeface="Aptos"/>
                <a:ea typeface="Aptos"/>
                <a:cs typeface="Aptos"/>
              </a:defRPr>
            </a:pPr>
            <a:r>
              <a:rPr sz="1650" b="0">
                <a:solidFill>
                  <a:srgbClr val="99A6B8"/>
                </a:solidFill>
                <a:latin typeface="Aptos"/>
                <a:ea typeface="Aptos"/>
                <a:cs typeface="Aptos"/>
              </a:rPr>
              <a:t>One payment agent • many AI businesses • bounded USDC authority</a:t>
            </a:r>
          </a:p>
        </p:txBody>
      </p:sp>
      <p:sp>
        <p:nvSpPr>
          <p:cNvPr id="7" name="Straight Connector 6">
            <a:extLst>
              <a:ext uri="{FF2B5EF4-FFF2-40B4-BE49-F238E27FC236}">
                <a16:creationId xmlns:a16="http://schemas.microsoft.com/office/drawing/2014/main" id="{1628B2DE-2FAB-48DF-95CD-79955FCFC5C1}"/>
              </a:ext>
            </a:extLst>
          </p:cNvPr>
          <p:cNvSpPr>
            <a:spLocks noGrp="1"/>
          </p:cNvSpPr>
          <p:nvPr/>
        </p:nvSpPr>
        <p:spPr>
          <a:xfrm>
            <a:off x="457200" y="4953000"/>
            <a:ext cx="6762750" cy="0"/>
          </a:xfrm>
          <a:prstGeom prst="line">
            <a:avLst/>
          </a:prstGeom>
          <a:noFill/>
          <a:ln w="19050">
            <a:solidFill>
              <a:srgbClr val="2A3548"/>
            </a:solidFill>
            <a:prstDash val="solid"/>
          </a:ln>
        </p:spPr>
        <p:txBody>
          <a:bodyPr/>
          <a:lstStyle/>
          <a:p>
            <a:endParaRPr lang="en-IN"/>
          </a:p>
        </p:txBody>
      </p:sp>
      <p:sp>
        <p:nvSpPr>
          <p:cNvPr id="8" name="Rectangle 7">
            <a:extLst>
              <a:ext uri="{FF2B5EF4-FFF2-40B4-BE49-F238E27FC236}">
                <a16:creationId xmlns:a16="http://schemas.microsoft.com/office/drawing/2014/main" id="{9343D5C6-21D8-4CB7-8E31-2A18939F7C42}"/>
              </a:ext>
            </a:extLst>
          </p:cNvPr>
          <p:cNvSpPr>
            <a:spLocks noGrp="1"/>
          </p:cNvSpPr>
          <p:nvPr/>
        </p:nvSpPr>
        <p:spPr>
          <a:xfrm>
            <a:off x="457200" y="5191125"/>
            <a:ext cx="5143500" cy="285750"/>
          </a:xfrm>
          <a:prstGeom prst="rect">
            <a:avLst/>
          </a:prstGeom>
          <a:noFill/>
          <a:ln w="0">
            <a:noFill/>
            <a:prstDash val="solid"/>
          </a:ln>
        </p:spPr>
        <p:txBody>
          <a:bodyPr wrap="square" lIns="0" tIns="0" rIns="0" bIns="0" anchor="t">
            <a:normAutofit/>
          </a:bodyPr>
          <a:lstStyle/>
          <a:p>
            <a:pPr algn="l">
              <a:lnSpc>
                <a:spcPct val="102000"/>
              </a:lnSpc>
              <a:buNone/>
              <a:defRPr sz="1425" b="1">
                <a:solidFill>
                  <a:srgbClr val="F4F7FB"/>
                </a:solidFill>
                <a:latin typeface="Aptos"/>
                <a:ea typeface="Aptos"/>
                <a:cs typeface="Aptos"/>
              </a:defRPr>
            </a:pPr>
            <a:r>
              <a:rPr sz="1425" b="1">
                <a:solidFill>
                  <a:srgbClr val="F4F7FB"/>
                </a:solidFill>
                <a:latin typeface="Aptos"/>
                <a:ea typeface="Aptos"/>
                <a:cs typeface="Aptos"/>
              </a:rPr>
              <a:t>Product, integration, and production plan</a:t>
            </a:r>
          </a:p>
        </p:txBody>
      </p:sp>
      <p:sp>
        <p:nvSpPr>
          <p:cNvPr id="9" name="Rectangle 8">
            <a:extLst>
              <a:ext uri="{FF2B5EF4-FFF2-40B4-BE49-F238E27FC236}">
                <a16:creationId xmlns:a16="http://schemas.microsoft.com/office/drawing/2014/main" id="{12EB89F3-E040-4739-BBC1-0295B47AABF9}"/>
              </a:ext>
            </a:extLst>
          </p:cNvPr>
          <p:cNvSpPr>
            <a:spLocks noGrp="1"/>
          </p:cNvSpPr>
          <p:nvPr/>
        </p:nvSpPr>
        <p:spPr>
          <a:xfrm>
            <a:off x="457200" y="5610225"/>
            <a:ext cx="2286000" cy="209550"/>
          </a:xfrm>
          <a:prstGeom prst="rect">
            <a:avLst/>
          </a:prstGeom>
          <a:noFill/>
          <a:ln w="0">
            <a:noFill/>
            <a:prstDash val="solid"/>
          </a:ln>
        </p:spPr>
        <p:txBody>
          <a:bodyPr wrap="square" lIns="0" tIns="0" rIns="0" bIns="0" anchor="t">
            <a:normAutofit/>
          </a:bodyPr>
          <a:lstStyle/>
          <a:p>
            <a:pPr algn="l">
              <a:lnSpc>
                <a:spcPct val="102000"/>
              </a:lnSpc>
              <a:buNone/>
              <a:defRPr sz="1050" b="0">
                <a:solidFill>
                  <a:srgbClr val="99A6B8"/>
                </a:solidFill>
                <a:latin typeface="Aptos"/>
                <a:ea typeface="Aptos"/>
                <a:cs typeface="Aptos"/>
              </a:defRPr>
            </a:pPr>
            <a:endParaRPr sz="1050" b="0" dirty="0">
              <a:solidFill>
                <a:srgbClr val="99A6B8"/>
              </a:solidFill>
              <a:latin typeface="Aptos"/>
              <a:ea typeface="Aptos"/>
              <a:cs typeface="Aptos"/>
            </a:endParaRPr>
          </a:p>
        </p:txBody>
      </p:sp>
      <p:sp>
        <p:nvSpPr>
          <p:cNvPr id="10" name="Rectangle 9">
            <a:extLst>
              <a:ext uri="{FF2B5EF4-FFF2-40B4-BE49-F238E27FC236}">
                <a16:creationId xmlns:a16="http://schemas.microsoft.com/office/drawing/2014/main" id="{4A10AA4C-1488-4140-9FAF-8D96DA4EF280}"/>
              </a:ext>
            </a:extLst>
          </p:cNvPr>
          <p:cNvSpPr>
            <a:spLocks noGrp="1"/>
          </p:cNvSpPr>
          <p:nvPr/>
        </p:nvSpPr>
        <p:spPr>
          <a:xfrm>
            <a:off x="8877300" y="1238250"/>
            <a:ext cx="419100" cy="2286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5BE7FF"/>
                </a:solidFill>
                <a:latin typeface="Aptos"/>
                <a:ea typeface="Aptos"/>
                <a:cs typeface="Aptos"/>
              </a:defRPr>
            </a:pPr>
            <a:r>
              <a:rPr sz="1050" b="1">
                <a:solidFill>
                  <a:srgbClr val="5BE7FF"/>
                </a:solidFill>
                <a:latin typeface="Aptos"/>
                <a:ea typeface="Aptos"/>
                <a:cs typeface="Aptos"/>
              </a:rPr>
              <a:t>01</a:t>
            </a:r>
          </a:p>
        </p:txBody>
      </p:sp>
      <p:sp>
        <p:nvSpPr>
          <p:cNvPr id="11" name="Rectangle 10">
            <a:extLst>
              <a:ext uri="{FF2B5EF4-FFF2-40B4-BE49-F238E27FC236}">
                <a16:creationId xmlns:a16="http://schemas.microsoft.com/office/drawing/2014/main" id="{BC992821-CFEC-4C1E-B39C-E4F98F5BE669}"/>
              </a:ext>
            </a:extLst>
          </p:cNvPr>
          <p:cNvSpPr>
            <a:spLocks noGrp="1"/>
          </p:cNvSpPr>
          <p:nvPr/>
        </p:nvSpPr>
        <p:spPr>
          <a:xfrm>
            <a:off x="9382125" y="1162050"/>
            <a:ext cx="2190750" cy="457200"/>
          </a:xfrm>
          <a:prstGeom prst="rect">
            <a:avLst/>
          </a:prstGeom>
          <a:noFill/>
          <a:ln w="0">
            <a:noFill/>
            <a:prstDash val="solid"/>
          </a:ln>
        </p:spPr>
        <p:txBody>
          <a:bodyPr wrap="square" lIns="0" tIns="0" rIns="0" bIns="0" anchor="t">
            <a:normAutofit/>
          </a:bodyPr>
          <a:lstStyle/>
          <a:p>
            <a:pPr algn="l">
              <a:lnSpc>
                <a:spcPct val="102000"/>
              </a:lnSpc>
              <a:buNone/>
              <a:defRPr sz="2250" b="1">
                <a:solidFill>
                  <a:srgbClr val="F4F7FB"/>
                </a:solidFill>
                <a:latin typeface="Aptos"/>
                <a:ea typeface="Aptos"/>
                <a:cs typeface="Aptos"/>
              </a:defRPr>
            </a:pPr>
            <a:r>
              <a:rPr sz="2250" b="1">
                <a:solidFill>
                  <a:srgbClr val="F4F7FB"/>
                </a:solidFill>
                <a:latin typeface="Aptos"/>
                <a:ea typeface="Aptos"/>
                <a:cs typeface="Aptos"/>
              </a:rPr>
              <a:t>CONTROL</a:t>
            </a:r>
          </a:p>
        </p:txBody>
      </p:sp>
      <p:sp>
        <p:nvSpPr>
          <p:cNvPr id="12" name="Straight Connector 11">
            <a:extLst>
              <a:ext uri="{FF2B5EF4-FFF2-40B4-BE49-F238E27FC236}">
                <a16:creationId xmlns:a16="http://schemas.microsoft.com/office/drawing/2014/main" id="{5A74F066-D50D-4199-8702-098967225E4B}"/>
              </a:ext>
            </a:extLst>
          </p:cNvPr>
          <p:cNvSpPr>
            <a:spLocks noGrp="1"/>
          </p:cNvSpPr>
          <p:nvPr/>
        </p:nvSpPr>
        <p:spPr>
          <a:xfrm>
            <a:off x="8877300" y="1714500"/>
            <a:ext cx="2524125" cy="0"/>
          </a:xfrm>
          <a:prstGeom prst="line">
            <a:avLst/>
          </a:prstGeom>
          <a:noFill/>
          <a:ln w="9525">
            <a:solidFill>
              <a:srgbClr val="2A3548"/>
            </a:solidFill>
            <a:prstDash val="solid"/>
          </a:ln>
        </p:spPr>
        <p:txBody>
          <a:bodyPr/>
          <a:lstStyle/>
          <a:p>
            <a:endParaRPr lang="en-IN"/>
          </a:p>
        </p:txBody>
      </p:sp>
      <p:sp>
        <p:nvSpPr>
          <p:cNvPr id="13" name="Rectangle 12">
            <a:extLst>
              <a:ext uri="{FF2B5EF4-FFF2-40B4-BE49-F238E27FC236}">
                <a16:creationId xmlns:a16="http://schemas.microsoft.com/office/drawing/2014/main" id="{3DBEE1FE-0E2E-42F5-B8F6-5DA803020159}"/>
              </a:ext>
            </a:extLst>
          </p:cNvPr>
          <p:cNvSpPr>
            <a:spLocks noGrp="1"/>
          </p:cNvSpPr>
          <p:nvPr/>
        </p:nvSpPr>
        <p:spPr>
          <a:xfrm>
            <a:off x="8877300" y="2305050"/>
            <a:ext cx="419100" cy="2286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3D8DFF"/>
                </a:solidFill>
                <a:latin typeface="Aptos"/>
                <a:ea typeface="Aptos"/>
                <a:cs typeface="Aptos"/>
              </a:defRPr>
            </a:pPr>
            <a:r>
              <a:rPr sz="1050" b="1">
                <a:solidFill>
                  <a:srgbClr val="3D8DFF"/>
                </a:solidFill>
                <a:latin typeface="Aptos"/>
                <a:ea typeface="Aptos"/>
                <a:cs typeface="Aptos"/>
              </a:rPr>
              <a:t>02</a:t>
            </a:r>
          </a:p>
        </p:txBody>
      </p:sp>
      <p:sp>
        <p:nvSpPr>
          <p:cNvPr id="14" name="Rectangle 13">
            <a:extLst>
              <a:ext uri="{FF2B5EF4-FFF2-40B4-BE49-F238E27FC236}">
                <a16:creationId xmlns:a16="http://schemas.microsoft.com/office/drawing/2014/main" id="{0F76C052-E684-4E87-9750-D84379355B3D}"/>
              </a:ext>
            </a:extLst>
          </p:cNvPr>
          <p:cNvSpPr>
            <a:spLocks noGrp="1"/>
          </p:cNvSpPr>
          <p:nvPr/>
        </p:nvSpPr>
        <p:spPr>
          <a:xfrm>
            <a:off x="9382125" y="2228850"/>
            <a:ext cx="2190750" cy="457200"/>
          </a:xfrm>
          <a:prstGeom prst="rect">
            <a:avLst/>
          </a:prstGeom>
          <a:noFill/>
          <a:ln w="0">
            <a:noFill/>
            <a:prstDash val="solid"/>
          </a:ln>
        </p:spPr>
        <p:txBody>
          <a:bodyPr wrap="square" lIns="0" tIns="0" rIns="0" bIns="0" anchor="t">
            <a:normAutofit/>
          </a:bodyPr>
          <a:lstStyle/>
          <a:p>
            <a:pPr algn="l">
              <a:lnSpc>
                <a:spcPct val="102000"/>
              </a:lnSpc>
              <a:buNone/>
              <a:defRPr sz="2250" b="1">
                <a:solidFill>
                  <a:srgbClr val="F4F7FB"/>
                </a:solidFill>
                <a:latin typeface="Aptos"/>
                <a:ea typeface="Aptos"/>
                <a:cs typeface="Aptos"/>
              </a:defRPr>
            </a:pPr>
            <a:r>
              <a:rPr sz="2250" b="1">
                <a:solidFill>
                  <a:srgbClr val="F4F7FB"/>
                </a:solidFill>
                <a:latin typeface="Aptos"/>
                <a:ea typeface="Aptos"/>
                <a:cs typeface="Aptos"/>
              </a:rPr>
              <a:t>METER</a:t>
            </a:r>
          </a:p>
        </p:txBody>
      </p:sp>
      <p:sp>
        <p:nvSpPr>
          <p:cNvPr id="15" name="Straight Connector 14">
            <a:extLst>
              <a:ext uri="{FF2B5EF4-FFF2-40B4-BE49-F238E27FC236}">
                <a16:creationId xmlns:a16="http://schemas.microsoft.com/office/drawing/2014/main" id="{1BCBD32C-62E7-4E38-8B23-9598B0906E99}"/>
              </a:ext>
            </a:extLst>
          </p:cNvPr>
          <p:cNvSpPr>
            <a:spLocks noGrp="1"/>
          </p:cNvSpPr>
          <p:nvPr/>
        </p:nvSpPr>
        <p:spPr>
          <a:xfrm>
            <a:off x="8877300" y="2781300"/>
            <a:ext cx="2524125" cy="0"/>
          </a:xfrm>
          <a:prstGeom prst="line">
            <a:avLst/>
          </a:prstGeom>
          <a:noFill/>
          <a:ln w="9525">
            <a:solidFill>
              <a:srgbClr val="2A3548"/>
            </a:solidFill>
            <a:prstDash val="solid"/>
          </a:ln>
        </p:spPr>
        <p:txBody>
          <a:bodyPr/>
          <a:lstStyle/>
          <a:p>
            <a:endParaRPr lang="en-IN"/>
          </a:p>
        </p:txBody>
      </p:sp>
      <p:sp>
        <p:nvSpPr>
          <p:cNvPr id="16" name="Rectangle 15">
            <a:extLst>
              <a:ext uri="{FF2B5EF4-FFF2-40B4-BE49-F238E27FC236}">
                <a16:creationId xmlns:a16="http://schemas.microsoft.com/office/drawing/2014/main" id="{1D4CC7E8-5960-4EA9-8C12-8F50B1C59131}"/>
              </a:ext>
            </a:extLst>
          </p:cNvPr>
          <p:cNvSpPr>
            <a:spLocks noGrp="1"/>
          </p:cNvSpPr>
          <p:nvPr/>
        </p:nvSpPr>
        <p:spPr>
          <a:xfrm>
            <a:off x="8877300" y="3371850"/>
            <a:ext cx="419100" cy="2286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38E09F"/>
                </a:solidFill>
                <a:latin typeface="Aptos"/>
                <a:ea typeface="Aptos"/>
                <a:cs typeface="Aptos"/>
              </a:defRPr>
            </a:pPr>
            <a:r>
              <a:rPr sz="1050" b="1">
                <a:solidFill>
                  <a:srgbClr val="38E09F"/>
                </a:solidFill>
                <a:latin typeface="Aptos"/>
                <a:ea typeface="Aptos"/>
                <a:cs typeface="Aptos"/>
              </a:rPr>
              <a:t>03</a:t>
            </a:r>
          </a:p>
        </p:txBody>
      </p:sp>
      <p:sp>
        <p:nvSpPr>
          <p:cNvPr id="17" name="Rectangle 16">
            <a:extLst>
              <a:ext uri="{FF2B5EF4-FFF2-40B4-BE49-F238E27FC236}">
                <a16:creationId xmlns:a16="http://schemas.microsoft.com/office/drawing/2014/main" id="{DE39180E-2969-4153-8479-86A33A7A55C8}"/>
              </a:ext>
            </a:extLst>
          </p:cNvPr>
          <p:cNvSpPr>
            <a:spLocks noGrp="1"/>
          </p:cNvSpPr>
          <p:nvPr/>
        </p:nvSpPr>
        <p:spPr>
          <a:xfrm>
            <a:off x="9382125" y="3295650"/>
            <a:ext cx="2190750" cy="457200"/>
          </a:xfrm>
          <a:prstGeom prst="rect">
            <a:avLst/>
          </a:prstGeom>
          <a:noFill/>
          <a:ln w="0">
            <a:noFill/>
            <a:prstDash val="solid"/>
          </a:ln>
        </p:spPr>
        <p:txBody>
          <a:bodyPr wrap="square" lIns="0" tIns="0" rIns="0" bIns="0" anchor="t">
            <a:normAutofit/>
          </a:bodyPr>
          <a:lstStyle/>
          <a:p>
            <a:pPr algn="l">
              <a:lnSpc>
                <a:spcPct val="102000"/>
              </a:lnSpc>
              <a:buNone/>
              <a:defRPr sz="2250" b="1">
                <a:solidFill>
                  <a:srgbClr val="F4F7FB"/>
                </a:solidFill>
                <a:latin typeface="Aptos"/>
                <a:ea typeface="Aptos"/>
                <a:cs typeface="Aptos"/>
              </a:defRPr>
            </a:pPr>
            <a:r>
              <a:rPr sz="2250" b="1">
                <a:solidFill>
                  <a:srgbClr val="F4F7FB"/>
                </a:solidFill>
                <a:latin typeface="Aptos"/>
                <a:ea typeface="Aptos"/>
                <a:cs typeface="Aptos"/>
              </a:rPr>
              <a:t>PAY</a:t>
            </a:r>
          </a:p>
        </p:txBody>
      </p:sp>
      <p:sp>
        <p:nvSpPr>
          <p:cNvPr id="18" name="Straight Connector 17">
            <a:extLst>
              <a:ext uri="{FF2B5EF4-FFF2-40B4-BE49-F238E27FC236}">
                <a16:creationId xmlns:a16="http://schemas.microsoft.com/office/drawing/2014/main" id="{D630CAC0-BBC7-420E-A146-AE9EF6FAF9C1}"/>
              </a:ext>
            </a:extLst>
          </p:cNvPr>
          <p:cNvSpPr>
            <a:spLocks noGrp="1"/>
          </p:cNvSpPr>
          <p:nvPr/>
        </p:nvSpPr>
        <p:spPr>
          <a:xfrm>
            <a:off x="8877300" y="3848100"/>
            <a:ext cx="2524125" cy="0"/>
          </a:xfrm>
          <a:prstGeom prst="line">
            <a:avLst/>
          </a:prstGeom>
          <a:noFill/>
          <a:ln w="9525">
            <a:solidFill>
              <a:srgbClr val="2A3548"/>
            </a:solidFill>
            <a:prstDash val="solid"/>
          </a:ln>
        </p:spPr>
        <p:txBody>
          <a:bodyPr/>
          <a:lstStyle/>
          <a:p>
            <a:endParaRPr lang="en-IN"/>
          </a:p>
        </p:txBody>
      </p:sp>
      <p:sp>
        <p:nvSpPr>
          <p:cNvPr id="19" name="Rectangle 18">
            <a:extLst>
              <a:ext uri="{FF2B5EF4-FFF2-40B4-BE49-F238E27FC236}">
                <a16:creationId xmlns:a16="http://schemas.microsoft.com/office/drawing/2014/main" id="{A6413005-61C2-427F-B383-371839430C65}"/>
              </a:ext>
            </a:extLst>
          </p:cNvPr>
          <p:cNvSpPr>
            <a:spLocks noGrp="1"/>
          </p:cNvSpPr>
          <p:nvPr/>
        </p:nvSpPr>
        <p:spPr>
          <a:xfrm>
            <a:off x="8877300" y="4438650"/>
            <a:ext cx="419100" cy="2286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B29CFF"/>
                </a:solidFill>
                <a:latin typeface="Aptos"/>
                <a:ea typeface="Aptos"/>
                <a:cs typeface="Aptos"/>
              </a:defRPr>
            </a:pPr>
            <a:r>
              <a:rPr sz="1050" b="1">
                <a:solidFill>
                  <a:srgbClr val="B29CFF"/>
                </a:solidFill>
                <a:latin typeface="Aptos"/>
                <a:ea typeface="Aptos"/>
                <a:cs typeface="Aptos"/>
              </a:rPr>
              <a:t>04</a:t>
            </a:r>
          </a:p>
        </p:txBody>
      </p:sp>
      <p:sp>
        <p:nvSpPr>
          <p:cNvPr id="20" name="Rectangle 19">
            <a:extLst>
              <a:ext uri="{FF2B5EF4-FFF2-40B4-BE49-F238E27FC236}">
                <a16:creationId xmlns:a16="http://schemas.microsoft.com/office/drawing/2014/main" id="{A4FFCC1C-1419-43F0-8F2D-B5D8AFEDA2B6}"/>
              </a:ext>
            </a:extLst>
          </p:cNvPr>
          <p:cNvSpPr>
            <a:spLocks noGrp="1"/>
          </p:cNvSpPr>
          <p:nvPr/>
        </p:nvSpPr>
        <p:spPr>
          <a:xfrm>
            <a:off x="9382125" y="4362450"/>
            <a:ext cx="2190750" cy="457200"/>
          </a:xfrm>
          <a:prstGeom prst="rect">
            <a:avLst/>
          </a:prstGeom>
          <a:noFill/>
          <a:ln w="0">
            <a:noFill/>
            <a:prstDash val="solid"/>
          </a:ln>
        </p:spPr>
        <p:txBody>
          <a:bodyPr wrap="square" lIns="0" tIns="0" rIns="0" bIns="0" anchor="t">
            <a:normAutofit/>
          </a:bodyPr>
          <a:lstStyle/>
          <a:p>
            <a:pPr algn="l">
              <a:lnSpc>
                <a:spcPct val="102000"/>
              </a:lnSpc>
              <a:buNone/>
              <a:defRPr sz="2250" b="1">
                <a:solidFill>
                  <a:srgbClr val="F4F7FB"/>
                </a:solidFill>
                <a:latin typeface="Aptos"/>
                <a:ea typeface="Aptos"/>
                <a:cs typeface="Aptos"/>
              </a:defRPr>
            </a:pPr>
            <a:r>
              <a:rPr sz="2250" b="1">
                <a:solidFill>
                  <a:srgbClr val="F4F7FB"/>
                </a:solidFill>
                <a:latin typeface="Aptos"/>
                <a:ea typeface="Aptos"/>
                <a:cs typeface="Aptos"/>
              </a:rPr>
              <a:t>PROVE</a:t>
            </a:r>
          </a:p>
        </p:txBody>
      </p:sp>
      <p:sp>
        <p:nvSpPr>
          <p:cNvPr id="21" name="Straight Connector 20">
            <a:extLst>
              <a:ext uri="{FF2B5EF4-FFF2-40B4-BE49-F238E27FC236}">
                <a16:creationId xmlns:a16="http://schemas.microsoft.com/office/drawing/2014/main" id="{364DC880-C84B-45BB-AE66-2BD135260974}"/>
              </a:ext>
            </a:extLst>
          </p:cNvPr>
          <p:cNvSpPr>
            <a:spLocks noGrp="1"/>
          </p:cNvSpPr>
          <p:nvPr/>
        </p:nvSpPr>
        <p:spPr>
          <a:xfrm>
            <a:off x="8877300" y="4914900"/>
            <a:ext cx="2524125" cy="0"/>
          </a:xfrm>
          <a:prstGeom prst="line">
            <a:avLst/>
          </a:prstGeom>
          <a:noFill/>
          <a:ln w="9525">
            <a:solidFill>
              <a:srgbClr val="2A3548"/>
            </a:solidFill>
            <a:prstDash val="solid"/>
          </a:ln>
        </p:spPr>
        <p:txBody>
          <a:bodyPr/>
          <a:lstStyle/>
          <a:p>
            <a:endParaRPr lang="en-IN"/>
          </a:p>
        </p:txBody>
      </p:sp>
    </p:spTree>
    <p:extLst>
      <p:ext uri="{BB962C8B-B14F-4D97-AF65-F5344CB8AC3E}">
        <p14:creationId xmlns:p14="http://schemas.microsoft.com/office/powerpoint/2010/main" val="1997191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A0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48DFD72-D964-43FA-9921-3F564A0D3778}"/>
              </a:ext>
            </a:extLst>
          </p:cNvPr>
          <p:cNvSpPr>
            <a:spLocks noGrp="1"/>
          </p:cNvSpPr>
          <p:nvPr/>
        </p:nvSpPr>
        <p:spPr>
          <a:xfrm>
            <a:off x="457200" y="209550"/>
            <a:ext cx="4953000" cy="1905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5BE7FF"/>
                </a:solidFill>
                <a:latin typeface="Aptos"/>
                <a:ea typeface="Aptos"/>
                <a:cs typeface="Aptos"/>
              </a:defRPr>
            </a:pPr>
            <a:r>
              <a:rPr sz="1050" b="1">
                <a:solidFill>
                  <a:srgbClr val="5BE7FF"/>
                </a:solidFill>
                <a:latin typeface="Aptos"/>
                <a:ea typeface="Aptos"/>
                <a:cs typeface="Aptos"/>
              </a:rPr>
              <a:t>INVESTOR CASE</a:t>
            </a:r>
          </a:p>
        </p:txBody>
      </p:sp>
      <p:sp>
        <p:nvSpPr>
          <p:cNvPr id="2" name="Rectangle 1">
            <a:extLst>
              <a:ext uri="{FF2B5EF4-FFF2-40B4-BE49-F238E27FC236}">
                <a16:creationId xmlns:a16="http://schemas.microsoft.com/office/drawing/2014/main" id="{D56F33C7-5F24-4ABE-8B2D-5924B2A67174}"/>
              </a:ext>
            </a:extLst>
          </p:cNvPr>
          <p:cNvSpPr>
            <a:spLocks noGrp="1"/>
          </p:cNvSpPr>
          <p:nvPr/>
        </p:nvSpPr>
        <p:spPr>
          <a:xfrm>
            <a:off x="457200" y="514350"/>
            <a:ext cx="11239500" cy="762000"/>
          </a:xfrm>
          <a:prstGeom prst="rect">
            <a:avLst/>
          </a:prstGeom>
          <a:noFill/>
          <a:ln w="0">
            <a:noFill/>
            <a:prstDash val="solid"/>
          </a:ln>
        </p:spPr>
        <p:txBody>
          <a:bodyPr wrap="square" lIns="0" tIns="0" rIns="0" bIns="0" anchor="t">
            <a:noAutofit/>
          </a:bodyPr>
          <a:lstStyle/>
          <a:p>
            <a:pPr algn="l">
              <a:lnSpc>
                <a:spcPct val="94000"/>
              </a:lnSpc>
              <a:buNone/>
              <a:defRPr sz="3225" b="1">
                <a:solidFill>
                  <a:srgbClr val="F4F7FB"/>
                </a:solidFill>
                <a:latin typeface="Aptos"/>
                <a:ea typeface="Aptos"/>
                <a:cs typeface="Aptos"/>
              </a:defRPr>
            </a:pPr>
            <a:r>
              <a:rPr sz="3225" b="1">
                <a:solidFill>
                  <a:srgbClr val="F4F7FB"/>
                </a:solidFill>
                <a:latin typeface="Aptos"/>
                <a:ea typeface="Aptos"/>
                <a:cs typeface="Aptos"/>
              </a:rPr>
              <a:t>AI agents can buy outcomes. They still lack a trusted way to spend.</a:t>
            </a:r>
          </a:p>
        </p:txBody>
      </p:sp>
      <p:sp>
        <p:nvSpPr>
          <p:cNvPr id="3" name="Straight Connector 2">
            <a:extLst>
              <a:ext uri="{FF2B5EF4-FFF2-40B4-BE49-F238E27FC236}">
                <a16:creationId xmlns:a16="http://schemas.microsoft.com/office/drawing/2014/main" id="{48406640-350D-4F44-8E03-62D3C03D5D4B}"/>
              </a:ext>
            </a:extLst>
          </p:cNvPr>
          <p:cNvSpPr>
            <a:spLocks noGrp="1"/>
          </p:cNvSpPr>
          <p:nvPr/>
        </p:nvSpPr>
        <p:spPr>
          <a:xfrm>
            <a:off x="457200" y="1371600"/>
            <a:ext cx="11277600" cy="0"/>
          </a:xfrm>
          <a:prstGeom prst="line">
            <a:avLst/>
          </a:prstGeom>
          <a:noFill/>
          <a:ln w="9525">
            <a:solidFill>
              <a:srgbClr val="2A3548"/>
            </a:solidFill>
            <a:prstDash val="solid"/>
          </a:ln>
        </p:spPr>
        <p:txBody>
          <a:bodyPr/>
          <a:lstStyle/>
          <a:p>
            <a:endParaRPr lang="en-IN"/>
          </a:p>
        </p:txBody>
      </p:sp>
      <p:sp>
        <p:nvSpPr>
          <p:cNvPr id="4" name="Rectangle 3">
            <a:extLst>
              <a:ext uri="{FF2B5EF4-FFF2-40B4-BE49-F238E27FC236}">
                <a16:creationId xmlns:a16="http://schemas.microsoft.com/office/drawing/2014/main" id="{09262D3A-D067-4E66-955A-72E6BEE3E616}"/>
              </a:ext>
            </a:extLst>
          </p:cNvPr>
          <p:cNvSpPr>
            <a:spLocks noGrp="1"/>
          </p:cNvSpPr>
          <p:nvPr/>
        </p:nvSpPr>
        <p:spPr>
          <a:xfrm>
            <a:off x="457200" y="6457950"/>
            <a:ext cx="152400" cy="38100"/>
          </a:xfrm>
          <a:prstGeom prst="rect">
            <a:avLst/>
          </a:prstGeom>
          <a:solidFill>
            <a:srgbClr val="5BE7FF"/>
          </a:solidFill>
          <a:ln w="0">
            <a:noFill/>
            <a:prstDash val="solid"/>
          </a:ln>
        </p:spPr>
        <p:txBody>
          <a:bodyPr/>
          <a:lstStyle/>
          <a:p>
            <a:endParaRPr lang="en-IN"/>
          </a:p>
        </p:txBody>
      </p:sp>
      <p:sp>
        <p:nvSpPr>
          <p:cNvPr id="5" name="Rectangle 4">
            <a:extLst>
              <a:ext uri="{FF2B5EF4-FFF2-40B4-BE49-F238E27FC236}">
                <a16:creationId xmlns:a16="http://schemas.microsoft.com/office/drawing/2014/main" id="{4E9A3D94-9DBF-4AA8-8F8A-6426268F1840}"/>
              </a:ext>
            </a:extLst>
          </p:cNvPr>
          <p:cNvSpPr>
            <a:spLocks noGrp="1"/>
          </p:cNvSpPr>
          <p:nvPr/>
        </p:nvSpPr>
        <p:spPr>
          <a:xfrm>
            <a:off x="704850" y="6381750"/>
            <a:ext cx="1714500" cy="190500"/>
          </a:xfrm>
          <a:prstGeom prst="rect">
            <a:avLst/>
          </a:prstGeom>
          <a:noFill/>
          <a:ln w="0">
            <a:noFill/>
            <a:prstDash val="solid"/>
          </a:ln>
        </p:spPr>
        <p:txBody>
          <a:bodyPr wrap="square" lIns="0" tIns="0" rIns="0" bIns="0" anchor="t">
            <a:normAutofit/>
          </a:bodyPr>
          <a:lstStyle/>
          <a:p>
            <a:pPr algn="l">
              <a:lnSpc>
                <a:spcPct val="102000"/>
              </a:lnSpc>
              <a:buNone/>
              <a:defRPr sz="900" b="1">
                <a:solidFill>
                  <a:srgbClr val="99A6B8"/>
                </a:solidFill>
                <a:latin typeface="Aptos"/>
                <a:ea typeface="Aptos"/>
                <a:cs typeface="Aptos"/>
              </a:defRPr>
            </a:pPr>
            <a:r>
              <a:rPr sz="900" b="1">
                <a:solidFill>
                  <a:srgbClr val="99A6B8"/>
                </a:solidFill>
                <a:latin typeface="Aptos"/>
                <a:ea typeface="Aptos"/>
                <a:cs typeface="Aptos"/>
              </a:rPr>
              <a:t>PAYPILOT</a:t>
            </a:r>
          </a:p>
        </p:txBody>
      </p:sp>
      <p:sp>
        <p:nvSpPr>
          <p:cNvPr id="6" name="Rectangle 5">
            <a:extLst>
              <a:ext uri="{FF2B5EF4-FFF2-40B4-BE49-F238E27FC236}">
                <a16:creationId xmlns:a16="http://schemas.microsoft.com/office/drawing/2014/main" id="{EE2A9087-C0B2-44F5-B098-EA90A011EF57}"/>
              </a:ext>
            </a:extLst>
          </p:cNvPr>
          <p:cNvSpPr>
            <a:spLocks noGrp="1"/>
          </p:cNvSpPr>
          <p:nvPr/>
        </p:nvSpPr>
        <p:spPr>
          <a:xfrm>
            <a:off x="11182350" y="6381750"/>
            <a:ext cx="552450" cy="190500"/>
          </a:xfrm>
          <a:prstGeom prst="rect">
            <a:avLst/>
          </a:prstGeom>
          <a:noFill/>
          <a:ln w="0">
            <a:noFill/>
            <a:prstDash val="solid"/>
          </a:ln>
        </p:spPr>
        <p:txBody>
          <a:bodyPr wrap="square" lIns="0" tIns="0" rIns="0" bIns="0" anchor="t">
            <a:normAutofit/>
          </a:bodyPr>
          <a:lstStyle/>
          <a:p>
            <a:pPr algn="r">
              <a:lnSpc>
                <a:spcPct val="102000"/>
              </a:lnSpc>
              <a:buNone/>
              <a:defRPr sz="975" b="0">
                <a:solidFill>
                  <a:srgbClr val="99A6B8"/>
                </a:solidFill>
                <a:latin typeface="Aptos"/>
                <a:ea typeface="Aptos"/>
                <a:cs typeface="Aptos"/>
              </a:defRPr>
            </a:pPr>
            <a:r>
              <a:rPr sz="975" b="0">
                <a:solidFill>
                  <a:srgbClr val="99A6B8"/>
                </a:solidFill>
                <a:latin typeface="Aptos"/>
                <a:ea typeface="Aptos"/>
                <a:cs typeface="Aptos"/>
              </a:rPr>
              <a:t>02</a:t>
            </a:r>
          </a:p>
        </p:txBody>
      </p:sp>
      <p:sp>
        <p:nvSpPr>
          <p:cNvPr id="7" name="Rectangle 6">
            <a:extLst>
              <a:ext uri="{FF2B5EF4-FFF2-40B4-BE49-F238E27FC236}">
                <a16:creationId xmlns:a16="http://schemas.microsoft.com/office/drawing/2014/main" id="{8BEE4B82-C916-4038-A42B-DE2A4101BE77}"/>
              </a:ext>
            </a:extLst>
          </p:cNvPr>
          <p:cNvSpPr>
            <a:spLocks noGrp="1"/>
          </p:cNvSpPr>
          <p:nvPr/>
        </p:nvSpPr>
        <p:spPr>
          <a:xfrm>
            <a:off x="457200" y="1714500"/>
            <a:ext cx="4857750" cy="4019550"/>
          </a:xfrm>
          <a:prstGeom prst="rect">
            <a:avLst/>
          </a:prstGeom>
          <a:solidFill>
            <a:srgbClr val="151E2D"/>
          </a:solidFill>
          <a:ln w="9525">
            <a:solidFill>
              <a:srgbClr val="2A3548"/>
            </a:solidFill>
            <a:prstDash val="solid"/>
          </a:ln>
        </p:spPr>
        <p:txBody>
          <a:bodyPr/>
          <a:lstStyle/>
          <a:p>
            <a:endParaRPr lang="en-IN"/>
          </a:p>
        </p:txBody>
      </p:sp>
      <p:sp>
        <p:nvSpPr>
          <p:cNvPr id="8" name="Rectangle: Rounded Corners 7">
            <a:extLst>
              <a:ext uri="{FF2B5EF4-FFF2-40B4-BE49-F238E27FC236}">
                <a16:creationId xmlns:a16="http://schemas.microsoft.com/office/drawing/2014/main" id="{9534F041-BEFA-4297-90E3-618FCFD06DF8}"/>
              </a:ext>
            </a:extLst>
          </p:cNvPr>
          <p:cNvSpPr>
            <a:spLocks noGrp="1"/>
          </p:cNvSpPr>
          <p:nvPr/>
        </p:nvSpPr>
        <p:spPr>
          <a:xfrm>
            <a:off x="742950" y="2019300"/>
            <a:ext cx="1952625" cy="285750"/>
          </a:xfrm>
          <a:prstGeom prst="roundRect">
            <a:avLst>
              <a:gd name="adj" fmla="val 50000"/>
            </a:avLst>
          </a:prstGeom>
          <a:solidFill>
            <a:srgbClr val="5BE7FF"/>
          </a:solidFill>
          <a:ln w="0">
            <a:noFill/>
            <a:prstDash val="solid"/>
          </a:ln>
        </p:spPr>
        <p:txBody>
          <a:bodyPr/>
          <a:lstStyle/>
          <a:p>
            <a:endParaRPr lang="en-IN"/>
          </a:p>
        </p:txBody>
      </p:sp>
      <p:sp>
        <p:nvSpPr>
          <p:cNvPr id="9" name="Rectangle 8">
            <a:extLst>
              <a:ext uri="{FF2B5EF4-FFF2-40B4-BE49-F238E27FC236}">
                <a16:creationId xmlns:a16="http://schemas.microsoft.com/office/drawing/2014/main" id="{0DF26A18-F62D-4D28-8BBF-B50E55CD23C2}"/>
              </a:ext>
            </a:extLst>
          </p:cNvPr>
          <p:cNvSpPr>
            <a:spLocks noGrp="1"/>
          </p:cNvSpPr>
          <p:nvPr/>
        </p:nvSpPr>
        <p:spPr>
          <a:xfrm>
            <a:off x="838200" y="2066925"/>
            <a:ext cx="1762125" cy="190500"/>
          </a:xfrm>
          <a:prstGeom prst="rect">
            <a:avLst/>
          </a:prstGeom>
          <a:noFill/>
          <a:ln w="0">
            <a:noFill/>
            <a:prstDash val="solid"/>
          </a:ln>
        </p:spPr>
        <p:txBody>
          <a:bodyPr wrap="square" lIns="0" tIns="0" rIns="0" bIns="0" anchor="ctr">
            <a:normAutofit/>
          </a:bodyPr>
          <a:lstStyle/>
          <a:p>
            <a:pPr algn="ctr">
              <a:lnSpc>
                <a:spcPct val="102000"/>
              </a:lnSpc>
              <a:buNone/>
              <a:defRPr sz="1050" b="1">
                <a:solidFill>
                  <a:srgbClr val="070A0F"/>
                </a:solidFill>
                <a:latin typeface="Aptos"/>
                <a:ea typeface="Aptos"/>
                <a:cs typeface="Aptos"/>
              </a:defRPr>
            </a:pPr>
            <a:r>
              <a:rPr sz="1050" b="1">
                <a:solidFill>
                  <a:srgbClr val="070A0F"/>
                </a:solidFill>
                <a:latin typeface="Aptos"/>
                <a:ea typeface="Aptos"/>
                <a:cs typeface="Aptos"/>
              </a:rPr>
              <a:t>THE MISSING LAYER</a:t>
            </a:r>
          </a:p>
        </p:txBody>
      </p:sp>
      <p:sp>
        <p:nvSpPr>
          <p:cNvPr id="10" name="Rectangle 9">
            <a:extLst>
              <a:ext uri="{FF2B5EF4-FFF2-40B4-BE49-F238E27FC236}">
                <a16:creationId xmlns:a16="http://schemas.microsoft.com/office/drawing/2014/main" id="{EFDCAB2D-2DE2-4B51-87F4-6229260924E5}"/>
              </a:ext>
            </a:extLst>
          </p:cNvPr>
          <p:cNvSpPr>
            <a:spLocks noGrp="1"/>
          </p:cNvSpPr>
          <p:nvPr/>
        </p:nvSpPr>
        <p:spPr>
          <a:xfrm>
            <a:off x="742950" y="2543175"/>
            <a:ext cx="4000500" cy="1047750"/>
          </a:xfrm>
          <a:prstGeom prst="rect">
            <a:avLst/>
          </a:prstGeom>
          <a:noFill/>
          <a:ln w="0">
            <a:noFill/>
            <a:prstDash val="solid"/>
          </a:ln>
        </p:spPr>
        <p:txBody>
          <a:bodyPr wrap="square" lIns="0" tIns="0" rIns="0" bIns="0" anchor="t">
            <a:normAutofit/>
          </a:bodyPr>
          <a:lstStyle/>
          <a:p>
            <a:pPr algn="l">
              <a:lnSpc>
                <a:spcPct val="92000"/>
              </a:lnSpc>
              <a:buNone/>
              <a:defRPr sz="3225" b="1">
                <a:solidFill>
                  <a:srgbClr val="F4F7FB"/>
                </a:solidFill>
                <a:latin typeface="Aptos"/>
                <a:ea typeface="Aptos"/>
                <a:cs typeface="Aptos"/>
              </a:defRPr>
            </a:pPr>
            <a:r>
              <a:rPr sz="3225" b="1">
                <a:solidFill>
                  <a:srgbClr val="F4F7FB"/>
                </a:solidFill>
                <a:latin typeface="Aptos"/>
                <a:ea typeface="Aptos"/>
                <a:cs typeface="Aptos"/>
              </a:rPr>
              <a:t>Bounded</a:t>
            </a:r>
          </a:p>
          <a:p>
            <a:pPr algn="l">
              <a:lnSpc>
                <a:spcPct val="92000"/>
              </a:lnSpc>
              <a:buNone/>
              <a:defRPr sz="3225" b="1">
                <a:solidFill>
                  <a:srgbClr val="F4F7FB"/>
                </a:solidFill>
                <a:latin typeface="Aptos"/>
                <a:ea typeface="Aptos"/>
                <a:cs typeface="Aptos"/>
              </a:defRPr>
            </a:pPr>
            <a:r>
              <a:rPr sz="3225" b="1">
                <a:solidFill>
                  <a:srgbClr val="F4F7FB"/>
                </a:solidFill>
                <a:latin typeface="Aptos"/>
                <a:ea typeface="Aptos"/>
                <a:cs typeface="Aptos"/>
              </a:rPr>
              <a:t>financial agency</a:t>
            </a:r>
          </a:p>
        </p:txBody>
      </p:sp>
      <p:sp>
        <p:nvSpPr>
          <p:cNvPr id="11" name="Rectangle 10">
            <a:extLst>
              <a:ext uri="{FF2B5EF4-FFF2-40B4-BE49-F238E27FC236}">
                <a16:creationId xmlns:a16="http://schemas.microsoft.com/office/drawing/2014/main" id="{654728AD-6111-4741-BEF1-8556E6334782}"/>
              </a:ext>
            </a:extLst>
          </p:cNvPr>
          <p:cNvSpPr>
            <a:spLocks noGrp="1"/>
          </p:cNvSpPr>
          <p:nvPr/>
        </p:nvSpPr>
        <p:spPr>
          <a:xfrm>
            <a:off x="742950" y="3990975"/>
            <a:ext cx="4000500" cy="971550"/>
          </a:xfrm>
          <a:prstGeom prst="rect">
            <a:avLst/>
          </a:prstGeom>
          <a:noFill/>
          <a:ln w="0">
            <a:noFill/>
            <a:prstDash val="solid"/>
          </a:ln>
        </p:spPr>
        <p:txBody>
          <a:bodyPr wrap="square" lIns="0" tIns="0" rIns="0" bIns="0" anchor="t">
            <a:normAutofit/>
          </a:bodyPr>
          <a:lstStyle/>
          <a:p>
            <a:pPr algn="l">
              <a:lnSpc>
                <a:spcPct val="102000"/>
              </a:lnSpc>
              <a:buNone/>
              <a:defRPr sz="1650" b="0">
                <a:solidFill>
                  <a:srgbClr val="99A6B8"/>
                </a:solidFill>
                <a:latin typeface="Aptos"/>
                <a:ea typeface="Aptos"/>
                <a:cs typeface="Aptos"/>
              </a:defRPr>
            </a:pPr>
            <a:r>
              <a:rPr sz="1650" b="0">
                <a:solidFill>
                  <a:srgbClr val="99A6B8"/>
                </a:solidFill>
                <a:latin typeface="Aptos"/>
                <a:ea typeface="Aptos"/>
                <a:cs typeface="Aptos"/>
              </a:rPr>
              <a:t>Give software authority to spend only within a user-approved merchant, service, amount, network, and time policy.</a:t>
            </a:r>
          </a:p>
        </p:txBody>
      </p:sp>
      <p:sp>
        <p:nvSpPr>
          <p:cNvPr id="12" name="Rectangle 11">
            <a:extLst>
              <a:ext uri="{FF2B5EF4-FFF2-40B4-BE49-F238E27FC236}">
                <a16:creationId xmlns:a16="http://schemas.microsoft.com/office/drawing/2014/main" id="{1E61238F-FAAD-4B6B-BBE0-9208C150019F}"/>
              </a:ext>
            </a:extLst>
          </p:cNvPr>
          <p:cNvSpPr>
            <a:spLocks noGrp="1"/>
          </p:cNvSpPr>
          <p:nvPr/>
        </p:nvSpPr>
        <p:spPr>
          <a:xfrm>
            <a:off x="742950" y="5219700"/>
            <a:ext cx="4000500" cy="361950"/>
          </a:xfrm>
          <a:prstGeom prst="rect">
            <a:avLst/>
          </a:prstGeom>
          <a:noFill/>
          <a:ln w="0">
            <a:noFill/>
            <a:prstDash val="solid"/>
          </a:ln>
        </p:spPr>
        <p:txBody>
          <a:bodyPr wrap="square" lIns="0" tIns="0" rIns="0" bIns="0" anchor="t">
            <a:normAutofit fontScale="91311"/>
          </a:bodyPr>
          <a:lstStyle/>
          <a:p>
            <a:pPr algn="l">
              <a:lnSpc>
                <a:spcPct val="102000"/>
              </a:lnSpc>
              <a:buNone/>
              <a:defRPr sz="1275" b="1">
                <a:solidFill>
                  <a:srgbClr val="FFB454"/>
                </a:solidFill>
                <a:latin typeface="Aptos"/>
                <a:ea typeface="Aptos"/>
                <a:cs typeface="Aptos"/>
              </a:defRPr>
            </a:pPr>
            <a:r>
              <a:rPr sz="1275" b="1">
                <a:solidFill>
                  <a:srgbClr val="FFB454"/>
                </a:solidFill>
                <a:latin typeface="Aptos"/>
                <a:ea typeface="Aptos"/>
                <a:cs typeface="Aptos"/>
              </a:rPr>
              <a:t>The payment itself must be autonomous—not a human manually completing checkout.</a:t>
            </a:r>
          </a:p>
        </p:txBody>
      </p:sp>
      <p:sp>
        <p:nvSpPr>
          <p:cNvPr id="13" name="Oval 12">
            <a:extLst>
              <a:ext uri="{FF2B5EF4-FFF2-40B4-BE49-F238E27FC236}">
                <a16:creationId xmlns:a16="http://schemas.microsoft.com/office/drawing/2014/main" id="{131F1B7B-5E87-4F7D-B7BC-ADBE9AAC4F79}"/>
              </a:ext>
            </a:extLst>
          </p:cNvPr>
          <p:cNvSpPr>
            <a:spLocks noGrp="1"/>
          </p:cNvSpPr>
          <p:nvPr/>
        </p:nvSpPr>
        <p:spPr>
          <a:xfrm>
            <a:off x="5905500" y="1857375"/>
            <a:ext cx="457200" cy="457200"/>
          </a:xfrm>
          <a:prstGeom prst="ellipse">
            <a:avLst/>
          </a:prstGeom>
          <a:solidFill>
            <a:srgbClr val="3D8DFF"/>
          </a:solidFill>
          <a:ln w="0">
            <a:noFill/>
            <a:prstDash val="solid"/>
          </a:ln>
        </p:spPr>
        <p:txBody>
          <a:bodyPr/>
          <a:lstStyle/>
          <a:p>
            <a:endParaRPr lang="en-IN"/>
          </a:p>
        </p:txBody>
      </p:sp>
      <p:sp>
        <p:nvSpPr>
          <p:cNvPr id="14" name="Rectangle 13">
            <a:extLst>
              <a:ext uri="{FF2B5EF4-FFF2-40B4-BE49-F238E27FC236}">
                <a16:creationId xmlns:a16="http://schemas.microsoft.com/office/drawing/2014/main" id="{C7AF6139-3AE8-4BA0-BE21-0DCD3AA733F5}"/>
              </a:ext>
            </a:extLst>
          </p:cNvPr>
          <p:cNvSpPr>
            <a:spLocks noGrp="1"/>
          </p:cNvSpPr>
          <p:nvPr/>
        </p:nvSpPr>
        <p:spPr>
          <a:xfrm>
            <a:off x="5905500" y="1943100"/>
            <a:ext cx="457200" cy="266700"/>
          </a:xfrm>
          <a:prstGeom prst="rect">
            <a:avLst/>
          </a:prstGeom>
          <a:noFill/>
          <a:ln w="0">
            <a:noFill/>
            <a:prstDash val="solid"/>
          </a:ln>
        </p:spPr>
        <p:txBody>
          <a:bodyPr wrap="square" lIns="0" tIns="0" rIns="0" bIns="0" anchor="t">
            <a:normAutofit/>
          </a:bodyPr>
          <a:lstStyle/>
          <a:p>
            <a:pPr algn="ctr">
              <a:lnSpc>
                <a:spcPct val="102000"/>
              </a:lnSpc>
              <a:buNone/>
              <a:defRPr sz="1500" b="1">
                <a:solidFill>
                  <a:srgbClr val="F4F7FB"/>
                </a:solidFill>
                <a:latin typeface="Aptos"/>
                <a:ea typeface="Aptos"/>
                <a:cs typeface="Aptos"/>
              </a:defRPr>
            </a:pPr>
            <a:r>
              <a:rPr sz="1500" b="1">
                <a:solidFill>
                  <a:srgbClr val="F4F7FB"/>
                </a:solidFill>
                <a:latin typeface="Aptos"/>
                <a:ea typeface="Aptos"/>
                <a:cs typeface="Aptos"/>
              </a:rPr>
              <a:t>01</a:t>
            </a:r>
          </a:p>
        </p:txBody>
      </p:sp>
      <p:sp>
        <p:nvSpPr>
          <p:cNvPr id="15" name="Rectangle 14">
            <a:extLst>
              <a:ext uri="{FF2B5EF4-FFF2-40B4-BE49-F238E27FC236}">
                <a16:creationId xmlns:a16="http://schemas.microsoft.com/office/drawing/2014/main" id="{2F80C908-5485-4B25-8AD9-F88E05457031}"/>
              </a:ext>
            </a:extLst>
          </p:cNvPr>
          <p:cNvSpPr>
            <a:spLocks noGrp="1"/>
          </p:cNvSpPr>
          <p:nvPr/>
        </p:nvSpPr>
        <p:spPr>
          <a:xfrm>
            <a:off x="6572250" y="1838325"/>
            <a:ext cx="4667250" cy="276225"/>
          </a:xfrm>
          <a:prstGeom prst="rect">
            <a:avLst/>
          </a:prstGeom>
          <a:noFill/>
          <a:ln w="0">
            <a:noFill/>
            <a:prstDash val="solid"/>
          </a:ln>
        </p:spPr>
        <p:txBody>
          <a:bodyPr wrap="square" lIns="0" tIns="0" rIns="0" bIns="0" anchor="t">
            <a:normAutofit/>
          </a:bodyPr>
          <a:lstStyle/>
          <a:p>
            <a:pPr algn="l">
              <a:lnSpc>
                <a:spcPct val="102000"/>
              </a:lnSpc>
              <a:buNone/>
              <a:defRPr sz="1650" b="1">
                <a:solidFill>
                  <a:srgbClr val="F4F7FB"/>
                </a:solidFill>
                <a:latin typeface="Aptos"/>
                <a:ea typeface="Aptos"/>
                <a:cs typeface="Aptos"/>
              </a:defRPr>
            </a:pPr>
            <a:r>
              <a:rPr sz="1650" b="1">
                <a:solidFill>
                  <a:srgbClr val="F4F7FB"/>
                </a:solidFill>
                <a:latin typeface="Aptos"/>
                <a:ea typeface="Aptos"/>
                <a:cs typeface="Aptos"/>
              </a:rPr>
              <a:t>Variable cost</a:t>
            </a:r>
          </a:p>
        </p:txBody>
      </p:sp>
      <p:sp>
        <p:nvSpPr>
          <p:cNvPr id="16" name="Rectangle 15">
            <a:extLst>
              <a:ext uri="{FF2B5EF4-FFF2-40B4-BE49-F238E27FC236}">
                <a16:creationId xmlns:a16="http://schemas.microsoft.com/office/drawing/2014/main" id="{DBDEC909-703F-4DF4-9602-97A793166EB9}"/>
              </a:ext>
            </a:extLst>
          </p:cNvPr>
          <p:cNvSpPr>
            <a:spLocks noGrp="1"/>
          </p:cNvSpPr>
          <p:nvPr/>
        </p:nvSpPr>
        <p:spPr>
          <a:xfrm>
            <a:off x="6572250" y="2152650"/>
            <a:ext cx="4667250" cy="428625"/>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99A6B8"/>
                </a:solidFill>
                <a:latin typeface="Aptos"/>
                <a:ea typeface="Aptos"/>
                <a:cs typeface="Aptos"/>
              </a:defRPr>
            </a:pPr>
            <a:r>
              <a:rPr sz="1275" b="0">
                <a:solidFill>
                  <a:srgbClr val="99A6B8"/>
                </a:solidFill>
                <a:latin typeface="Aptos"/>
                <a:ea typeface="Aptos"/>
                <a:cs typeface="Aptos"/>
              </a:rPr>
              <a:t>Tokens, data, compute, and tools are known only as the work executes.</a:t>
            </a:r>
          </a:p>
        </p:txBody>
      </p:sp>
      <p:sp>
        <p:nvSpPr>
          <p:cNvPr id="17" name="Oval 16">
            <a:extLst>
              <a:ext uri="{FF2B5EF4-FFF2-40B4-BE49-F238E27FC236}">
                <a16:creationId xmlns:a16="http://schemas.microsoft.com/office/drawing/2014/main" id="{669D911C-27C0-4BE8-909F-35DD94459571}"/>
              </a:ext>
            </a:extLst>
          </p:cNvPr>
          <p:cNvSpPr>
            <a:spLocks noGrp="1"/>
          </p:cNvSpPr>
          <p:nvPr/>
        </p:nvSpPr>
        <p:spPr>
          <a:xfrm>
            <a:off x="5905500" y="3114675"/>
            <a:ext cx="457200" cy="457200"/>
          </a:xfrm>
          <a:prstGeom prst="ellipse">
            <a:avLst/>
          </a:prstGeom>
          <a:solidFill>
            <a:srgbClr val="3D8DFF"/>
          </a:solidFill>
          <a:ln w="0">
            <a:noFill/>
            <a:prstDash val="solid"/>
          </a:ln>
        </p:spPr>
        <p:txBody>
          <a:bodyPr/>
          <a:lstStyle/>
          <a:p>
            <a:endParaRPr lang="en-IN"/>
          </a:p>
        </p:txBody>
      </p:sp>
      <p:sp>
        <p:nvSpPr>
          <p:cNvPr id="18" name="Rectangle 17">
            <a:extLst>
              <a:ext uri="{FF2B5EF4-FFF2-40B4-BE49-F238E27FC236}">
                <a16:creationId xmlns:a16="http://schemas.microsoft.com/office/drawing/2014/main" id="{1B4A230A-4BCB-439B-8063-04A150108635}"/>
              </a:ext>
            </a:extLst>
          </p:cNvPr>
          <p:cNvSpPr>
            <a:spLocks noGrp="1"/>
          </p:cNvSpPr>
          <p:nvPr/>
        </p:nvSpPr>
        <p:spPr>
          <a:xfrm>
            <a:off x="5905500" y="3200400"/>
            <a:ext cx="457200" cy="266700"/>
          </a:xfrm>
          <a:prstGeom prst="rect">
            <a:avLst/>
          </a:prstGeom>
          <a:noFill/>
          <a:ln w="0">
            <a:noFill/>
            <a:prstDash val="solid"/>
          </a:ln>
        </p:spPr>
        <p:txBody>
          <a:bodyPr wrap="square" lIns="0" tIns="0" rIns="0" bIns="0" anchor="t">
            <a:normAutofit/>
          </a:bodyPr>
          <a:lstStyle/>
          <a:p>
            <a:pPr algn="ctr">
              <a:lnSpc>
                <a:spcPct val="102000"/>
              </a:lnSpc>
              <a:buNone/>
              <a:defRPr sz="1500" b="1">
                <a:solidFill>
                  <a:srgbClr val="F4F7FB"/>
                </a:solidFill>
                <a:latin typeface="Aptos"/>
                <a:ea typeface="Aptos"/>
                <a:cs typeface="Aptos"/>
              </a:defRPr>
            </a:pPr>
            <a:r>
              <a:rPr sz="1500" b="1">
                <a:solidFill>
                  <a:srgbClr val="F4F7FB"/>
                </a:solidFill>
                <a:latin typeface="Aptos"/>
                <a:ea typeface="Aptos"/>
                <a:cs typeface="Aptos"/>
              </a:rPr>
              <a:t>02</a:t>
            </a:r>
          </a:p>
        </p:txBody>
      </p:sp>
      <p:sp>
        <p:nvSpPr>
          <p:cNvPr id="19" name="Rectangle 18">
            <a:extLst>
              <a:ext uri="{FF2B5EF4-FFF2-40B4-BE49-F238E27FC236}">
                <a16:creationId xmlns:a16="http://schemas.microsoft.com/office/drawing/2014/main" id="{1BFD0549-2D5E-4C8E-8149-C5913FF32A7B}"/>
              </a:ext>
            </a:extLst>
          </p:cNvPr>
          <p:cNvSpPr>
            <a:spLocks noGrp="1"/>
          </p:cNvSpPr>
          <p:nvPr/>
        </p:nvSpPr>
        <p:spPr>
          <a:xfrm>
            <a:off x="6572250" y="3095625"/>
            <a:ext cx="4667250" cy="276225"/>
          </a:xfrm>
          <a:prstGeom prst="rect">
            <a:avLst/>
          </a:prstGeom>
          <a:noFill/>
          <a:ln w="0">
            <a:noFill/>
            <a:prstDash val="solid"/>
          </a:ln>
        </p:spPr>
        <p:txBody>
          <a:bodyPr wrap="square" lIns="0" tIns="0" rIns="0" bIns="0" anchor="t">
            <a:normAutofit/>
          </a:bodyPr>
          <a:lstStyle/>
          <a:p>
            <a:pPr algn="l">
              <a:lnSpc>
                <a:spcPct val="102000"/>
              </a:lnSpc>
              <a:buNone/>
              <a:defRPr sz="1650" b="1">
                <a:solidFill>
                  <a:srgbClr val="F4F7FB"/>
                </a:solidFill>
                <a:latin typeface="Aptos"/>
                <a:ea typeface="Aptos"/>
                <a:cs typeface="Aptos"/>
              </a:defRPr>
            </a:pPr>
            <a:r>
              <a:rPr sz="1650" b="1">
                <a:solidFill>
                  <a:srgbClr val="F4F7FB"/>
                </a:solidFill>
                <a:latin typeface="Aptos"/>
                <a:ea typeface="Aptos"/>
                <a:cs typeface="Aptos"/>
              </a:rPr>
              <a:t>Fragmented trust</a:t>
            </a:r>
          </a:p>
        </p:txBody>
      </p:sp>
      <p:sp>
        <p:nvSpPr>
          <p:cNvPr id="20" name="Rectangle 19">
            <a:extLst>
              <a:ext uri="{FF2B5EF4-FFF2-40B4-BE49-F238E27FC236}">
                <a16:creationId xmlns:a16="http://schemas.microsoft.com/office/drawing/2014/main" id="{782030FF-74C4-43CB-AF7F-3BDAC2D1B422}"/>
              </a:ext>
            </a:extLst>
          </p:cNvPr>
          <p:cNvSpPr>
            <a:spLocks noGrp="1"/>
          </p:cNvSpPr>
          <p:nvPr/>
        </p:nvSpPr>
        <p:spPr>
          <a:xfrm>
            <a:off x="6572250" y="3409950"/>
            <a:ext cx="4667250" cy="428625"/>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99A6B8"/>
                </a:solidFill>
                <a:latin typeface="Aptos"/>
                <a:ea typeface="Aptos"/>
                <a:cs typeface="Aptos"/>
              </a:defRPr>
            </a:pPr>
            <a:r>
              <a:rPr sz="1275" b="0">
                <a:solidFill>
                  <a:srgbClr val="99A6B8"/>
                </a:solidFill>
                <a:latin typeface="Aptos"/>
                <a:ea typeface="Aptos"/>
                <a:cs typeface="Aptos"/>
              </a:rPr>
              <a:t>Every business rebuilds consent, metering, settlement, and receipt logic.</a:t>
            </a:r>
          </a:p>
        </p:txBody>
      </p:sp>
      <p:sp>
        <p:nvSpPr>
          <p:cNvPr id="21" name="Oval 20">
            <a:extLst>
              <a:ext uri="{FF2B5EF4-FFF2-40B4-BE49-F238E27FC236}">
                <a16:creationId xmlns:a16="http://schemas.microsoft.com/office/drawing/2014/main" id="{032475DA-17BD-4243-940B-08262CA9BAB5}"/>
              </a:ext>
            </a:extLst>
          </p:cNvPr>
          <p:cNvSpPr>
            <a:spLocks noGrp="1"/>
          </p:cNvSpPr>
          <p:nvPr/>
        </p:nvSpPr>
        <p:spPr>
          <a:xfrm>
            <a:off x="5905500" y="4371975"/>
            <a:ext cx="457200" cy="457200"/>
          </a:xfrm>
          <a:prstGeom prst="ellipse">
            <a:avLst/>
          </a:prstGeom>
          <a:solidFill>
            <a:srgbClr val="B29CFF"/>
          </a:solidFill>
          <a:ln w="0">
            <a:noFill/>
            <a:prstDash val="solid"/>
          </a:ln>
        </p:spPr>
        <p:txBody>
          <a:bodyPr/>
          <a:lstStyle/>
          <a:p>
            <a:endParaRPr lang="en-IN"/>
          </a:p>
        </p:txBody>
      </p:sp>
      <p:sp>
        <p:nvSpPr>
          <p:cNvPr id="22" name="Rectangle 21">
            <a:extLst>
              <a:ext uri="{FF2B5EF4-FFF2-40B4-BE49-F238E27FC236}">
                <a16:creationId xmlns:a16="http://schemas.microsoft.com/office/drawing/2014/main" id="{A76806B8-9E80-4440-BBBE-50C30F0BA6FF}"/>
              </a:ext>
            </a:extLst>
          </p:cNvPr>
          <p:cNvSpPr>
            <a:spLocks noGrp="1"/>
          </p:cNvSpPr>
          <p:nvPr/>
        </p:nvSpPr>
        <p:spPr>
          <a:xfrm>
            <a:off x="5905500" y="4457700"/>
            <a:ext cx="457200" cy="266700"/>
          </a:xfrm>
          <a:prstGeom prst="rect">
            <a:avLst/>
          </a:prstGeom>
          <a:noFill/>
          <a:ln w="0">
            <a:noFill/>
            <a:prstDash val="solid"/>
          </a:ln>
        </p:spPr>
        <p:txBody>
          <a:bodyPr wrap="square" lIns="0" tIns="0" rIns="0" bIns="0" anchor="t">
            <a:normAutofit/>
          </a:bodyPr>
          <a:lstStyle/>
          <a:p>
            <a:pPr algn="ctr">
              <a:lnSpc>
                <a:spcPct val="102000"/>
              </a:lnSpc>
              <a:buNone/>
              <a:defRPr sz="1500" b="1">
                <a:solidFill>
                  <a:srgbClr val="F4F7FB"/>
                </a:solidFill>
                <a:latin typeface="Aptos"/>
                <a:ea typeface="Aptos"/>
                <a:cs typeface="Aptos"/>
              </a:defRPr>
            </a:pPr>
            <a:r>
              <a:rPr sz="1500" b="1">
                <a:solidFill>
                  <a:srgbClr val="F4F7FB"/>
                </a:solidFill>
                <a:latin typeface="Aptos"/>
                <a:ea typeface="Aptos"/>
                <a:cs typeface="Aptos"/>
              </a:rPr>
              <a:t>03</a:t>
            </a:r>
          </a:p>
        </p:txBody>
      </p:sp>
      <p:sp>
        <p:nvSpPr>
          <p:cNvPr id="23" name="Rectangle 22">
            <a:extLst>
              <a:ext uri="{FF2B5EF4-FFF2-40B4-BE49-F238E27FC236}">
                <a16:creationId xmlns:a16="http://schemas.microsoft.com/office/drawing/2014/main" id="{14FCB6D4-73CE-4747-823F-B687C4FFDE7F}"/>
              </a:ext>
            </a:extLst>
          </p:cNvPr>
          <p:cNvSpPr>
            <a:spLocks noGrp="1"/>
          </p:cNvSpPr>
          <p:nvPr/>
        </p:nvSpPr>
        <p:spPr>
          <a:xfrm>
            <a:off x="6572250" y="4352925"/>
            <a:ext cx="4667250" cy="276225"/>
          </a:xfrm>
          <a:prstGeom prst="rect">
            <a:avLst/>
          </a:prstGeom>
          <a:noFill/>
          <a:ln w="0">
            <a:noFill/>
            <a:prstDash val="solid"/>
          </a:ln>
        </p:spPr>
        <p:txBody>
          <a:bodyPr wrap="square" lIns="0" tIns="0" rIns="0" bIns="0" anchor="t">
            <a:normAutofit/>
          </a:bodyPr>
          <a:lstStyle/>
          <a:p>
            <a:pPr algn="l">
              <a:lnSpc>
                <a:spcPct val="102000"/>
              </a:lnSpc>
              <a:buNone/>
              <a:defRPr sz="1650" b="1">
                <a:solidFill>
                  <a:srgbClr val="F4F7FB"/>
                </a:solidFill>
                <a:latin typeface="Aptos"/>
                <a:ea typeface="Aptos"/>
                <a:cs typeface="Aptos"/>
              </a:defRPr>
            </a:pPr>
            <a:r>
              <a:rPr sz="1650" b="1">
                <a:solidFill>
                  <a:srgbClr val="F4F7FB"/>
                </a:solidFill>
                <a:latin typeface="Aptos"/>
                <a:ea typeface="Aptos"/>
                <a:cs typeface="Aptos"/>
              </a:rPr>
              <a:t>Weak proof</a:t>
            </a:r>
          </a:p>
        </p:txBody>
      </p:sp>
      <p:sp>
        <p:nvSpPr>
          <p:cNvPr id="24" name="Rectangle 23">
            <a:extLst>
              <a:ext uri="{FF2B5EF4-FFF2-40B4-BE49-F238E27FC236}">
                <a16:creationId xmlns:a16="http://schemas.microsoft.com/office/drawing/2014/main" id="{A56D7423-3AA5-4196-B736-CCD92B0165C0}"/>
              </a:ext>
            </a:extLst>
          </p:cNvPr>
          <p:cNvSpPr>
            <a:spLocks noGrp="1"/>
          </p:cNvSpPr>
          <p:nvPr/>
        </p:nvSpPr>
        <p:spPr>
          <a:xfrm>
            <a:off x="6572250" y="4667250"/>
            <a:ext cx="4667250" cy="428625"/>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99A6B8"/>
                </a:solidFill>
                <a:latin typeface="Aptos"/>
                <a:ea typeface="Aptos"/>
                <a:cs typeface="Aptos"/>
              </a:defRPr>
            </a:pPr>
            <a:r>
              <a:rPr lang="en-IN" sz="1275" dirty="0">
                <a:solidFill>
                  <a:srgbClr val="99A6B8"/>
                </a:solidFill>
                <a:latin typeface="Aptos"/>
                <a:ea typeface="Aptos"/>
                <a:cs typeface="Aptos"/>
              </a:rPr>
              <a:t>U</a:t>
            </a:r>
            <a:r>
              <a:rPr sz="1275" b="0" dirty="0" err="1">
                <a:solidFill>
                  <a:srgbClr val="99A6B8"/>
                </a:solidFill>
                <a:latin typeface="Aptos"/>
                <a:ea typeface="Aptos"/>
                <a:cs typeface="Aptos"/>
              </a:rPr>
              <a:t>sers</a:t>
            </a:r>
            <a:r>
              <a:rPr sz="1275" b="0" dirty="0">
                <a:solidFill>
                  <a:srgbClr val="99A6B8"/>
                </a:solidFill>
                <a:latin typeface="Aptos"/>
                <a:ea typeface="Aptos"/>
                <a:cs typeface="Aptos"/>
              </a:rPr>
              <a:t> need verifiable transaction evidence.</a:t>
            </a:r>
          </a:p>
        </p:txBody>
      </p:sp>
    </p:spTree>
    <p:extLst>
      <p:ext uri="{BB962C8B-B14F-4D97-AF65-F5344CB8AC3E}">
        <p14:creationId xmlns:p14="http://schemas.microsoft.com/office/powerpoint/2010/main" val="141401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A0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0F369AF2-293A-4283-9154-7E8A90586BD0}"/>
              </a:ext>
            </a:extLst>
          </p:cNvPr>
          <p:cNvSpPr>
            <a:spLocks noGrp="1"/>
          </p:cNvSpPr>
          <p:nvPr/>
        </p:nvSpPr>
        <p:spPr>
          <a:xfrm>
            <a:off x="457200" y="209550"/>
            <a:ext cx="4953000" cy="1905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5BE7FF"/>
                </a:solidFill>
                <a:latin typeface="Aptos"/>
                <a:ea typeface="Aptos"/>
                <a:cs typeface="Aptos"/>
              </a:defRPr>
            </a:pPr>
            <a:r>
              <a:rPr sz="1050" b="1">
                <a:solidFill>
                  <a:srgbClr val="5BE7FF"/>
                </a:solidFill>
                <a:latin typeface="Aptos"/>
                <a:ea typeface="Aptos"/>
                <a:cs typeface="Aptos"/>
              </a:rPr>
              <a:t>PRODUCT THESIS</a:t>
            </a:r>
          </a:p>
        </p:txBody>
      </p:sp>
      <p:sp>
        <p:nvSpPr>
          <p:cNvPr id="2" name="Rectangle 1">
            <a:extLst>
              <a:ext uri="{FF2B5EF4-FFF2-40B4-BE49-F238E27FC236}">
                <a16:creationId xmlns:a16="http://schemas.microsoft.com/office/drawing/2014/main" id="{A4C998BE-3D9F-4DDF-A4B1-EA51A8545AFC}"/>
              </a:ext>
            </a:extLst>
          </p:cNvPr>
          <p:cNvSpPr>
            <a:spLocks noGrp="1"/>
          </p:cNvSpPr>
          <p:nvPr/>
        </p:nvSpPr>
        <p:spPr>
          <a:xfrm>
            <a:off x="457200" y="514350"/>
            <a:ext cx="11239500" cy="762000"/>
          </a:xfrm>
          <a:prstGeom prst="rect">
            <a:avLst/>
          </a:prstGeom>
          <a:noFill/>
          <a:ln w="0">
            <a:noFill/>
            <a:prstDash val="solid"/>
          </a:ln>
        </p:spPr>
        <p:txBody>
          <a:bodyPr wrap="square" lIns="0" tIns="0" rIns="0" bIns="0" anchor="t">
            <a:noAutofit/>
          </a:bodyPr>
          <a:lstStyle/>
          <a:p>
            <a:pPr algn="l">
              <a:lnSpc>
                <a:spcPct val="94000"/>
              </a:lnSpc>
              <a:buNone/>
              <a:defRPr sz="3300" b="1">
                <a:solidFill>
                  <a:srgbClr val="F4F7FB"/>
                </a:solidFill>
                <a:latin typeface="Aptos"/>
                <a:ea typeface="Aptos"/>
                <a:cs typeface="Aptos"/>
              </a:defRPr>
            </a:pPr>
            <a:r>
              <a:rPr sz="3300" b="1">
                <a:solidFill>
                  <a:srgbClr val="F4F7FB"/>
                </a:solidFill>
                <a:latin typeface="Aptos"/>
                <a:ea typeface="Aptos"/>
                <a:cs typeface="Aptos"/>
              </a:rPr>
              <a:t>One user payment agent can buy services from many businesses.</a:t>
            </a:r>
          </a:p>
        </p:txBody>
      </p:sp>
      <p:sp>
        <p:nvSpPr>
          <p:cNvPr id="3" name="Straight Connector 2">
            <a:extLst>
              <a:ext uri="{FF2B5EF4-FFF2-40B4-BE49-F238E27FC236}">
                <a16:creationId xmlns:a16="http://schemas.microsoft.com/office/drawing/2014/main" id="{01345814-E64E-42D7-B156-1FB68A5211DE}"/>
              </a:ext>
            </a:extLst>
          </p:cNvPr>
          <p:cNvSpPr>
            <a:spLocks noGrp="1"/>
          </p:cNvSpPr>
          <p:nvPr/>
        </p:nvSpPr>
        <p:spPr>
          <a:xfrm>
            <a:off x="457200" y="1371600"/>
            <a:ext cx="11277600" cy="0"/>
          </a:xfrm>
          <a:prstGeom prst="line">
            <a:avLst/>
          </a:prstGeom>
          <a:noFill/>
          <a:ln w="9525">
            <a:solidFill>
              <a:srgbClr val="2A3548"/>
            </a:solidFill>
            <a:prstDash val="solid"/>
          </a:ln>
        </p:spPr>
        <p:txBody>
          <a:bodyPr/>
          <a:lstStyle/>
          <a:p>
            <a:endParaRPr lang="en-IN"/>
          </a:p>
        </p:txBody>
      </p:sp>
      <p:sp>
        <p:nvSpPr>
          <p:cNvPr id="4" name="Rectangle 3">
            <a:extLst>
              <a:ext uri="{FF2B5EF4-FFF2-40B4-BE49-F238E27FC236}">
                <a16:creationId xmlns:a16="http://schemas.microsoft.com/office/drawing/2014/main" id="{374B3AAC-CF2F-425B-9855-AF02D4AB75B2}"/>
              </a:ext>
            </a:extLst>
          </p:cNvPr>
          <p:cNvSpPr>
            <a:spLocks noGrp="1"/>
          </p:cNvSpPr>
          <p:nvPr/>
        </p:nvSpPr>
        <p:spPr>
          <a:xfrm>
            <a:off x="457200" y="6457950"/>
            <a:ext cx="152400" cy="38100"/>
          </a:xfrm>
          <a:prstGeom prst="rect">
            <a:avLst/>
          </a:prstGeom>
          <a:solidFill>
            <a:srgbClr val="5BE7FF"/>
          </a:solidFill>
          <a:ln w="0">
            <a:noFill/>
            <a:prstDash val="solid"/>
          </a:ln>
        </p:spPr>
        <p:txBody>
          <a:bodyPr/>
          <a:lstStyle/>
          <a:p>
            <a:endParaRPr lang="en-IN"/>
          </a:p>
        </p:txBody>
      </p:sp>
      <p:sp>
        <p:nvSpPr>
          <p:cNvPr id="5" name="Rectangle 4">
            <a:extLst>
              <a:ext uri="{FF2B5EF4-FFF2-40B4-BE49-F238E27FC236}">
                <a16:creationId xmlns:a16="http://schemas.microsoft.com/office/drawing/2014/main" id="{D0CD18C1-C02E-4BD4-A6E3-BA33DA734D9F}"/>
              </a:ext>
            </a:extLst>
          </p:cNvPr>
          <p:cNvSpPr>
            <a:spLocks noGrp="1"/>
          </p:cNvSpPr>
          <p:nvPr/>
        </p:nvSpPr>
        <p:spPr>
          <a:xfrm>
            <a:off x="704850" y="6381750"/>
            <a:ext cx="1714500" cy="190500"/>
          </a:xfrm>
          <a:prstGeom prst="rect">
            <a:avLst/>
          </a:prstGeom>
          <a:noFill/>
          <a:ln w="0">
            <a:noFill/>
            <a:prstDash val="solid"/>
          </a:ln>
        </p:spPr>
        <p:txBody>
          <a:bodyPr wrap="square" lIns="0" tIns="0" rIns="0" bIns="0" anchor="t">
            <a:normAutofit/>
          </a:bodyPr>
          <a:lstStyle/>
          <a:p>
            <a:pPr algn="l">
              <a:lnSpc>
                <a:spcPct val="102000"/>
              </a:lnSpc>
              <a:buNone/>
              <a:defRPr sz="900" b="1">
                <a:solidFill>
                  <a:srgbClr val="99A6B8"/>
                </a:solidFill>
                <a:latin typeface="Aptos"/>
                <a:ea typeface="Aptos"/>
                <a:cs typeface="Aptos"/>
              </a:defRPr>
            </a:pPr>
            <a:r>
              <a:rPr sz="900" b="1">
                <a:solidFill>
                  <a:srgbClr val="99A6B8"/>
                </a:solidFill>
                <a:latin typeface="Aptos"/>
                <a:ea typeface="Aptos"/>
                <a:cs typeface="Aptos"/>
              </a:rPr>
              <a:t>PAYPILOT</a:t>
            </a:r>
          </a:p>
        </p:txBody>
      </p:sp>
      <p:sp>
        <p:nvSpPr>
          <p:cNvPr id="6" name="Rectangle 5">
            <a:extLst>
              <a:ext uri="{FF2B5EF4-FFF2-40B4-BE49-F238E27FC236}">
                <a16:creationId xmlns:a16="http://schemas.microsoft.com/office/drawing/2014/main" id="{F0B9DBAB-CB33-406C-B814-B9DCFBA3B611}"/>
              </a:ext>
            </a:extLst>
          </p:cNvPr>
          <p:cNvSpPr>
            <a:spLocks noGrp="1"/>
          </p:cNvSpPr>
          <p:nvPr/>
        </p:nvSpPr>
        <p:spPr>
          <a:xfrm>
            <a:off x="11182350" y="6381750"/>
            <a:ext cx="552450" cy="190500"/>
          </a:xfrm>
          <a:prstGeom prst="rect">
            <a:avLst/>
          </a:prstGeom>
          <a:noFill/>
          <a:ln w="0">
            <a:noFill/>
            <a:prstDash val="solid"/>
          </a:ln>
        </p:spPr>
        <p:txBody>
          <a:bodyPr wrap="square" lIns="0" tIns="0" rIns="0" bIns="0" anchor="t">
            <a:normAutofit/>
          </a:bodyPr>
          <a:lstStyle/>
          <a:p>
            <a:pPr algn="r">
              <a:lnSpc>
                <a:spcPct val="102000"/>
              </a:lnSpc>
              <a:buNone/>
              <a:defRPr sz="975" b="0">
                <a:solidFill>
                  <a:srgbClr val="99A6B8"/>
                </a:solidFill>
                <a:latin typeface="Aptos"/>
                <a:ea typeface="Aptos"/>
                <a:cs typeface="Aptos"/>
              </a:defRPr>
            </a:pPr>
            <a:r>
              <a:rPr sz="975" b="0">
                <a:solidFill>
                  <a:srgbClr val="99A6B8"/>
                </a:solidFill>
                <a:latin typeface="Aptos"/>
                <a:ea typeface="Aptos"/>
                <a:cs typeface="Aptos"/>
              </a:rPr>
              <a:t>03</a:t>
            </a:r>
          </a:p>
        </p:txBody>
      </p:sp>
      <p:sp>
        <p:nvSpPr>
          <p:cNvPr id="7" name="Rectangle 6">
            <a:extLst>
              <a:ext uri="{FF2B5EF4-FFF2-40B4-BE49-F238E27FC236}">
                <a16:creationId xmlns:a16="http://schemas.microsoft.com/office/drawing/2014/main" id="{803B2576-E44E-4D87-A775-B79CC4F11E06}"/>
              </a:ext>
            </a:extLst>
          </p:cNvPr>
          <p:cNvSpPr>
            <a:spLocks noGrp="1"/>
          </p:cNvSpPr>
          <p:nvPr/>
        </p:nvSpPr>
        <p:spPr>
          <a:xfrm>
            <a:off x="457200" y="1828800"/>
            <a:ext cx="2476500" cy="3143250"/>
          </a:xfrm>
          <a:prstGeom prst="rect">
            <a:avLst/>
          </a:prstGeom>
          <a:solidFill>
            <a:srgbClr val="151E2D"/>
          </a:solidFill>
          <a:ln w="19050">
            <a:solidFill>
              <a:srgbClr val="5BE7FF"/>
            </a:solidFill>
            <a:prstDash val="solid"/>
          </a:ln>
        </p:spPr>
        <p:txBody>
          <a:bodyPr/>
          <a:lstStyle/>
          <a:p>
            <a:endParaRPr lang="en-IN"/>
          </a:p>
        </p:txBody>
      </p:sp>
      <p:sp>
        <p:nvSpPr>
          <p:cNvPr id="8" name="Rectangle 7">
            <a:extLst>
              <a:ext uri="{FF2B5EF4-FFF2-40B4-BE49-F238E27FC236}">
                <a16:creationId xmlns:a16="http://schemas.microsoft.com/office/drawing/2014/main" id="{7E25F538-18FE-4F6E-B670-28626FAF8EA0}"/>
              </a:ext>
            </a:extLst>
          </p:cNvPr>
          <p:cNvSpPr>
            <a:spLocks noGrp="1"/>
          </p:cNvSpPr>
          <p:nvPr/>
        </p:nvSpPr>
        <p:spPr>
          <a:xfrm>
            <a:off x="742950" y="2076450"/>
            <a:ext cx="1905000" cy="1905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5BE7FF"/>
                </a:solidFill>
                <a:latin typeface="Aptos"/>
                <a:ea typeface="Aptos"/>
                <a:cs typeface="Aptos"/>
              </a:defRPr>
            </a:pPr>
            <a:r>
              <a:rPr sz="1050" b="1">
                <a:solidFill>
                  <a:srgbClr val="5BE7FF"/>
                </a:solidFill>
                <a:latin typeface="Aptos"/>
                <a:ea typeface="Aptos"/>
                <a:cs typeface="Aptos"/>
              </a:rPr>
              <a:t>USER</a:t>
            </a:r>
          </a:p>
        </p:txBody>
      </p:sp>
      <p:sp>
        <p:nvSpPr>
          <p:cNvPr id="9" name="Rectangle 8">
            <a:extLst>
              <a:ext uri="{FF2B5EF4-FFF2-40B4-BE49-F238E27FC236}">
                <a16:creationId xmlns:a16="http://schemas.microsoft.com/office/drawing/2014/main" id="{7F3A301C-A626-4B28-B380-1283CCD5C981}"/>
              </a:ext>
            </a:extLst>
          </p:cNvPr>
          <p:cNvSpPr>
            <a:spLocks noGrp="1"/>
          </p:cNvSpPr>
          <p:nvPr/>
        </p:nvSpPr>
        <p:spPr>
          <a:xfrm>
            <a:off x="742950" y="2533650"/>
            <a:ext cx="1905000" cy="781050"/>
          </a:xfrm>
          <a:prstGeom prst="rect">
            <a:avLst/>
          </a:prstGeom>
          <a:noFill/>
          <a:ln w="0">
            <a:noFill/>
            <a:prstDash val="solid"/>
          </a:ln>
        </p:spPr>
        <p:txBody>
          <a:bodyPr wrap="square" lIns="0" tIns="0" rIns="0" bIns="0" anchor="t">
            <a:normAutofit fontScale="94514"/>
          </a:bodyPr>
          <a:lstStyle/>
          <a:p>
            <a:pPr algn="l">
              <a:lnSpc>
                <a:spcPct val="95000"/>
              </a:lnSpc>
              <a:buNone/>
              <a:defRPr sz="2325" b="1">
                <a:solidFill>
                  <a:srgbClr val="F4F7FB"/>
                </a:solidFill>
                <a:latin typeface="Aptos"/>
                <a:ea typeface="Aptos"/>
                <a:cs typeface="Aptos"/>
              </a:defRPr>
            </a:pPr>
            <a:r>
              <a:rPr sz="2325" b="1">
                <a:solidFill>
                  <a:srgbClr val="F4F7FB"/>
                </a:solidFill>
                <a:latin typeface="Aptos"/>
                <a:ea typeface="Aptos"/>
                <a:cs typeface="Aptos"/>
              </a:rPr>
              <a:t>PayPilot</a:t>
            </a:r>
          </a:p>
          <a:p>
            <a:pPr algn="l">
              <a:lnSpc>
                <a:spcPct val="95000"/>
              </a:lnSpc>
              <a:buNone/>
              <a:defRPr sz="2325" b="1">
                <a:solidFill>
                  <a:srgbClr val="F4F7FB"/>
                </a:solidFill>
                <a:latin typeface="Aptos"/>
                <a:ea typeface="Aptos"/>
                <a:cs typeface="Aptos"/>
              </a:defRPr>
            </a:pPr>
            <a:r>
              <a:rPr sz="2325" b="1">
                <a:solidFill>
                  <a:srgbClr val="F4F7FB"/>
                </a:solidFill>
                <a:latin typeface="Aptos"/>
                <a:ea typeface="Aptos"/>
                <a:cs typeface="Aptos"/>
              </a:rPr>
              <a:t>Payment Agent</a:t>
            </a:r>
          </a:p>
        </p:txBody>
      </p:sp>
      <p:sp>
        <p:nvSpPr>
          <p:cNvPr id="10" name="Rectangle 9">
            <a:extLst>
              <a:ext uri="{FF2B5EF4-FFF2-40B4-BE49-F238E27FC236}">
                <a16:creationId xmlns:a16="http://schemas.microsoft.com/office/drawing/2014/main" id="{D33E0F50-E455-4A95-B5B2-9302FC0BCCE9}"/>
              </a:ext>
            </a:extLst>
          </p:cNvPr>
          <p:cNvSpPr>
            <a:spLocks noGrp="1"/>
          </p:cNvSpPr>
          <p:nvPr/>
        </p:nvSpPr>
        <p:spPr>
          <a:xfrm>
            <a:off x="742950" y="3695700"/>
            <a:ext cx="1905000" cy="857250"/>
          </a:xfrm>
          <a:prstGeom prst="rect">
            <a:avLst/>
          </a:prstGeom>
          <a:noFill/>
          <a:ln w="0">
            <a:noFill/>
            <a:prstDash val="solid"/>
          </a:ln>
        </p:spPr>
        <p:txBody>
          <a:bodyPr wrap="square" lIns="0" tIns="0" rIns="0" bIns="0" anchor="t">
            <a:normAutofit/>
          </a:bodyPr>
          <a:lstStyle/>
          <a:p>
            <a:pPr algn="l">
              <a:lnSpc>
                <a:spcPct val="115000"/>
              </a:lnSpc>
              <a:buNone/>
              <a:defRPr sz="1500" b="0">
                <a:solidFill>
                  <a:srgbClr val="99A6B8"/>
                </a:solidFill>
                <a:latin typeface="Aptos"/>
                <a:ea typeface="Aptos"/>
                <a:cs typeface="Aptos"/>
              </a:defRPr>
            </a:pPr>
            <a:r>
              <a:rPr sz="1500" b="0">
                <a:solidFill>
                  <a:srgbClr val="99A6B8"/>
                </a:solidFill>
                <a:latin typeface="Aptos"/>
                <a:ea typeface="Aptos"/>
                <a:cs typeface="Aptos"/>
              </a:rPr>
              <a:t>One policy</a:t>
            </a:r>
          </a:p>
          <a:p>
            <a:pPr algn="l">
              <a:lnSpc>
                <a:spcPct val="115000"/>
              </a:lnSpc>
              <a:buNone/>
              <a:defRPr sz="1500" b="0">
                <a:solidFill>
                  <a:srgbClr val="99A6B8"/>
                </a:solidFill>
                <a:latin typeface="Aptos"/>
                <a:ea typeface="Aptos"/>
                <a:cs typeface="Aptos"/>
              </a:defRPr>
            </a:pPr>
            <a:r>
              <a:rPr sz="1500" b="0">
                <a:solidFill>
                  <a:srgbClr val="99A6B8"/>
                </a:solidFill>
                <a:latin typeface="Aptos"/>
                <a:ea typeface="Aptos"/>
                <a:cs typeface="Aptos"/>
              </a:rPr>
              <a:t>One Circle wallet</a:t>
            </a:r>
          </a:p>
          <a:p>
            <a:pPr algn="l">
              <a:lnSpc>
                <a:spcPct val="115000"/>
              </a:lnSpc>
              <a:buNone/>
              <a:defRPr sz="1500" b="0">
                <a:solidFill>
                  <a:srgbClr val="99A6B8"/>
                </a:solidFill>
                <a:latin typeface="Aptos"/>
                <a:ea typeface="Aptos"/>
                <a:cs typeface="Aptos"/>
              </a:defRPr>
            </a:pPr>
            <a:r>
              <a:rPr sz="1500" b="0">
                <a:solidFill>
                  <a:srgbClr val="99A6B8"/>
                </a:solidFill>
                <a:latin typeface="Aptos"/>
                <a:ea typeface="Aptos"/>
                <a:cs typeface="Aptos"/>
              </a:rPr>
              <a:t>One proof experience</a:t>
            </a:r>
          </a:p>
        </p:txBody>
      </p:sp>
      <p:sp>
        <p:nvSpPr>
          <p:cNvPr id="11" name="Rectangle 10">
            <a:extLst>
              <a:ext uri="{FF2B5EF4-FFF2-40B4-BE49-F238E27FC236}">
                <a16:creationId xmlns:a16="http://schemas.microsoft.com/office/drawing/2014/main" id="{97EB06DB-A15B-45E4-9EAC-F06C1F2ADA23}"/>
              </a:ext>
            </a:extLst>
          </p:cNvPr>
          <p:cNvSpPr>
            <a:spLocks noGrp="1"/>
          </p:cNvSpPr>
          <p:nvPr/>
        </p:nvSpPr>
        <p:spPr>
          <a:xfrm>
            <a:off x="3914775" y="2857500"/>
            <a:ext cx="2266950" cy="1066800"/>
          </a:xfrm>
          <a:prstGeom prst="rect">
            <a:avLst/>
          </a:prstGeom>
          <a:solidFill>
            <a:srgbClr val="111827"/>
          </a:solidFill>
          <a:ln w="19050">
            <a:solidFill>
              <a:srgbClr val="5BE7FF"/>
            </a:solidFill>
            <a:prstDash val="solid"/>
          </a:ln>
        </p:spPr>
        <p:txBody>
          <a:bodyPr/>
          <a:lstStyle/>
          <a:p>
            <a:endParaRPr lang="en-IN"/>
          </a:p>
        </p:txBody>
      </p:sp>
      <p:sp>
        <p:nvSpPr>
          <p:cNvPr id="12" name="Rectangle 11">
            <a:extLst>
              <a:ext uri="{FF2B5EF4-FFF2-40B4-BE49-F238E27FC236}">
                <a16:creationId xmlns:a16="http://schemas.microsoft.com/office/drawing/2014/main" id="{8977CE0B-0C6E-4C4B-8574-DBD8A22E077B}"/>
              </a:ext>
            </a:extLst>
          </p:cNvPr>
          <p:cNvSpPr>
            <a:spLocks noGrp="1"/>
          </p:cNvSpPr>
          <p:nvPr/>
        </p:nvSpPr>
        <p:spPr>
          <a:xfrm>
            <a:off x="4105275" y="3057525"/>
            <a:ext cx="1885950" cy="180975"/>
          </a:xfrm>
          <a:prstGeom prst="rect">
            <a:avLst/>
          </a:prstGeom>
          <a:noFill/>
          <a:ln w="0">
            <a:noFill/>
            <a:prstDash val="solid"/>
          </a:ln>
        </p:spPr>
        <p:txBody>
          <a:bodyPr wrap="square" lIns="0" tIns="0" rIns="0" bIns="0" anchor="t">
            <a:normAutofit/>
          </a:bodyPr>
          <a:lstStyle/>
          <a:p>
            <a:pPr algn="ctr">
              <a:lnSpc>
                <a:spcPct val="102000"/>
              </a:lnSpc>
              <a:buNone/>
              <a:defRPr sz="975" b="1">
                <a:solidFill>
                  <a:srgbClr val="5BE7FF"/>
                </a:solidFill>
                <a:latin typeface="Aptos"/>
                <a:ea typeface="Aptos"/>
                <a:cs typeface="Aptos"/>
              </a:defRPr>
            </a:pPr>
            <a:r>
              <a:rPr sz="975" b="1">
                <a:solidFill>
                  <a:srgbClr val="5BE7FF"/>
                </a:solidFill>
                <a:latin typeface="Aptos"/>
                <a:ea typeface="Aptos"/>
                <a:cs typeface="Aptos"/>
              </a:rPr>
              <a:t>DISCOVER • PLAN • CONTROL</a:t>
            </a:r>
          </a:p>
        </p:txBody>
      </p:sp>
      <p:sp>
        <p:nvSpPr>
          <p:cNvPr id="13" name="Rectangle 12">
            <a:extLst>
              <a:ext uri="{FF2B5EF4-FFF2-40B4-BE49-F238E27FC236}">
                <a16:creationId xmlns:a16="http://schemas.microsoft.com/office/drawing/2014/main" id="{CEE970D3-06ED-442C-BDEF-1205082C0439}"/>
              </a:ext>
            </a:extLst>
          </p:cNvPr>
          <p:cNvSpPr>
            <a:spLocks noGrp="1"/>
          </p:cNvSpPr>
          <p:nvPr/>
        </p:nvSpPr>
        <p:spPr>
          <a:xfrm>
            <a:off x="4105275" y="3381375"/>
            <a:ext cx="1885950" cy="295275"/>
          </a:xfrm>
          <a:prstGeom prst="rect">
            <a:avLst/>
          </a:prstGeom>
          <a:noFill/>
          <a:ln w="0">
            <a:noFill/>
            <a:prstDash val="solid"/>
          </a:ln>
        </p:spPr>
        <p:txBody>
          <a:bodyPr wrap="square" lIns="0" tIns="0" rIns="0" bIns="0" anchor="t">
            <a:normAutofit/>
          </a:bodyPr>
          <a:lstStyle/>
          <a:p>
            <a:pPr algn="ctr">
              <a:lnSpc>
                <a:spcPct val="102000"/>
              </a:lnSpc>
              <a:buNone/>
              <a:defRPr sz="1725" b="1">
                <a:solidFill>
                  <a:srgbClr val="F4F7FB"/>
                </a:solidFill>
                <a:latin typeface="Aptos"/>
                <a:ea typeface="Aptos"/>
                <a:cs typeface="Aptos"/>
              </a:defRPr>
            </a:pPr>
            <a:r>
              <a:rPr sz="1725" b="1">
                <a:solidFill>
                  <a:srgbClr val="F4F7FB"/>
                </a:solidFill>
                <a:latin typeface="Aptos"/>
                <a:ea typeface="Aptos"/>
                <a:cs typeface="Aptos"/>
              </a:rPr>
              <a:t>Agentic commerce</a:t>
            </a:r>
          </a:p>
        </p:txBody>
      </p:sp>
      <p:sp>
        <p:nvSpPr>
          <p:cNvPr id="14" name="Rectangle 13">
            <a:extLst>
              <a:ext uri="{FF2B5EF4-FFF2-40B4-BE49-F238E27FC236}">
                <a16:creationId xmlns:a16="http://schemas.microsoft.com/office/drawing/2014/main" id="{E3B0D843-CB75-4DEF-B86A-9B7DF80CF4FF}"/>
              </a:ext>
            </a:extLst>
          </p:cNvPr>
          <p:cNvSpPr>
            <a:spLocks noGrp="1"/>
          </p:cNvSpPr>
          <p:nvPr/>
        </p:nvSpPr>
        <p:spPr>
          <a:xfrm>
            <a:off x="7334250" y="1704975"/>
            <a:ext cx="3905250" cy="1000125"/>
          </a:xfrm>
          <a:prstGeom prst="rect">
            <a:avLst/>
          </a:prstGeom>
          <a:solidFill>
            <a:srgbClr val="111827"/>
          </a:solidFill>
          <a:ln w="19050">
            <a:solidFill>
              <a:srgbClr val="3D8DFF"/>
            </a:solidFill>
            <a:prstDash val="solid"/>
          </a:ln>
        </p:spPr>
        <p:txBody>
          <a:bodyPr/>
          <a:lstStyle/>
          <a:p>
            <a:endParaRPr lang="en-IN"/>
          </a:p>
        </p:txBody>
      </p:sp>
      <p:sp>
        <p:nvSpPr>
          <p:cNvPr id="15" name="Rectangle 14">
            <a:extLst>
              <a:ext uri="{FF2B5EF4-FFF2-40B4-BE49-F238E27FC236}">
                <a16:creationId xmlns:a16="http://schemas.microsoft.com/office/drawing/2014/main" id="{DACA3056-43ED-4AE2-88AB-4F248889E063}"/>
              </a:ext>
            </a:extLst>
          </p:cNvPr>
          <p:cNvSpPr>
            <a:spLocks noGrp="1"/>
          </p:cNvSpPr>
          <p:nvPr/>
        </p:nvSpPr>
        <p:spPr>
          <a:xfrm>
            <a:off x="7562850" y="1905000"/>
            <a:ext cx="3143250" cy="266700"/>
          </a:xfrm>
          <a:prstGeom prst="rect">
            <a:avLst/>
          </a:prstGeom>
          <a:noFill/>
          <a:ln w="0">
            <a:noFill/>
            <a:prstDash val="solid"/>
          </a:ln>
        </p:spPr>
        <p:txBody>
          <a:bodyPr wrap="square" lIns="0" tIns="0" rIns="0" bIns="0" anchor="t">
            <a:normAutofit fontScale="99460"/>
          </a:bodyPr>
          <a:lstStyle/>
          <a:p>
            <a:pPr algn="l">
              <a:lnSpc>
                <a:spcPct val="102000"/>
              </a:lnSpc>
              <a:buNone/>
              <a:defRPr sz="1725" b="1">
                <a:solidFill>
                  <a:srgbClr val="F4F7FB"/>
                </a:solidFill>
                <a:latin typeface="Aptos"/>
                <a:ea typeface="Aptos"/>
                <a:cs typeface="Aptos"/>
              </a:defRPr>
            </a:pPr>
            <a:r>
              <a:rPr sz="1725" b="1">
                <a:solidFill>
                  <a:srgbClr val="F4F7FB"/>
                </a:solidFill>
                <a:latin typeface="Aptos"/>
                <a:ea typeface="Aptos"/>
                <a:cs typeface="Aptos"/>
              </a:rPr>
              <a:t>Veritas Research</a:t>
            </a:r>
          </a:p>
        </p:txBody>
      </p:sp>
      <p:sp>
        <p:nvSpPr>
          <p:cNvPr id="16" name="Rectangle 15">
            <a:extLst>
              <a:ext uri="{FF2B5EF4-FFF2-40B4-BE49-F238E27FC236}">
                <a16:creationId xmlns:a16="http://schemas.microsoft.com/office/drawing/2014/main" id="{BD21E008-8356-4D92-9716-E497DCA568B9}"/>
              </a:ext>
            </a:extLst>
          </p:cNvPr>
          <p:cNvSpPr>
            <a:spLocks noGrp="1"/>
          </p:cNvSpPr>
          <p:nvPr/>
        </p:nvSpPr>
        <p:spPr>
          <a:xfrm>
            <a:off x="7562850" y="2286000"/>
            <a:ext cx="3143250" cy="209550"/>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99A6B8"/>
                </a:solidFill>
                <a:latin typeface="Aptos"/>
                <a:ea typeface="Aptos"/>
                <a:cs typeface="Aptos"/>
              </a:defRPr>
            </a:pPr>
            <a:r>
              <a:rPr sz="1275" b="0">
                <a:solidFill>
                  <a:srgbClr val="99A6B8"/>
                </a:solidFill>
                <a:latin typeface="Aptos"/>
                <a:ea typeface="Aptos"/>
                <a:cs typeface="Aptos"/>
              </a:rPr>
              <a:t>Supplier intelligence</a:t>
            </a:r>
          </a:p>
        </p:txBody>
      </p:sp>
      <p:cxnSp>
        <p:nvCxnSpPr>
          <p:cNvPr id="99" name="Straight Arrow Connector 98"/>
          <p:cNvCxnSpPr>
            <a:stCxn id="11" idx="3"/>
            <a:endCxn id="14" idx="1"/>
          </p:cNvCxnSpPr>
          <p:nvPr/>
        </p:nvCxnSpPr>
        <p:spPr>
          <a:xfrm flipV="1">
            <a:off x="6181725" y="2205038"/>
            <a:ext cx="1152525" cy="1185863"/>
          </a:xfrm>
          <a:prstGeom prst="straightConnector1">
            <a:avLst/>
          </a:prstGeom>
          <a:ln w="19050">
            <a:solidFill>
              <a:srgbClr val="3D8DFF"/>
            </a:solidFill>
            <a:prstDash val="solid"/>
            <a:tailEnd type="arrow" w="sm" len="sm"/>
          </a:ln>
        </p:spPr>
      </p:cxnSp>
      <p:sp>
        <p:nvSpPr>
          <p:cNvPr id="18" name="Rectangle 17">
            <a:extLst>
              <a:ext uri="{FF2B5EF4-FFF2-40B4-BE49-F238E27FC236}">
                <a16:creationId xmlns:a16="http://schemas.microsoft.com/office/drawing/2014/main" id="{81739062-448D-4677-B6B5-F78875AFE5C9}"/>
              </a:ext>
            </a:extLst>
          </p:cNvPr>
          <p:cNvSpPr>
            <a:spLocks noGrp="1"/>
          </p:cNvSpPr>
          <p:nvPr/>
        </p:nvSpPr>
        <p:spPr>
          <a:xfrm>
            <a:off x="7334250" y="3086100"/>
            <a:ext cx="3905250" cy="1000125"/>
          </a:xfrm>
          <a:prstGeom prst="rect">
            <a:avLst/>
          </a:prstGeom>
          <a:solidFill>
            <a:srgbClr val="111827"/>
          </a:solidFill>
          <a:ln w="19050">
            <a:solidFill>
              <a:srgbClr val="B29CFF"/>
            </a:solidFill>
            <a:prstDash val="solid"/>
          </a:ln>
        </p:spPr>
        <p:txBody>
          <a:bodyPr/>
          <a:lstStyle/>
          <a:p>
            <a:endParaRPr lang="en-IN"/>
          </a:p>
        </p:txBody>
      </p:sp>
      <p:sp>
        <p:nvSpPr>
          <p:cNvPr id="19" name="Rectangle 18">
            <a:extLst>
              <a:ext uri="{FF2B5EF4-FFF2-40B4-BE49-F238E27FC236}">
                <a16:creationId xmlns:a16="http://schemas.microsoft.com/office/drawing/2014/main" id="{3357883D-3A09-4487-98A2-7CED3DF60714}"/>
              </a:ext>
            </a:extLst>
          </p:cNvPr>
          <p:cNvSpPr>
            <a:spLocks noGrp="1"/>
          </p:cNvSpPr>
          <p:nvPr/>
        </p:nvSpPr>
        <p:spPr>
          <a:xfrm>
            <a:off x="7562850" y="3286125"/>
            <a:ext cx="3143250" cy="266700"/>
          </a:xfrm>
          <a:prstGeom prst="rect">
            <a:avLst/>
          </a:prstGeom>
          <a:noFill/>
          <a:ln w="0">
            <a:noFill/>
            <a:prstDash val="solid"/>
          </a:ln>
        </p:spPr>
        <p:txBody>
          <a:bodyPr wrap="square" lIns="0" tIns="0" rIns="0" bIns="0" anchor="t">
            <a:normAutofit fontScale="99460"/>
          </a:bodyPr>
          <a:lstStyle/>
          <a:p>
            <a:pPr algn="l">
              <a:lnSpc>
                <a:spcPct val="102000"/>
              </a:lnSpc>
              <a:buNone/>
              <a:defRPr sz="1725" b="1">
                <a:solidFill>
                  <a:srgbClr val="F4F7FB"/>
                </a:solidFill>
                <a:latin typeface="Aptos"/>
                <a:ea typeface="Aptos"/>
                <a:cs typeface="Aptos"/>
              </a:defRPr>
            </a:pPr>
            <a:r>
              <a:rPr sz="1725" b="1">
                <a:solidFill>
                  <a:srgbClr val="F4F7FB"/>
                </a:solidFill>
                <a:latin typeface="Aptos"/>
                <a:ea typeface="Aptos"/>
                <a:cs typeface="Aptos"/>
              </a:rPr>
              <a:t>DocWise AI</a:t>
            </a:r>
          </a:p>
        </p:txBody>
      </p:sp>
      <p:sp>
        <p:nvSpPr>
          <p:cNvPr id="20" name="Rectangle 19">
            <a:extLst>
              <a:ext uri="{FF2B5EF4-FFF2-40B4-BE49-F238E27FC236}">
                <a16:creationId xmlns:a16="http://schemas.microsoft.com/office/drawing/2014/main" id="{0D220577-C284-48C2-ACE7-9E82FF3E5839}"/>
              </a:ext>
            </a:extLst>
          </p:cNvPr>
          <p:cNvSpPr>
            <a:spLocks noGrp="1"/>
          </p:cNvSpPr>
          <p:nvPr/>
        </p:nvSpPr>
        <p:spPr>
          <a:xfrm>
            <a:off x="7562850" y="3667125"/>
            <a:ext cx="3143250" cy="209550"/>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99A6B8"/>
                </a:solidFill>
                <a:latin typeface="Aptos"/>
                <a:ea typeface="Aptos"/>
                <a:cs typeface="Aptos"/>
              </a:defRPr>
            </a:pPr>
            <a:r>
              <a:rPr sz="1275" b="0">
                <a:solidFill>
                  <a:srgbClr val="99A6B8"/>
                </a:solidFill>
                <a:latin typeface="Aptos"/>
                <a:ea typeface="Aptos"/>
                <a:cs typeface="Aptos"/>
              </a:rPr>
              <a:t>Document risk analysis</a:t>
            </a:r>
          </a:p>
        </p:txBody>
      </p:sp>
      <p:cxnSp>
        <p:nvCxnSpPr>
          <p:cNvPr id="103" name="Straight Arrow Connector 102"/>
          <p:cNvCxnSpPr>
            <a:stCxn id="11" idx="3"/>
            <a:endCxn id="18" idx="1"/>
          </p:cNvCxnSpPr>
          <p:nvPr/>
        </p:nvCxnSpPr>
        <p:spPr>
          <a:xfrm>
            <a:off x="6181725" y="3390900"/>
            <a:ext cx="1152525" cy="195263"/>
          </a:xfrm>
          <a:prstGeom prst="straightConnector1">
            <a:avLst/>
          </a:prstGeom>
          <a:ln w="19050">
            <a:solidFill>
              <a:srgbClr val="B29CFF"/>
            </a:solidFill>
            <a:prstDash val="solid"/>
            <a:tailEnd type="arrow" w="sm" len="sm"/>
          </a:ln>
        </p:spPr>
      </p:cxnSp>
      <p:sp>
        <p:nvSpPr>
          <p:cNvPr id="22" name="Rectangle 21">
            <a:extLst>
              <a:ext uri="{FF2B5EF4-FFF2-40B4-BE49-F238E27FC236}">
                <a16:creationId xmlns:a16="http://schemas.microsoft.com/office/drawing/2014/main" id="{E81E8B35-092A-43A8-9DA0-B625A2DBB1E5}"/>
              </a:ext>
            </a:extLst>
          </p:cNvPr>
          <p:cNvSpPr>
            <a:spLocks noGrp="1"/>
          </p:cNvSpPr>
          <p:nvPr/>
        </p:nvSpPr>
        <p:spPr>
          <a:xfrm>
            <a:off x="7334250" y="4467225"/>
            <a:ext cx="3905250" cy="1000125"/>
          </a:xfrm>
          <a:prstGeom prst="rect">
            <a:avLst/>
          </a:prstGeom>
          <a:solidFill>
            <a:srgbClr val="111827"/>
          </a:solidFill>
          <a:ln w="19050">
            <a:solidFill>
              <a:srgbClr val="38E09F"/>
            </a:solidFill>
            <a:prstDash val="solid"/>
          </a:ln>
        </p:spPr>
        <p:txBody>
          <a:bodyPr/>
          <a:lstStyle/>
          <a:p>
            <a:endParaRPr lang="en-IN"/>
          </a:p>
        </p:txBody>
      </p:sp>
      <p:sp>
        <p:nvSpPr>
          <p:cNvPr id="23" name="Rectangle 22">
            <a:extLst>
              <a:ext uri="{FF2B5EF4-FFF2-40B4-BE49-F238E27FC236}">
                <a16:creationId xmlns:a16="http://schemas.microsoft.com/office/drawing/2014/main" id="{7A8BFF09-4692-42A8-83FC-C6A66A231561}"/>
              </a:ext>
            </a:extLst>
          </p:cNvPr>
          <p:cNvSpPr>
            <a:spLocks noGrp="1"/>
          </p:cNvSpPr>
          <p:nvPr/>
        </p:nvSpPr>
        <p:spPr>
          <a:xfrm>
            <a:off x="7562850" y="4667250"/>
            <a:ext cx="3143250" cy="266700"/>
          </a:xfrm>
          <a:prstGeom prst="rect">
            <a:avLst/>
          </a:prstGeom>
          <a:noFill/>
          <a:ln w="0">
            <a:noFill/>
            <a:prstDash val="solid"/>
          </a:ln>
        </p:spPr>
        <p:txBody>
          <a:bodyPr wrap="square" lIns="0" tIns="0" rIns="0" bIns="0" anchor="t">
            <a:normAutofit fontScale="99460"/>
          </a:bodyPr>
          <a:lstStyle/>
          <a:p>
            <a:pPr algn="l">
              <a:lnSpc>
                <a:spcPct val="102000"/>
              </a:lnSpc>
              <a:buNone/>
              <a:defRPr sz="1725" b="1">
                <a:solidFill>
                  <a:srgbClr val="F4F7FB"/>
                </a:solidFill>
                <a:latin typeface="Aptos"/>
                <a:ea typeface="Aptos"/>
                <a:cs typeface="Aptos"/>
              </a:defRPr>
            </a:pPr>
            <a:r>
              <a:rPr sz="1725" b="1">
                <a:solidFill>
                  <a:srgbClr val="F4F7FB"/>
                </a:solidFill>
                <a:latin typeface="Aptos"/>
                <a:ea typeface="Aptos"/>
                <a:cs typeface="Aptos"/>
              </a:rPr>
              <a:t>Campaign Forge</a:t>
            </a:r>
          </a:p>
        </p:txBody>
      </p:sp>
      <p:sp>
        <p:nvSpPr>
          <p:cNvPr id="24" name="Rectangle 23">
            <a:extLst>
              <a:ext uri="{FF2B5EF4-FFF2-40B4-BE49-F238E27FC236}">
                <a16:creationId xmlns:a16="http://schemas.microsoft.com/office/drawing/2014/main" id="{8AA62DB0-1630-45EF-873C-EEDE41A261AD}"/>
              </a:ext>
            </a:extLst>
          </p:cNvPr>
          <p:cNvSpPr>
            <a:spLocks noGrp="1"/>
          </p:cNvSpPr>
          <p:nvPr/>
        </p:nvSpPr>
        <p:spPr>
          <a:xfrm>
            <a:off x="7562850" y="5048250"/>
            <a:ext cx="3143250" cy="209550"/>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99A6B8"/>
                </a:solidFill>
                <a:latin typeface="Aptos"/>
                <a:ea typeface="Aptos"/>
                <a:cs typeface="Aptos"/>
              </a:defRPr>
            </a:pPr>
            <a:r>
              <a:rPr sz="1275" b="0">
                <a:solidFill>
                  <a:srgbClr val="99A6B8"/>
                </a:solidFill>
                <a:latin typeface="Aptos"/>
                <a:ea typeface="Aptos"/>
                <a:cs typeface="Aptos"/>
              </a:rPr>
              <a:t>Creative production</a:t>
            </a:r>
          </a:p>
        </p:txBody>
      </p:sp>
      <p:cxnSp>
        <p:nvCxnSpPr>
          <p:cNvPr id="107" name="Straight Arrow Connector 106"/>
          <p:cNvCxnSpPr>
            <a:stCxn id="11" idx="3"/>
            <a:endCxn id="22" idx="1"/>
          </p:cNvCxnSpPr>
          <p:nvPr/>
        </p:nvCxnSpPr>
        <p:spPr>
          <a:xfrm>
            <a:off x="6181725" y="3390900"/>
            <a:ext cx="1152525" cy="1576388"/>
          </a:xfrm>
          <a:prstGeom prst="straightConnector1">
            <a:avLst/>
          </a:prstGeom>
          <a:ln w="19050">
            <a:solidFill>
              <a:srgbClr val="38E09F"/>
            </a:solidFill>
            <a:prstDash val="solid"/>
            <a:tailEnd type="arrow" w="sm" len="sm"/>
          </a:ln>
        </p:spPr>
      </p:cxnSp>
      <p:sp>
        <p:nvSpPr>
          <p:cNvPr id="26" name="Rectangle 25">
            <a:extLst>
              <a:ext uri="{FF2B5EF4-FFF2-40B4-BE49-F238E27FC236}">
                <a16:creationId xmlns:a16="http://schemas.microsoft.com/office/drawing/2014/main" id="{DB8BD09E-3195-495D-9EAF-CE073090FA6D}"/>
              </a:ext>
            </a:extLst>
          </p:cNvPr>
          <p:cNvSpPr>
            <a:spLocks noGrp="1"/>
          </p:cNvSpPr>
          <p:nvPr/>
        </p:nvSpPr>
        <p:spPr>
          <a:xfrm>
            <a:off x="2933700" y="3238500"/>
            <a:ext cx="685800" cy="304800"/>
          </a:xfrm>
          <a:prstGeom prst="rect">
            <a:avLst/>
          </a:prstGeom>
          <a:solidFill>
            <a:srgbClr val="070A0F"/>
          </a:solidFill>
          <a:ln w="0">
            <a:solidFill>
              <a:srgbClr val="5BE7FF"/>
            </a:solidFill>
            <a:prstDash val="solid"/>
          </a:ln>
        </p:spPr>
        <p:txBody>
          <a:bodyPr/>
          <a:lstStyle/>
          <a:p>
            <a:endParaRPr lang="en-IN"/>
          </a:p>
        </p:txBody>
      </p:sp>
      <p:cxnSp>
        <p:nvCxnSpPr>
          <p:cNvPr id="109" name="Straight Arrow Connector 108"/>
          <p:cNvCxnSpPr>
            <a:stCxn id="26" idx="3"/>
            <a:endCxn id="11" idx="1"/>
          </p:cNvCxnSpPr>
          <p:nvPr/>
        </p:nvCxnSpPr>
        <p:spPr>
          <a:xfrm>
            <a:off x="3619500" y="3390900"/>
            <a:ext cx="295275" cy="0"/>
          </a:xfrm>
          <a:prstGeom prst="straightConnector1">
            <a:avLst/>
          </a:prstGeom>
          <a:ln w="28575">
            <a:solidFill>
              <a:srgbClr val="5BE7FF"/>
            </a:solidFill>
            <a:prstDash val="solid"/>
            <a:tailEnd type="arrow" w="sm" len="sm"/>
          </a:ln>
        </p:spPr>
      </p:cxnSp>
      <p:sp>
        <p:nvSpPr>
          <p:cNvPr id="28" name="Rectangle 27">
            <a:extLst>
              <a:ext uri="{FF2B5EF4-FFF2-40B4-BE49-F238E27FC236}">
                <a16:creationId xmlns:a16="http://schemas.microsoft.com/office/drawing/2014/main" id="{D58F8651-EEC8-428C-BAB0-7C4599A85F3F}"/>
              </a:ext>
            </a:extLst>
          </p:cNvPr>
          <p:cNvSpPr>
            <a:spLocks noGrp="1"/>
          </p:cNvSpPr>
          <p:nvPr/>
        </p:nvSpPr>
        <p:spPr>
          <a:xfrm>
            <a:off x="3571875" y="4106228"/>
            <a:ext cx="2952750" cy="400050"/>
          </a:xfrm>
          <a:prstGeom prst="rect">
            <a:avLst/>
          </a:prstGeom>
          <a:noFill/>
          <a:ln w="0">
            <a:noFill/>
            <a:prstDash val="solid"/>
          </a:ln>
        </p:spPr>
        <p:txBody>
          <a:bodyPr wrap="square" lIns="0" tIns="0" rIns="0" bIns="0" anchor="t">
            <a:normAutofit/>
          </a:bodyPr>
          <a:lstStyle/>
          <a:p>
            <a:pPr algn="ctr">
              <a:lnSpc>
                <a:spcPct val="102000"/>
              </a:lnSpc>
              <a:buNone/>
              <a:defRPr sz="1275" b="1">
                <a:solidFill>
                  <a:srgbClr val="5BE7FF"/>
                </a:solidFill>
                <a:latin typeface="Aptos"/>
                <a:ea typeface="Aptos"/>
                <a:cs typeface="Aptos"/>
              </a:defRPr>
            </a:pPr>
            <a:r>
              <a:rPr sz="1275" b="1" dirty="0">
                <a:solidFill>
                  <a:srgbClr val="5BE7FF"/>
                </a:solidFill>
                <a:latin typeface="Aptos"/>
                <a:ea typeface="Aptos"/>
                <a:cs typeface="Aptos"/>
              </a:rPr>
              <a:t>Policy-controlled payment + unified receipt</a:t>
            </a:r>
          </a:p>
        </p:txBody>
      </p:sp>
    </p:spTree>
    <p:extLst>
      <p:ext uri="{BB962C8B-B14F-4D97-AF65-F5344CB8AC3E}">
        <p14:creationId xmlns:p14="http://schemas.microsoft.com/office/powerpoint/2010/main" val="1771902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A0F"/>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F5DA5DC1-3F81-4E67-B828-393F2A07A43A}"/>
              </a:ext>
            </a:extLst>
          </p:cNvPr>
          <p:cNvSpPr>
            <a:spLocks noGrp="1"/>
          </p:cNvSpPr>
          <p:nvPr/>
        </p:nvSpPr>
        <p:spPr>
          <a:xfrm>
            <a:off x="457200" y="209550"/>
            <a:ext cx="4953000" cy="1905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5BE7FF"/>
                </a:solidFill>
                <a:latin typeface="Aptos"/>
                <a:ea typeface="Aptos"/>
                <a:cs typeface="Aptos"/>
              </a:defRPr>
            </a:pPr>
            <a:r>
              <a:rPr sz="1050" b="1">
                <a:solidFill>
                  <a:srgbClr val="5BE7FF"/>
                </a:solidFill>
                <a:latin typeface="Aptos"/>
                <a:ea typeface="Aptos"/>
                <a:cs typeface="Aptos"/>
              </a:rPr>
              <a:t>HOW IT IS USED</a:t>
            </a:r>
          </a:p>
        </p:txBody>
      </p:sp>
      <p:sp>
        <p:nvSpPr>
          <p:cNvPr id="2" name="Rectangle 1">
            <a:extLst>
              <a:ext uri="{FF2B5EF4-FFF2-40B4-BE49-F238E27FC236}">
                <a16:creationId xmlns:a16="http://schemas.microsoft.com/office/drawing/2014/main" id="{086AF0D4-E8C7-4CA9-8166-1DE18182816E}"/>
              </a:ext>
            </a:extLst>
          </p:cNvPr>
          <p:cNvSpPr>
            <a:spLocks noGrp="1"/>
          </p:cNvSpPr>
          <p:nvPr/>
        </p:nvSpPr>
        <p:spPr>
          <a:xfrm>
            <a:off x="457200" y="514350"/>
            <a:ext cx="11239500" cy="762000"/>
          </a:xfrm>
          <a:prstGeom prst="rect">
            <a:avLst/>
          </a:prstGeom>
          <a:noFill/>
          <a:ln w="0">
            <a:noFill/>
            <a:prstDash val="solid"/>
          </a:ln>
        </p:spPr>
        <p:txBody>
          <a:bodyPr wrap="square" lIns="0" tIns="0" rIns="0" bIns="0" anchor="t">
            <a:noAutofit/>
          </a:bodyPr>
          <a:lstStyle/>
          <a:p>
            <a:pPr algn="l">
              <a:lnSpc>
                <a:spcPct val="94000"/>
              </a:lnSpc>
              <a:buNone/>
              <a:defRPr sz="3075" b="1">
                <a:solidFill>
                  <a:srgbClr val="F4F7FB"/>
                </a:solidFill>
                <a:latin typeface="Aptos"/>
                <a:ea typeface="Aptos"/>
                <a:cs typeface="Aptos"/>
              </a:defRPr>
            </a:pPr>
            <a:r>
              <a:rPr sz="3075" b="1">
                <a:solidFill>
                  <a:srgbClr val="F4F7FB"/>
                </a:solidFill>
                <a:latin typeface="Aptos"/>
                <a:ea typeface="Aptos"/>
                <a:cs typeface="Aptos"/>
              </a:rPr>
              <a:t>A user authorizes the rules once; the agent executes and proves the outcome.</a:t>
            </a:r>
          </a:p>
        </p:txBody>
      </p:sp>
      <p:sp>
        <p:nvSpPr>
          <p:cNvPr id="3" name="Straight Connector 2">
            <a:extLst>
              <a:ext uri="{FF2B5EF4-FFF2-40B4-BE49-F238E27FC236}">
                <a16:creationId xmlns:a16="http://schemas.microsoft.com/office/drawing/2014/main" id="{0763B064-F0E4-4EFB-B4C3-BA1FBA06250B}"/>
              </a:ext>
            </a:extLst>
          </p:cNvPr>
          <p:cNvSpPr>
            <a:spLocks noGrp="1"/>
          </p:cNvSpPr>
          <p:nvPr/>
        </p:nvSpPr>
        <p:spPr>
          <a:xfrm>
            <a:off x="457200" y="1371600"/>
            <a:ext cx="11277600" cy="0"/>
          </a:xfrm>
          <a:prstGeom prst="line">
            <a:avLst/>
          </a:prstGeom>
          <a:noFill/>
          <a:ln w="9525">
            <a:solidFill>
              <a:srgbClr val="2A3548"/>
            </a:solidFill>
            <a:prstDash val="solid"/>
          </a:ln>
        </p:spPr>
        <p:txBody>
          <a:bodyPr/>
          <a:lstStyle/>
          <a:p>
            <a:endParaRPr lang="en-IN"/>
          </a:p>
        </p:txBody>
      </p:sp>
      <p:sp>
        <p:nvSpPr>
          <p:cNvPr id="4" name="Rectangle 3">
            <a:extLst>
              <a:ext uri="{FF2B5EF4-FFF2-40B4-BE49-F238E27FC236}">
                <a16:creationId xmlns:a16="http://schemas.microsoft.com/office/drawing/2014/main" id="{83175344-E0D4-4095-BCF6-BD33FE8D45CA}"/>
              </a:ext>
            </a:extLst>
          </p:cNvPr>
          <p:cNvSpPr>
            <a:spLocks noGrp="1"/>
          </p:cNvSpPr>
          <p:nvPr/>
        </p:nvSpPr>
        <p:spPr>
          <a:xfrm>
            <a:off x="457200" y="6457950"/>
            <a:ext cx="152400" cy="38100"/>
          </a:xfrm>
          <a:prstGeom prst="rect">
            <a:avLst/>
          </a:prstGeom>
          <a:solidFill>
            <a:srgbClr val="5BE7FF"/>
          </a:solidFill>
          <a:ln w="0">
            <a:noFill/>
            <a:prstDash val="solid"/>
          </a:ln>
        </p:spPr>
        <p:txBody>
          <a:bodyPr/>
          <a:lstStyle/>
          <a:p>
            <a:endParaRPr lang="en-IN"/>
          </a:p>
        </p:txBody>
      </p:sp>
      <p:sp>
        <p:nvSpPr>
          <p:cNvPr id="5" name="Rectangle 4">
            <a:extLst>
              <a:ext uri="{FF2B5EF4-FFF2-40B4-BE49-F238E27FC236}">
                <a16:creationId xmlns:a16="http://schemas.microsoft.com/office/drawing/2014/main" id="{A2C3964D-31D4-4FA2-B8D3-7BC1AD85C5EC}"/>
              </a:ext>
            </a:extLst>
          </p:cNvPr>
          <p:cNvSpPr>
            <a:spLocks noGrp="1"/>
          </p:cNvSpPr>
          <p:nvPr/>
        </p:nvSpPr>
        <p:spPr>
          <a:xfrm>
            <a:off x="704850" y="6381750"/>
            <a:ext cx="1714500" cy="190500"/>
          </a:xfrm>
          <a:prstGeom prst="rect">
            <a:avLst/>
          </a:prstGeom>
          <a:noFill/>
          <a:ln w="0">
            <a:noFill/>
            <a:prstDash val="solid"/>
          </a:ln>
        </p:spPr>
        <p:txBody>
          <a:bodyPr wrap="square" lIns="0" tIns="0" rIns="0" bIns="0" anchor="t">
            <a:normAutofit/>
          </a:bodyPr>
          <a:lstStyle/>
          <a:p>
            <a:pPr algn="l">
              <a:lnSpc>
                <a:spcPct val="102000"/>
              </a:lnSpc>
              <a:buNone/>
              <a:defRPr sz="900" b="1">
                <a:solidFill>
                  <a:srgbClr val="99A6B8"/>
                </a:solidFill>
                <a:latin typeface="Aptos"/>
                <a:ea typeface="Aptos"/>
                <a:cs typeface="Aptos"/>
              </a:defRPr>
            </a:pPr>
            <a:r>
              <a:rPr sz="900" b="1">
                <a:solidFill>
                  <a:srgbClr val="99A6B8"/>
                </a:solidFill>
                <a:latin typeface="Aptos"/>
                <a:ea typeface="Aptos"/>
                <a:cs typeface="Aptos"/>
              </a:rPr>
              <a:t>PAYPILOT</a:t>
            </a:r>
          </a:p>
        </p:txBody>
      </p:sp>
      <p:sp>
        <p:nvSpPr>
          <p:cNvPr id="6" name="Rectangle 5">
            <a:extLst>
              <a:ext uri="{FF2B5EF4-FFF2-40B4-BE49-F238E27FC236}">
                <a16:creationId xmlns:a16="http://schemas.microsoft.com/office/drawing/2014/main" id="{133640A5-1D75-4C1F-B193-DAB877D856B1}"/>
              </a:ext>
            </a:extLst>
          </p:cNvPr>
          <p:cNvSpPr>
            <a:spLocks noGrp="1"/>
          </p:cNvSpPr>
          <p:nvPr/>
        </p:nvSpPr>
        <p:spPr>
          <a:xfrm>
            <a:off x="11182350" y="6381750"/>
            <a:ext cx="552450" cy="190500"/>
          </a:xfrm>
          <a:prstGeom prst="rect">
            <a:avLst/>
          </a:prstGeom>
          <a:noFill/>
          <a:ln w="0">
            <a:noFill/>
            <a:prstDash val="solid"/>
          </a:ln>
        </p:spPr>
        <p:txBody>
          <a:bodyPr wrap="square" lIns="0" tIns="0" rIns="0" bIns="0" anchor="t">
            <a:normAutofit/>
          </a:bodyPr>
          <a:lstStyle/>
          <a:p>
            <a:pPr algn="r">
              <a:lnSpc>
                <a:spcPct val="102000"/>
              </a:lnSpc>
              <a:buNone/>
              <a:defRPr sz="975" b="0">
                <a:solidFill>
                  <a:srgbClr val="99A6B8"/>
                </a:solidFill>
                <a:latin typeface="Aptos"/>
                <a:ea typeface="Aptos"/>
                <a:cs typeface="Aptos"/>
              </a:defRPr>
            </a:pPr>
            <a:r>
              <a:rPr sz="975" b="0">
                <a:solidFill>
                  <a:srgbClr val="99A6B8"/>
                </a:solidFill>
                <a:latin typeface="Aptos"/>
                <a:ea typeface="Aptos"/>
                <a:cs typeface="Aptos"/>
              </a:rPr>
              <a:t>04</a:t>
            </a:r>
          </a:p>
        </p:txBody>
      </p:sp>
      <p:sp>
        <p:nvSpPr>
          <p:cNvPr id="7" name="Rectangle 6">
            <a:extLst>
              <a:ext uri="{FF2B5EF4-FFF2-40B4-BE49-F238E27FC236}">
                <a16:creationId xmlns:a16="http://schemas.microsoft.com/office/drawing/2014/main" id="{A38F9817-EEE8-4DCE-8670-1E951D61E7CB}"/>
              </a:ext>
            </a:extLst>
          </p:cNvPr>
          <p:cNvSpPr>
            <a:spLocks noGrp="1"/>
          </p:cNvSpPr>
          <p:nvPr/>
        </p:nvSpPr>
        <p:spPr>
          <a:xfrm>
            <a:off x="457200" y="2152650"/>
            <a:ext cx="1943100" cy="2343150"/>
          </a:xfrm>
          <a:prstGeom prst="rect">
            <a:avLst/>
          </a:prstGeom>
          <a:solidFill>
            <a:srgbClr val="111827"/>
          </a:solidFill>
          <a:ln w="9525">
            <a:solidFill>
              <a:srgbClr val="2A3548"/>
            </a:solidFill>
            <a:prstDash val="solid"/>
          </a:ln>
        </p:spPr>
        <p:txBody>
          <a:bodyPr/>
          <a:lstStyle/>
          <a:p>
            <a:endParaRPr lang="en-IN"/>
          </a:p>
        </p:txBody>
      </p:sp>
      <p:sp>
        <p:nvSpPr>
          <p:cNvPr id="8" name="Oval 7">
            <a:extLst>
              <a:ext uri="{FF2B5EF4-FFF2-40B4-BE49-F238E27FC236}">
                <a16:creationId xmlns:a16="http://schemas.microsoft.com/office/drawing/2014/main" id="{2FCCE541-F05F-4D84-AC14-B524A443801D}"/>
              </a:ext>
            </a:extLst>
          </p:cNvPr>
          <p:cNvSpPr>
            <a:spLocks noGrp="1"/>
          </p:cNvSpPr>
          <p:nvPr/>
        </p:nvSpPr>
        <p:spPr>
          <a:xfrm>
            <a:off x="647700" y="2343150"/>
            <a:ext cx="419100" cy="419100"/>
          </a:xfrm>
          <a:prstGeom prst="ellipse">
            <a:avLst/>
          </a:prstGeom>
          <a:solidFill>
            <a:srgbClr val="3D8DFF"/>
          </a:solidFill>
          <a:ln w="0">
            <a:noFill/>
            <a:prstDash val="solid"/>
          </a:ln>
        </p:spPr>
        <p:txBody>
          <a:bodyPr/>
          <a:lstStyle/>
          <a:p>
            <a:endParaRPr lang="en-IN"/>
          </a:p>
        </p:txBody>
      </p:sp>
      <p:sp>
        <p:nvSpPr>
          <p:cNvPr id="9" name="Rectangle 8">
            <a:extLst>
              <a:ext uri="{FF2B5EF4-FFF2-40B4-BE49-F238E27FC236}">
                <a16:creationId xmlns:a16="http://schemas.microsoft.com/office/drawing/2014/main" id="{ECABC22D-B29B-45BE-9CFD-CB32C4AE771C}"/>
              </a:ext>
            </a:extLst>
          </p:cNvPr>
          <p:cNvSpPr>
            <a:spLocks noGrp="1"/>
          </p:cNvSpPr>
          <p:nvPr/>
        </p:nvSpPr>
        <p:spPr>
          <a:xfrm>
            <a:off x="647700" y="2428875"/>
            <a:ext cx="419100" cy="228600"/>
          </a:xfrm>
          <a:prstGeom prst="rect">
            <a:avLst/>
          </a:prstGeom>
          <a:noFill/>
          <a:ln w="0">
            <a:noFill/>
            <a:prstDash val="solid"/>
          </a:ln>
        </p:spPr>
        <p:txBody>
          <a:bodyPr wrap="square" lIns="0" tIns="0" rIns="0" bIns="0" anchor="t">
            <a:normAutofit/>
          </a:bodyPr>
          <a:lstStyle/>
          <a:p>
            <a:pPr algn="ctr">
              <a:lnSpc>
                <a:spcPct val="102000"/>
              </a:lnSpc>
              <a:buNone/>
              <a:defRPr sz="1425" b="1">
                <a:solidFill>
                  <a:srgbClr val="F4F7FB"/>
                </a:solidFill>
                <a:latin typeface="Aptos"/>
                <a:ea typeface="Aptos"/>
                <a:cs typeface="Aptos"/>
              </a:defRPr>
            </a:pPr>
            <a:r>
              <a:rPr sz="1425" b="1">
                <a:solidFill>
                  <a:srgbClr val="F4F7FB"/>
                </a:solidFill>
                <a:latin typeface="Aptos"/>
                <a:ea typeface="Aptos"/>
                <a:cs typeface="Aptos"/>
              </a:rPr>
              <a:t>1</a:t>
            </a:r>
          </a:p>
        </p:txBody>
      </p:sp>
      <p:sp>
        <p:nvSpPr>
          <p:cNvPr id="10" name="Rectangle 9">
            <a:extLst>
              <a:ext uri="{FF2B5EF4-FFF2-40B4-BE49-F238E27FC236}">
                <a16:creationId xmlns:a16="http://schemas.microsoft.com/office/drawing/2014/main" id="{A2F82121-4360-413D-8BA6-87350C491FE6}"/>
              </a:ext>
            </a:extLst>
          </p:cNvPr>
          <p:cNvSpPr>
            <a:spLocks noGrp="1"/>
          </p:cNvSpPr>
          <p:nvPr/>
        </p:nvSpPr>
        <p:spPr>
          <a:xfrm>
            <a:off x="647700" y="3028950"/>
            <a:ext cx="1562100" cy="323850"/>
          </a:xfrm>
          <a:prstGeom prst="rect">
            <a:avLst/>
          </a:prstGeom>
          <a:noFill/>
          <a:ln w="0">
            <a:noFill/>
            <a:prstDash val="solid"/>
          </a:ln>
        </p:spPr>
        <p:txBody>
          <a:bodyPr wrap="square" lIns="0" tIns="0" rIns="0" bIns="0" anchor="t">
            <a:normAutofit/>
          </a:bodyPr>
          <a:lstStyle/>
          <a:p>
            <a:pPr algn="l">
              <a:lnSpc>
                <a:spcPct val="102000"/>
              </a:lnSpc>
              <a:buNone/>
              <a:defRPr sz="1800" b="1">
                <a:solidFill>
                  <a:srgbClr val="F4F7FB"/>
                </a:solidFill>
                <a:latin typeface="Aptos"/>
                <a:ea typeface="Aptos"/>
                <a:cs typeface="Aptos"/>
              </a:defRPr>
            </a:pPr>
            <a:r>
              <a:rPr sz="1800" b="1">
                <a:solidFill>
                  <a:srgbClr val="F4F7FB"/>
                </a:solidFill>
                <a:latin typeface="Aptos"/>
                <a:ea typeface="Aptos"/>
                <a:cs typeface="Aptos"/>
              </a:rPr>
              <a:t>Fund wallet</a:t>
            </a:r>
          </a:p>
        </p:txBody>
      </p:sp>
      <p:sp>
        <p:nvSpPr>
          <p:cNvPr id="11" name="Rectangle 10">
            <a:extLst>
              <a:ext uri="{FF2B5EF4-FFF2-40B4-BE49-F238E27FC236}">
                <a16:creationId xmlns:a16="http://schemas.microsoft.com/office/drawing/2014/main" id="{BA651368-EB23-4999-8AC4-6B5FE11DA804}"/>
              </a:ext>
            </a:extLst>
          </p:cNvPr>
          <p:cNvSpPr>
            <a:spLocks noGrp="1"/>
          </p:cNvSpPr>
          <p:nvPr/>
        </p:nvSpPr>
        <p:spPr>
          <a:xfrm>
            <a:off x="647700" y="3562350"/>
            <a:ext cx="1562100" cy="704850"/>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99A6B8"/>
                </a:solidFill>
                <a:latin typeface="Aptos"/>
                <a:ea typeface="Aptos"/>
                <a:cs typeface="Aptos"/>
              </a:defRPr>
            </a:pPr>
            <a:r>
              <a:rPr sz="1275" b="0">
                <a:solidFill>
                  <a:srgbClr val="99A6B8"/>
                </a:solidFill>
                <a:latin typeface="Aptos"/>
                <a:ea typeface="Aptos"/>
                <a:cs typeface="Aptos"/>
              </a:rPr>
              <a:t>User funds the Circle Agent Wallet with USDC.</a:t>
            </a:r>
          </a:p>
        </p:txBody>
      </p:sp>
      <p:sp>
        <p:nvSpPr>
          <p:cNvPr id="12" name="Rectangle 11">
            <a:extLst>
              <a:ext uri="{FF2B5EF4-FFF2-40B4-BE49-F238E27FC236}">
                <a16:creationId xmlns:a16="http://schemas.microsoft.com/office/drawing/2014/main" id="{48C99AE3-4AD0-47E5-916B-978A543B711B}"/>
              </a:ext>
            </a:extLst>
          </p:cNvPr>
          <p:cNvSpPr>
            <a:spLocks noGrp="1"/>
          </p:cNvSpPr>
          <p:nvPr/>
        </p:nvSpPr>
        <p:spPr>
          <a:xfrm>
            <a:off x="2705100" y="2152650"/>
            <a:ext cx="1943100" cy="2343150"/>
          </a:xfrm>
          <a:prstGeom prst="rect">
            <a:avLst/>
          </a:prstGeom>
          <a:solidFill>
            <a:srgbClr val="111827"/>
          </a:solidFill>
          <a:ln w="9525">
            <a:solidFill>
              <a:srgbClr val="2A3548"/>
            </a:solidFill>
            <a:prstDash val="solid"/>
          </a:ln>
        </p:spPr>
        <p:txBody>
          <a:bodyPr/>
          <a:lstStyle/>
          <a:p>
            <a:endParaRPr lang="en-IN"/>
          </a:p>
        </p:txBody>
      </p:sp>
      <p:sp>
        <p:nvSpPr>
          <p:cNvPr id="13" name="Oval 12">
            <a:extLst>
              <a:ext uri="{FF2B5EF4-FFF2-40B4-BE49-F238E27FC236}">
                <a16:creationId xmlns:a16="http://schemas.microsoft.com/office/drawing/2014/main" id="{162635A4-93B8-4872-915F-355433C09947}"/>
              </a:ext>
            </a:extLst>
          </p:cNvPr>
          <p:cNvSpPr>
            <a:spLocks noGrp="1"/>
          </p:cNvSpPr>
          <p:nvPr/>
        </p:nvSpPr>
        <p:spPr>
          <a:xfrm>
            <a:off x="2895600" y="2343150"/>
            <a:ext cx="419100" cy="419100"/>
          </a:xfrm>
          <a:prstGeom prst="ellipse">
            <a:avLst/>
          </a:prstGeom>
          <a:solidFill>
            <a:srgbClr val="3D8DFF"/>
          </a:solidFill>
          <a:ln w="0">
            <a:noFill/>
            <a:prstDash val="solid"/>
          </a:ln>
        </p:spPr>
        <p:txBody>
          <a:bodyPr/>
          <a:lstStyle/>
          <a:p>
            <a:endParaRPr lang="en-IN"/>
          </a:p>
        </p:txBody>
      </p:sp>
      <p:sp>
        <p:nvSpPr>
          <p:cNvPr id="14" name="Rectangle 13">
            <a:extLst>
              <a:ext uri="{FF2B5EF4-FFF2-40B4-BE49-F238E27FC236}">
                <a16:creationId xmlns:a16="http://schemas.microsoft.com/office/drawing/2014/main" id="{F97CADEA-8839-42DD-832D-D5A2FFEE0C11}"/>
              </a:ext>
            </a:extLst>
          </p:cNvPr>
          <p:cNvSpPr>
            <a:spLocks noGrp="1"/>
          </p:cNvSpPr>
          <p:nvPr/>
        </p:nvSpPr>
        <p:spPr>
          <a:xfrm>
            <a:off x="2895600" y="2428875"/>
            <a:ext cx="419100" cy="228600"/>
          </a:xfrm>
          <a:prstGeom prst="rect">
            <a:avLst/>
          </a:prstGeom>
          <a:noFill/>
          <a:ln w="0">
            <a:noFill/>
            <a:prstDash val="solid"/>
          </a:ln>
        </p:spPr>
        <p:txBody>
          <a:bodyPr wrap="square" lIns="0" tIns="0" rIns="0" bIns="0" anchor="t">
            <a:normAutofit/>
          </a:bodyPr>
          <a:lstStyle/>
          <a:p>
            <a:pPr algn="ctr">
              <a:lnSpc>
                <a:spcPct val="102000"/>
              </a:lnSpc>
              <a:buNone/>
              <a:defRPr sz="1425" b="1">
                <a:solidFill>
                  <a:srgbClr val="F4F7FB"/>
                </a:solidFill>
                <a:latin typeface="Aptos"/>
                <a:ea typeface="Aptos"/>
                <a:cs typeface="Aptos"/>
              </a:defRPr>
            </a:pPr>
            <a:r>
              <a:rPr sz="1425" b="1">
                <a:solidFill>
                  <a:srgbClr val="F4F7FB"/>
                </a:solidFill>
                <a:latin typeface="Aptos"/>
                <a:ea typeface="Aptos"/>
                <a:cs typeface="Aptos"/>
              </a:rPr>
              <a:t>2</a:t>
            </a:r>
          </a:p>
        </p:txBody>
      </p:sp>
      <p:sp>
        <p:nvSpPr>
          <p:cNvPr id="15" name="Rectangle 14">
            <a:extLst>
              <a:ext uri="{FF2B5EF4-FFF2-40B4-BE49-F238E27FC236}">
                <a16:creationId xmlns:a16="http://schemas.microsoft.com/office/drawing/2014/main" id="{3C8EDE36-EBBB-4549-BCE9-750B7559048D}"/>
              </a:ext>
            </a:extLst>
          </p:cNvPr>
          <p:cNvSpPr>
            <a:spLocks noGrp="1"/>
          </p:cNvSpPr>
          <p:nvPr/>
        </p:nvSpPr>
        <p:spPr>
          <a:xfrm>
            <a:off x="2895600" y="3028950"/>
            <a:ext cx="1562100" cy="323850"/>
          </a:xfrm>
          <a:prstGeom prst="rect">
            <a:avLst/>
          </a:prstGeom>
          <a:noFill/>
          <a:ln w="0">
            <a:noFill/>
            <a:prstDash val="solid"/>
          </a:ln>
        </p:spPr>
        <p:txBody>
          <a:bodyPr wrap="square" lIns="0" tIns="0" rIns="0" bIns="0" anchor="t">
            <a:normAutofit/>
          </a:bodyPr>
          <a:lstStyle/>
          <a:p>
            <a:pPr algn="l">
              <a:lnSpc>
                <a:spcPct val="102000"/>
              </a:lnSpc>
              <a:buNone/>
              <a:defRPr sz="1800" b="1">
                <a:solidFill>
                  <a:srgbClr val="F4F7FB"/>
                </a:solidFill>
                <a:latin typeface="Aptos"/>
                <a:ea typeface="Aptos"/>
                <a:cs typeface="Aptos"/>
              </a:defRPr>
            </a:pPr>
            <a:r>
              <a:rPr sz="1800" b="1">
                <a:solidFill>
                  <a:srgbClr val="F4F7FB"/>
                </a:solidFill>
                <a:latin typeface="Aptos"/>
                <a:ea typeface="Aptos"/>
                <a:cs typeface="Aptos"/>
              </a:rPr>
              <a:t>Set policy</a:t>
            </a:r>
          </a:p>
        </p:txBody>
      </p:sp>
      <p:sp>
        <p:nvSpPr>
          <p:cNvPr id="16" name="Rectangle 15">
            <a:extLst>
              <a:ext uri="{FF2B5EF4-FFF2-40B4-BE49-F238E27FC236}">
                <a16:creationId xmlns:a16="http://schemas.microsoft.com/office/drawing/2014/main" id="{C5A683CE-A26F-4207-BE5B-0498D3C3B305}"/>
              </a:ext>
            </a:extLst>
          </p:cNvPr>
          <p:cNvSpPr>
            <a:spLocks noGrp="1"/>
          </p:cNvSpPr>
          <p:nvPr/>
        </p:nvSpPr>
        <p:spPr>
          <a:xfrm>
            <a:off x="2895600" y="3562350"/>
            <a:ext cx="1562100" cy="704850"/>
          </a:xfrm>
          <a:prstGeom prst="rect">
            <a:avLst/>
          </a:prstGeom>
          <a:noFill/>
          <a:ln w="0">
            <a:noFill/>
            <a:prstDash val="solid"/>
          </a:ln>
        </p:spPr>
        <p:txBody>
          <a:bodyPr wrap="square" lIns="0" tIns="0" rIns="0" bIns="0" anchor="t">
            <a:normAutofit fontScale="88908"/>
          </a:bodyPr>
          <a:lstStyle/>
          <a:p>
            <a:pPr algn="l">
              <a:lnSpc>
                <a:spcPct val="102000"/>
              </a:lnSpc>
              <a:buNone/>
              <a:defRPr sz="1275" b="0">
                <a:solidFill>
                  <a:srgbClr val="99A6B8"/>
                </a:solidFill>
                <a:latin typeface="Aptos"/>
                <a:ea typeface="Aptos"/>
                <a:cs typeface="Aptos"/>
              </a:defRPr>
            </a:pPr>
            <a:r>
              <a:rPr sz="1275" b="0">
                <a:solidFill>
                  <a:srgbClr val="99A6B8"/>
                </a:solidFill>
                <a:latin typeface="Aptos"/>
                <a:ea typeface="Aptos"/>
                <a:cs typeface="Aptos"/>
              </a:rPr>
              <a:t>Approve cap, merchant/service allowlist, network, and session expiry.</a:t>
            </a:r>
          </a:p>
        </p:txBody>
      </p:sp>
      <p:sp>
        <p:nvSpPr>
          <p:cNvPr id="17" name="Rectangle 16">
            <a:extLst>
              <a:ext uri="{FF2B5EF4-FFF2-40B4-BE49-F238E27FC236}">
                <a16:creationId xmlns:a16="http://schemas.microsoft.com/office/drawing/2014/main" id="{D0082CD9-BB47-4979-BE8C-DA10556CB34B}"/>
              </a:ext>
            </a:extLst>
          </p:cNvPr>
          <p:cNvSpPr>
            <a:spLocks noGrp="1"/>
          </p:cNvSpPr>
          <p:nvPr/>
        </p:nvSpPr>
        <p:spPr>
          <a:xfrm>
            <a:off x="4953000" y="2152650"/>
            <a:ext cx="1943100" cy="2343150"/>
          </a:xfrm>
          <a:prstGeom prst="rect">
            <a:avLst/>
          </a:prstGeom>
          <a:solidFill>
            <a:srgbClr val="111827"/>
          </a:solidFill>
          <a:ln w="9525">
            <a:solidFill>
              <a:srgbClr val="2A3548"/>
            </a:solidFill>
            <a:prstDash val="solid"/>
          </a:ln>
        </p:spPr>
        <p:txBody>
          <a:bodyPr/>
          <a:lstStyle/>
          <a:p>
            <a:endParaRPr lang="en-IN"/>
          </a:p>
        </p:txBody>
      </p:sp>
      <p:sp>
        <p:nvSpPr>
          <p:cNvPr id="18" name="Oval 17">
            <a:extLst>
              <a:ext uri="{FF2B5EF4-FFF2-40B4-BE49-F238E27FC236}">
                <a16:creationId xmlns:a16="http://schemas.microsoft.com/office/drawing/2014/main" id="{A788D910-5469-4262-9378-7D5BB6D229A8}"/>
              </a:ext>
            </a:extLst>
          </p:cNvPr>
          <p:cNvSpPr>
            <a:spLocks noGrp="1"/>
          </p:cNvSpPr>
          <p:nvPr/>
        </p:nvSpPr>
        <p:spPr>
          <a:xfrm>
            <a:off x="5143500" y="2343150"/>
            <a:ext cx="419100" cy="419100"/>
          </a:xfrm>
          <a:prstGeom prst="ellipse">
            <a:avLst/>
          </a:prstGeom>
          <a:solidFill>
            <a:srgbClr val="3D8DFF"/>
          </a:solidFill>
          <a:ln w="0">
            <a:noFill/>
            <a:prstDash val="solid"/>
          </a:ln>
        </p:spPr>
        <p:txBody>
          <a:bodyPr/>
          <a:lstStyle/>
          <a:p>
            <a:endParaRPr lang="en-IN"/>
          </a:p>
        </p:txBody>
      </p:sp>
      <p:sp>
        <p:nvSpPr>
          <p:cNvPr id="19" name="Rectangle 18">
            <a:extLst>
              <a:ext uri="{FF2B5EF4-FFF2-40B4-BE49-F238E27FC236}">
                <a16:creationId xmlns:a16="http://schemas.microsoft.com/office/drawing/2014/main" id="{5EE75BB3-293E-435E-9BFF-531FFD1FAC41}"/>
              </a:ext>
            </a:extLst>
          </p:cNvPr>
          <p:cNvSpPr>
            <a:spLocks noGrp="1"/>
          </p:cNvSpPr>
          <p:nvPr/>
        </p:nvSpPr>
        <p:spPr>
          <a:xfrm>
            <a:off x="5143500" y="2428875"/>
            <a:ext cx="419100" cy="228600"/>
          </a:xfrm>
          <a:prstGeom prst="rect">
            <a:avLst/>
          </a:prstGeom>
          <a:noFill/>
          <a:ln w="0">
            <a:noFill/>
            <a:prstDash val="solid"/>
          </a:ln>
        </p:spPr>
        <p:txBody>
          <a:bodyPr wrap="square" lIns="0" tIns="0" rIns="0" bIns="0" anchor="t">
            <a:normAutofit/>
          </a:bodyPr>
          <a:lstStyle/>
          <a:p>
            <a:pPr algn="ctr">
              <a:lnSpc>
                <a:spcPct val="102000"/>
              </a:lnSpc>
              <a:buNone/>
              <a:defRPr sz="1425" b="1">
                <a:solidFill>
                  <a:srgbClr val="F4F7FB"/>
                </a:solidFill>
                <a:latin typeface="Aptos"/>
                <a:ea typeface="Aptos"/>
                <a:cs typeface="Aptos"/>
              </a:defRPr>
            </a:pPr>
            <a:r>
              <a:rPr sz="1425" b="1">
                <a:solidFill>
                  <a:srgbClr val="F4F7FB"/>
                </a:solidFill>
                <a:latin typeface="Aptos"/>
                <a:ea typeface="Aptos"/>
                <a:cs typeface="Aptos"/>
              </a:rPr>
              <a:t>3</a:t>
            </a:r>
          </a:p>
        </p:txBody>
      </p:sp>
      <p:sp>
        <p:nvSpPr>
          <p:cNvPr id="20" name="Rectangle 19">
            <a:extLst>
              <a:ext uri="{FF2B5EF4-FFF2-40B4-BE49-F238E27FC236}">
                <a16:creationId xmlns:a16="http://schemas.microsoft.com/office/drawing/2014/main" id="{1D77C3B4-AA53-401A-A039-971C63C35F30}"/>
              </a:ext>
            </a:extLst>
          </p:cNvPr>
          <p:cNvSpPr>
            <a:spLocks noGrp="1"/>
          </p:cNvSpPr>
          <p:nvPr/>
        </p:nvSpPr>
        <p:spPr>
          <a:xfrm>
            <a:off x="5143500" y="3028950"/>
            <a:ext cx="1562100" cy="323850"/>
          </a:xfrm>
          <a:prstGeom prst="rect">
            <a:avLst/>
          </a:prstGeom>
          <a:noFill/>
          <a:ln w="0">
            <a:noFill/>
            <a:prstDash val="solid"/>
          </a:ln>
        </p:spPr>
        <p:txBody>
          <a:bodyPr wrap="square" lIns="0" tIns="0" rIns="0" bIns="0" anchor="t">
            <a:normAutofit/>
          </a:bodyPr>
          <a:lstStyle/>
          <a:p>
            <a:pPr algn="l">
              <a:lnSpc>
                <a:spcPct val="102000"/>
              </a:lnSpc>
              <a:buNone/>
              <a:defRPr sz="1800" b="1">
                <a:solidFill>
                  <a:srgbClr val="F4F7FB"/>
                </a:solidFill>
                <a:latin typeface="Aptos"/>
                <a:ea typeface="Aptos"/>
                <a:cs typeface="Aptos"/>
              </a:defRPr>
            </a:pPr>
            <a:r>
              <a:rPr sz="1800" b="1">
                <a:solidFill>
                  <a:srgbClr val="F4F7FB"/>
                </a:solidFill>
                <a:latin typeface="Aptos"/>
                <a:ea typeface="Aptos"/>
                <a:cs typeface="Aptos"/>
              </a:rPr>
              <a:t>Ask</a:t>
            </a:r>
          </a:p>
        </p:txBody>
      </p:sp>
      <p:sp>
        <p:nvSpPr>
          <p:cNvPr id="21" name="Rectangle 20">
            <a:extLst>
              <a:ext uri="{FF2B5EF4-FFF2-40B4-BE49-F238E27FC236}">
                <a16:creationId xmlns:a16="http://schemas.microsoft.com/office/drawing/2014/main" id="{D73F4EFF-C430-404E-81F9-1D8AD9719919}"/>
              </a:ext>
            </a:extLst>
          </p:cNvPr>
          <p:cNvSpPr>
            <a:spLocks noGrp="1"/>
          </p:cNvSpPr>
          <p:nvPr/>
        </p:nvSpPr>
        <p:spPr>
          <a:xfrm>
            <a:off x="5143500" y="3562350"/>
            <a:ext cx="1562100" cy="704850"/>
          </a:xfrm>
          <a:prstGeom prst="rect">
            <a:avLst/>
          </a:prstGeom>
          <a:noFill/>
          <a:ln w="0">
            <a:noFill/>
            <a:prstDash val="solid"/>
          </a:ln>
        </p:spPr>
        <p:txBody>
          <a:bodyPr wrap="square" lIns="0" tIns="0" rIns="0" bIns="0" anchor="t">
            <a:normAutofit fontScale="88908"/>
          </a:bodyPr>
          <a:lstStyle/>
          <a:p>
            <a:pPr algn="l">
              <a:lnSpc>
                <a:spcPct val="102000"/>
              </a:lnSpc>
              <a:buNone/>
              <a:defRPr sz="1275" b="0">
                <a:solidFill>
                  <a:srgbClr val="99A6B8"/>
                </a:solidFill>
                <a:latin typeface="Aptos"/>
                <a:ea typeface="Aptos"/>
                <a:cs typeface="Aptos"/>
              </a:defRPr>
            </a:pPr>
            <a:r>
              <a:rPr sz="1275" b="0">
                <a:solidFill>
                  <a:srgbClr val="99A6B8"/>
                </a:solidFill>
                <a:latin typeface="Aptos"/>
                <a:ea typeface="Aptos"/>
                <a:cs typeface="Aptos"/>
              </a:rPr>
              <a:t>Choose a business outcome: research, document review, or creative work.</a:t>
            </a:r>
          </a:p>
        </p:txBody>
      </p:sp>
      <p:sp>
        <p:nvSpPr>
          <p:cNvPr id="22" name="Rectangle 21">
            <a:extLst>
              <a:ext uri="{FF2B5EF4-FFF2-40B4-BE49-F238E27FC236}">
                <a16:creationId xmlns:a16="http://schemas.microsoft.com/office/drawing/2014/main" id="{5C100D6B-318A-4C93-AAEC-666ACFBCF258}"/>
              </a:ext>
            </a:extLst>
          </p:cNvPr>
          <p:cNvSpPr>
            <a:spLocks noGrp="1"/>
          </p:cNvSpPr>
          <p:nvPr/>
        </p:nvSpPr>
        <p:spPr>
          <a:xfrm>
            <a:off x="7200900" y="2152650"/>
            <a:ext cx="1943100" cy="2343150"/>
          </a:xfrm>
          <a:prstGeom prst="rect">
            <a:avLst/>
          </a:prstGeom>
          <a:solidFill>
            <a:srgbClr val="151E2D"/>
          </a:solidFill>
          <a:ln w="19050">
            <a:solidFill>
              <a:srgbClr val="38E09F"/>
            </a:solidFill>
            <a:prstDash val="solid"/>
          </a:ln>
        </p:spPr>
        <p:txBody>
          <a:bodyPr/>
          <a:lstStyle/>
          <a:p>
            <a:endParaRPr lang="en-IN"/>
          </a:p>
        </p:txBody>
      </p:sp>
      <p:sp>
        <p:nvSpPr>
          <p:cNvPr id="23" name="Oval 22">
            <a:extLst>
              <a:ext uri="{FF2B5EF4-FFF2-40B4-BE49-F238E27FC236}">
                <a16:creationId xmlns:a16="http://schemas.microsoft.com/office/drawing/2014/main" id="{28388E7A-A580-489F-8F98-3E234CA1621C}"/>
              </a:ext>
            </a:extLst>
          </p:cNvPr>
          <p:cNvSpPr>
            <a:spLocks noGrp="1"/>
          </p:cNvSpPr>
          <p:nvPr/>
        </p:nvSpPr>
        <p:spPr>
          <a:xfrm>
            <a:off x="7391400" y="2343150"/>
            <a:ext cx="419100" cy="419100"/>
          </a:xfrm>
          <a:prstGeom prst="ellipse">
            <a:avLst/>
          </a:prstGeom>
          <a:solidFill>
            <a:srgbClr val="38E09F"/>
          </a:solidFill>
          <a:ln w="0">
            <a:noFill/>
            <a:prstDash val="solid"/>
          </a:ln>
        </p:spPr>
        <p:txBody>
          <a:bodyPr/>
          <a:lstStyle/>
          <a:p>
            <a:endParaRPr lang="en-IN"/>
          </a:p>
        </p:txBody>
      </p:sp>
      <p:sp>
        <p:nvSpPr>
          <p:cNvPr id="24" name="Rectangle 23">
            <a:extLst>
              <a:ext uri="{FF2B5EF4-FFF2-40B4-BE49-F238E27FC236}">
                <a16:creationId xmlns:a16="http://schemas.microsoft.com/office/drawing/2014/main" id="{57A8B1B3-D4B0-44C7-BA9C-D02B54CCD181}"/>
              </a:ext>
            </a:extLst>
          </p:cNvPr>
          <p:cNvSpPr>
            <a:spLocks noGrp="1"/>
          </p:cNvSpPr>
          <p:nvPr/>
        </p:nvSpPr>
        <p:spPr>
          <a:xfrm>
            <a:off x="7391400" y="2428875"/>
            <a:ext cx="419100" cy="228600"/>
          </a:xfrm>
          <a:prstGeom prst="rect">
            <a:avLst/>
          </a:prstGeom>
          <a:noFill/>
          <a:ln w="0">
            <a:noFill/>
            <a:prstDash val="solid"/>
          </a:ln>
        </p:spPr>
        <p:txBody>
          <a:bodyPr wrap="square" lIns="0" tIns="0" rIns="0" bIns="0" anchor="t">
            <a:normAutofit/>
          </a:bodyPr>
          <a:lstStyle/>
          <a:p>
            <a:pPr algn="ctr">
              <a:lnSpc>
                <a:spcPct val="102000"/>
              </a:lnSpc>
              <a:buNone/>
              <a:defRPr sz="1425" b="1">
                <a:solidFill>
                  <a:srgbClr val="F4F7FB"/>
                </a:solidFill>
                <a:latin typeface="Aptos"/>
                <a:ea typeface="Aptos"/>
                <a:cs typeface="Aptos"/>
              </a:defRPr>
            </a:pPr>
            <a:r>
              <a:rPr sz="1425" b="1">
                <a:solidFill>
                  <a:srgbClr val="F4F7FB"/>
                </a:solidFill>
                <a:latin typeface="Aptos"/>
                <a:ea typeface="Aptos"/>
                <a:cs typeface="Aptos"/>
              </a:rPr>
              <a:t>4</a:t>
            </a:r>
          </a:p>
        </p:txBody>
      </p:sp>
      <p:sp>
        <p:nvSpPr>
          <p:cNvPr id="25" name="Rectangle 24">
            <a:extLst>
              <a:ext uri="{FF2B5EF4-FFF2-40B4-BE49-F238E27FC236}">
                <a16:creationId xmlns:a16="http://schemas.microsoft.com/office/drawing/2014/main" id="{10B47528-3451-43D6-BAE3-59DDAA47CE00}"/>
              </a:ext>
            </a:extLst>
          </p:cNvPr>
          <p:cNvSpPr>
            <a:spLocks noGrp="1"/>
          </p:cNvSpPr>
          <p:nvPr/>
        </p:nvSpPr>
        <p:spPr>
          <a:xfrm>
            <a:off x="7391400" y="3028950"/>
            <a:ext cx="1562100" cy="323850"/>
          </a:xfrm>
          <a:prstGeom prst="rect">
            <a:avLst/>
          </a:prstGeom>
          <a:noFill/>
          <a:ln w="0">
            <a:noFill/>
            <a:prstDash val="solid"/>
          </a:ln>
        </p:spPr>
        <p:txBody>
          <a:bodyPr wrap="square" lIns="0" tIns="0" rIns="0" bIns="0" anchor="t">
            <a:normAutofit/>
          </a:bodyPr>
          <a:lstStyle/>
          <a:p>
            <a:pPr algn="l">
              <a:lnSpc>
                <a:spcPct val="102000"/>
              </a:lnSpc>
              <a:buNone/>
              <a:defRPr sz="1800" b="1">
                <a:solidFill>
                  <a:srgbClr val="F4F7FB"/>
                </a:solidFill>
                <a:latin typeface="Aptos"/>
                <a:ea typeface="Aptos"/>
                <a:cs typeface="Aptos"/>
              </a:defRPr>
            </a:pPr>
            <a:r>
              <a:rPr sz="1800" b="1">
                <a:solidFill>
                  <a:srgbClr val="F4F7FB"/>
                </a:solidFill>
                <a:latin typeface="Aptos"/>
                <a:ea typeface="Aptos"/>
                <a:cs typeface="Aptos"/>
              </a:rPr>
              <a:t>Agent acts</a:t>
            </a:r>
          </a:p>
        </p:txBody>
      </p:sp>
      <p:sp>
        <p:nvSpPr>
          <p:cNvPr id="26" name="Rectangle 25">
            <a:extLst>
              <a:ext uri="{FF2B5EF4-FFF2-40B4-BE49-F238E27FC236}">
                <a16:creationId xmlns:a16="http://schemas.microsoft.com/office/drawing/2014/main" id="{E0250E65-2B90-4223-9A9E-224B0B8F3227}"/>
              </a:ext>
            </a:extLst>
          </p:cNvPr>
          <p:cNvSpPr>
            <a:spLocks noGrp="1"/>
          </p:cNvSpPr>
          <p:nvPr/>
        </p:nvSpPr>
        <p:spPr>
          <a:xfrm>
            <a:off x="7391400" y="3562350"/>
            <a:ext cx="1562100" cy="704850"/>
          </a:xfrm>
          <a:prstGeom prst="rect">
            <a:avLst/>
          </a:prstGeom>
          <a:noFill/>
          <a:ln w="0">
            <a:noFill/>
            <a:prstDash val="solid"/>
          </a:ln>
        </p:spPr>
        <p:txBody>
          <a:bodyPr wrap="square" lIns="0" tIns="0" rIns="0" bIns="0" anchor="t">
            <a:normAutofit fontScale="88908"/>
          </a:bodyPr>
          <a:lstStyle/>
          <a:p>
            <a:pPr algn="l">
              <a:lnSpc>
                <a:spcPct val="102000"/>
              </a:lnSpc>
              <a:buNone/>
              <a:defRPr sz="1275" b="0">
                <a:solidFill>
                  <a:srgbClr val="99A6B8"/>
                </a:solidFill>
                <a:latin typeface="Aptos"/>
                <a:ea typeface="Aptos"/>
                <a:cs typeface="Aptos"/>
              </a:defRPr>
            </a:pPr>
            <a:r>
              <a:rPr sz="1275" b="0">
                <a:solidFill>
                  <a:srgbClr val="99A6B8"/>
                </a:solidFill>
                <a:latin typeface="Aptos"/>
                <a:ea typeface="Aptos"/>
                <a:cs typeface="Aptos"/>
              </a:rPr>
              <a:t>AI plans; business executes; PayPilot meters; Circle pays autonomously.</a:t>
            </a:r>
          </a:p>
        </p:txBody>
      </p:sp>
      <p:sp>
        <p:nvSpPr>
          <p:cNvPr id="27" name="Rectangle 26">
            <a:extLst>
              <a:ext uri="{FF2B5EF4-FFF2-40B4-BE49-F238E27FC236}">
                <a16:creationId xmlns:a16="http://schemas.microsoft.com/office/drawing/2014/main" id="{FCDDC9B1-E8C2-4D40-BA3B-7228569AA0A9}"/>
              </a:ext>
            </a:extLst>
          </p:cNvPr>
          <p:cNvSpPr>
            <a:spLocks noGrp="1"/>
          </p:cNvSpPr>
          <p:nvPr/>
        </p:nvSpPr>
        <p:spPr>
          <a:xfrm>
            <a:off x="9448800" y="2152650"/>
            <a:ext cx="1943100" cy="2343150"/>
          </a:xfrm>
          <a:prstGeom prst="rect">
            <a:avLst/>
          </a:prstGeom>
          <a:solidFill>
            <a:srgbClr val="111827"/>
          </a:solidFill>
          <a:ln w="9525">
            <a:solidFill>
              <a:srgbClr val="2A3548"/>
            </a:solidFill>
            <a:prstDash val="solid"/>
          </a:ln>
        </p:spPr>
        <p:txBody>
          <a:bodyPr/>
          <a:lstStyle/>
          <a:p>
            <a:endParaRPr lang="en-IN"/>
          </a:p>
        </p:txBody>
      </p:sp>
      <p:sp>
        <p:nvSpPr>
          <p:cNvPr id="28" name="Oval 27">
            <a:extLst>
              <a:ext uri="{FF2B5EF4-FFF2-40B4-BE49-F238E27FC236}">
                <a16:creationId xmlns:a16="http://schemas.microsoft.com/office/drawing/2014/main" id="{AEB8B9DA-8F4C-45D8-9D61-45AED214A8F6}"/>
              </a:ext>
            </a:extLst>
          </p:cNvPr>
          <p:cNvSpPr>
            <a:spLocks noGrp="1"/>
          </p:cNvSpPr>
          <p:nvPr/>
        </p:nvSpPr>
        <p:spPr>
          <a:xfrm>
            <a:off x="9639300" y="2343150"/>
            <a:ext cx="419100" cy="419100"/>
          </a:xfrm>
          <a:prstGeom prst="ellipse">
            <a:avLst/>
          </a:prstGeom>
          <a:solidFill>
            <a:srgbClr val="3D8DFF"/>
          </a:solidFill>
          <a:ln w="0">
            <a:noFill/>
            <a:prstDash val="solid"/>
          </a:ln>
        </p:spPr>
        <p:txBody>
          <a:bodyPr/>
          <a:lstStyle/>
          <a:p>
            <a:endParaRPr lang="en-IN"/>
          </a:p>
        </p:txBody>
      </p:sp>
      <p:sp>
        <p:nvSpPr>
          <p:cNvPr id="29" name="Rectangle 28">
            <a:extLst>
              <a:ext uri="{FF2B5EF4-FFF2-40B4-BE49-F238E27FC236}">
                <a16:creationId xmlns:a16="http://schemas.microsoft.com/office/drawing/2014/main" id="{14775797-E4FE-4A97-8C39-3604B3C23085}"/>
              </a:ext>
            </a:extLst>
          </p:cNvPr>
          <p:cNvSpPr>
            <a:spLocks noGrp="1"/>
          </p:cNvSpPr>
          <p:nvPr/>
        </p:nvSpPr>
        <p:spPr>
          <a:xfrm>
            <a:off x="9639300" y="2428875"/>
            <a:ext cx="419100" cy="228600"/>
          </a:xfrm>
          <a:prstGeom prst="rect">
            <a:avLst/>
          </a:prstGeom>
          <a:noFill/>
          <a:ln w="0">
            <a:noFill/>
            <a:prstDash val="solid"/>
          </a:ln>
        </p:spPr>
        <p:txBody>
          <a:bodyPr wrap="square" lIns="0" tIns="0" rIns="0" bIns="0" anchor="t">
            <a:normAutofit/>
          </a:bodyPr>
          <a:lstStyle/>
          <a:p>
            <a:pPr algn="ctr">
              <a:lnSpc>
                <a:spcPct val="102000"/>
              </a:lnSpc>
              <a:buNone/>
              <a:defRPr sz="1425" b="1">
                <a:solidFill>
                  <a:srgbClr val="F4F7FB"/>
                </a:solidFill>
                <a:latin typeface="Aptos"/>
                <a:ea typeface="Aptos"/>
                <a:cs typeface="Aptos"/>
              </a:defRPr>
            </a:pPr>
            <a:r>
              <a:rPr sz="1425" b="1">
                <a:solidFill>
                  <a:srgbClr val="F4F7FB"/>
                </a:solidFill>
                <a:latin typeface="Aptos"/>
                <a:ea typeface="Aptos"/>
                <a:cs typeface="Aptos"/>
              </a:rPr>
              <a:t>5</a:t>
            </a:r>
          </a:p>
        </p:txBody>
      </p:sp>
      <p:sp>
        <p:nvSpPr>
          <p:cNvPr id="30" name="Rectangle 29">
            <a:extLst>
              <a:ext uri="{FF2B5EF4-FFF2-40B4-BE49-F238E27FC236}">
                <a16:creationId xmlns:a16="http://schemas.microsoft.com/office/drawing/2014/main" id="{E348ADA6-D11D-43D1-844F-7EEA76E2BFC3}"/>
              </a:ext>
            </a:extLst>
          </p:cNvPr>
          <p:cNvSpPr>
            <a:spLocks noGrp="1"/>
          </p:cNvSpPr>
          <p:nvPr/>
        </p:nvSpPr>
        <p:spPr>
          <a:xfrm>
            <a:off x="9639300" y="3028950"/>
            <a:ext cx="1562100" cy="323850"/>
          </a:xfrm>
          <a:prstGeom prst="rect">
            <a:avLst/>
          </a:prstGeom>
          <a:noFill/>
          <a:ln w="0">
            <a:noFill/>
            <a:prstDash val="solid"/>
          </a:ln>
        </p:spPr>
        <p:txBody>
          <a:bodyPr wrap="square" lIns="0" tIns="0" rIns="0" bIns="0" anchor="t">
            <a:normAutofit/>
          </a:bodyPr>
          <a:lstStyle/>
          <a:p>
            <a:pPr algn="l">
              <a:lnSpc>
                <a:spcPct val="102000"/>
              </a:lnSpc>
              <a:buNone/>
              <a:defRPr sz="1800" b="1">
                <a:solidFill>
                  <a:srgbClr val="F4F7FB"/>
                </a:solidFill>
                <a:latin typeface="Aptos"/>
                <a:ea typeface="Aptos"/>
                <a:cs typeface="Aptos"/>
              </a:defRPr>
            </a:pPr>
            <a:r>
              <a:rPr sz="1800" b="1">
                <a:solidFill>
                  <a:srgbClr val="F4F7FB"/>
                </a:solidFill>
                <a:latin typeface="Aptos"/>
                <a:ea typeface="Aptos"/>
                <a:cs typeface="Aptos"/>
              </a:rPr>
              <a:t>Verify</a:t>
            </a:r>
          </a:p>
        </p:txBody>
      </p:sp>
      <p:sp>
        <p:nvSpPr>
          <p:cNvPr id="31" name="Rectangle 30">
            <a:extLst>
              <a:ext uri="{FF2B5EF4-FFF2-40B4-BE49-F238E27FC236}">
                <a16:creationId xmlns:a16="http://schemas.microsoft.com/office/drawing/2014/main" id="{E44CEA69-FC83-4078-81D4-64118CAE9304}"/>
              </a:ext>
            </a:extLst>
          </p:cNvPr>
          <p:cNvSpPr>
            <a:spLocks noGrp="1"/>
          </p:cNvSpPr>
          <p:nvPr/>
        </p:nvSpPr>
        <p:spPr>
          <a:xfrm>
            <a:off x="9639300" y="3562350"/>
            <a:ext cx="1562100" cy="704850"/>
          </a:xfrm>
          <a:prstGeom prst="rect">
            <a:avLst/>
          </a:prstGeom>
          <a:noFill/>
          <a:ln w="0">
            <a:noFill/>
            <a:prstDash val="solid"/>
          </a:ln>
        </p:spPr>
        <p:txBody>
          <a:bodyPr wrap="square" lIns="0" tIns="0" rIns="0" bIns="0" anchor="t">
            <a:normAutofit fontScale="88908"/>
          </a:bodyPr>
          <a:lstStyle/>
          <a:p>
            <a:pPr algn="l">
              <a:lnSpc>
                <a:spcPct val="102000"/>
              </a:lnSpc>
              <a:buNone/>
              <a:defRPr sz="1275" b="0">
                <a:solidFill>
                  <a:srgbClr val="99A6B8"/>
                </a:solidFill>
                <a:latin typeface="Aptos"/>
                <a:ea typeface="Aptos"/>
                <a:cs typeface="Aptos"/>
              </a:defRPr>
            </a:pPr>
            <a:r>
              <a:rPr sz="1275" b="0">
                <a:solidFill>
                  <a:srgbClr val="99A6B8"/>
                </a:solidFill>
                <a:latin typeface="Aptos"/>
                <a:ea typeface="Aptos"/>
                <a:cs typeface="Aptos"/>
              </a:rPr>
              <a:t>User receives result, actual charge, wallet address, tx hash, and explorer link.</a:t>
            </a:r>
          </a:p>
        </p:txBody>
      </p:sp>
      <p:cxnSp>
        <p:nvCxnSpPr>
          <p:cNvPr id="140" name="Straight Arrow Connector 139"/>
          <p:cNvCxnSpPr>
            <a:stCxn id="7" idx="3"/>
            <a:endCxn id="12" idx="1"/>
          </p:cNvCxnSpPr>
          <p:nvPr/>
        </p:nvCxnSpPr>
        <p:spPr>
          <a:xfrm>
            <a:off x="2400300" y="3324225"/>
            <a:ext cx="304800" cy="0"/>
          </a:xfrm>
          <a:prstGeom prst="straightConnector1">
            <a:avLst/>
          </a:prstGeom>
          <a:ln w="19050">
            <a:solidFill>
              <a:srgbClr val="2A3548"/>
            </a:solidFill>
            <a:prstDash val="solid"/>
            <a:tailEnd type="arrow" w="sm" len="sm"/>
          </a:ln>
        </p:spPr>
      </p:cxnSp>
      <p:cxnSp>
        <p:nvCxnSpPr>
          <p:cNvPr id="141" name="Straight Arrow Connector 140"/>
          <p:cNvCxnSpPr>
            <a:stCxn id="12" idx="3"/>
            <a:endCxn id="17" idx="1"/>
          </p:cNvCxnSpPr>
          <p:nvPr/>
        </p:nvCxnSpPr>
        <p:spPr>
          <a:xfrm>
            <a:off x="4648200" y="3324225"/>
            <a:ext cx="304800" cy="0"/>
          </a:xfrm>
          <a:prstGeom prst="straightConnector1">
            <a:avLst/>
          </a:prstGeom>
          <a:ln w="19050">
            <a:solidFill>
              <a:srgbClr val="2A3548"/>
            </a:solidFill>
            <a:prstDash val="solid"/>
            <a:tailEnd type="arrow" w="sm" len="sm"/>
          </a:ln>
        </p:spPr>
      </p:cxnSp>
      <p:cxnSp>
        <p:nvCxnSpPr>
          <p:cNvPr id="142" name="Straight Arrow Connector 141"/>
          <p:cNvCxnSpPr>
            <a:stCxn id="17" idx="3"/>
            <a:endCxn id="22" idx="1"/>
          </p:cNvCxnSpPr>
          <p:nvPr/>
        </p:nvCxnSpPr>
        <p:spPr>
          <a:xfrm>
            <a:off x="6896100" y="3324225"/>
            <a:ext cx="304800" cy="0"/>
          </a:xfrm>
          <a:prstGeom prst="straightConnector1">
            <a:avLst/>
          </a:prstGeom>
          <a:ln w="19050">
            <a:solidFill>
              <a:srgbClr val="2A3548"/>
            </a:solidFill>
            <a:prstDash val="solid"/>
            <a:tailEnd type="arrow" w="sm" len="sm"/>
          </a:ln>
        </p:spPr>
      </p:cxnSp>
      <p:cxnSp>
        <p:nvCxnSpPr>
          <p:cNvPr id="143" name="Straight Arrow Connector 142"/>
          <p:cNvCxnSpPr>
            <a:stCxn id="22" idx="3"/>
            <a:endCxn id="27" idx="1"/>
          </p:cNvCxnSpPr>
          <p:nvPr/>
        </p:nvCxnSpPr>
        <p:spPr>
          <a:xfrm>
            <a:off x="9144000" y="3324225"/>
            <a:ext cx="304800" cy="0"/>
          </a:xfrm>
          <a:prstGeom prst="straightConnector1">
            <a:avLst/>
          </a:prstGeom>
          <a:ln w="19050">
            <a:solidFill>
              <a:srgbClr val="2A3548"/>
            </a:solidFill>
            <a:prstDash val="solid"/>
            <a:tailEnd type="arrow" w="sm" len="sm"/>
          </a:ln>
        </p:spPr>
      </p:cxnSp>
      <p:sp>
        <p:nvSpPr>
          <p:cNvPr id="36" name="Rectangle 35">
            <a:extLst>
              <a:ext uri="{FF2B5EF4-FFF2-40B4-BE49-F238E27FC236}">
                <a16:creationId xmlns:a16="http://schemas.microsoft.com/office/drawing/2014/main" id="{7B543920-7A4C-433B-88F7-D76E82AB33A9}"/>
              </a:ext>
            </a:extLst>
          </p:cNvPr>
          <p:cNvSpPr>
            <a:spLocks noGrp="1"/>
          </p:cNvSpPr>
          <p:nvPr/>
        </p:nvSpPr>
        <p:spPr>
          <a:xfrm>
            <a:off x="457200" y="5038725"/>
            <a:ext cx="10934700" cy="800100"/>
          </a:xfrm>
          <a:prstGeom prst="rect">
            <a:avLst/>
          </a:prstGeom>
          <a:solidFill>
            <a:srgbClr val="151E2D"/>
          </a:solidFill>
          <a:ln w="0">
            <a:noFill/>
            <a:prstDash val="solid"/>
          </a:ln>
        </p:spPr>
        <p:txBody>
          <a:bodyPr/>
          <a:lstStyle/>
          <a:p>
            <a:endParaRPr lang="en-IN"/>
          </a:p>
        </p:txBody>
      </p:sp>
      <p:sp>
        <p:nvSpPr>
          <p:cNvPr id="37" name="Rectangle 36">
            <a:extLst>
              <a:ext uri="{FF2B5EF4-FFF2-40B4-BE49-F238E27FC236}">
                <a16:creationId xmlns:a16="http://schemas.microsoft.com/office/drawing/2014/main" id="{0CFEF52A-0BDB-4121-8519-4FB99CEC293C}"/>
              </a:ext>
            </a:extLst>
          </p:cNvPr>
          <p:cNvSpPr>
            <a:spLocks noGrp="1"/>
          </p:cNvSpPr>
          <p:nvPr/>
        </p:nvSpPr>
        <p:spPr>
          <a:xfrm>
            <a:off x="704850" y="5257800"/>
            <a:ext cx="1809750" cy="247650"/>
          </a:xfrm>
          <a:prstGeom prst="rect">
            <a:avLst/>
          </a:prstGeom>
          <a:noFill/>
          <a:ln w="0">
            <a:noFill/>
            <a:prstDash val="solid"/>
          </a:ln>
        </p:spPr>
        <p:txBody>
          <a:bodyPr wrap="square" lIns="0" tIns="0" rIns="0" bIns="0" anchor="t">
            <a:normAutofit/>
          </a:bodyPr>
          <a:lstStyle/>
          <a:p>
            <a:pPr algn="l">
              <a:lnSpc>
                <a:spcPct val="102000"/>
              </a:lnSpc>
              <a:buNone/>
              <a:defRPr sz="1500" b="1">
                <a:solidFill>
                  <a:srgbClr val="5BE7FF"/>
                </a:solidFill>
                <a:latin typeface="Aptos"/>
                <a:ea typeface="Aptos"/>
                <a:cs typeface="Aptos"/>
              </a:defRPr>
            </a:pPr>
            <a:r>
              <a:rPr sz="1500" b="1">
                <a:solidFill>
                  <a:srgbClr val="5BE7FF"/>
                </a:solidFill>
                <a:latin typeface="Aptos"/>
                <a:ea typeface="Aptos"/>
                <a:cs typeface="Aptos"/>
              </a:rPr>
              <a:t>The UX promise</a:t>
            </a:r>
          </a:p>
        </p:txBody>
      </p:sp>
      <p:sp>
        <p:nvSpPr>
          <p:cNvPr id="38" name="Rectangle 37">
            <a:extLst>
              <a:ext uri="{FF2B5EF4-FFF2-40B4-BE49-F238E27FC236}">
                <a16:creationId xmlns:a16="http://schemas.microsoft.com/office/drawing/2014/main" id="{4B966FE0-4D7E-45C9-AAB2-77EFE788E9B6}"/>
              </a:ext>
            </a:extLst>
          </p:cNvPr>
          <p:cNvSpPr>
            <a:spLocks noGrp="1"/>
          </p:cNvSpPr>
          <p:nvPr/>
        </p:nvSpPr>
        <p:spPr>
          <a:xfrm>
            <a:off x="2705100" y="5191125"/>
            <a:ext cx="8343900" cy="400050"/>
          </a:xfrm>
          <a:prstGeom prst="rect">
            <a:avLst/>
          </a:prstGeom>
          <a:noFill/>
          <a:ln w="0">
            <a:noFill/>
            <a:prstDash val="solid"/>
          </a:ln>
        </p:spPr>
        <p:txBody>
          <a:bodyPr wrap="square" lIns="0" tIns="0" rIns="0" bIns="0" anchor="t">
            <a:normAutofit fontScale="90299"/>
          </a:bodyPr>
          <a:lstStyle/>
          <a:p>
            <a:pPr algn="ctr">
              <a:lnSpc>
                <a:spcPct val="102000"/>
              </a:lnSpc>
              <a:buNone/>
              <a:defRPr sz="1425" b="1">
                <a:solidFill>
                  <a:srgbClr val="F4F7FB"/>
                </a:solidFill>
                <a:latin typeface="Aptos"/>
                <a:ea typeface="Aptos"/>
                <a:cs typeface="Aptos"/>
              </a:defRPr>
            </a:pPr>
            <a:r>
              <a:rPr sz="1425" b="1">
                <a:solidFill>
                  <a:srgbClr val="F4F7FB"/>
                </a:solidFill>
                <a:latin typeface="Aptos"/>
                <a:ea typeface="Aptos"/>
                <a:cs typeface="Aptos"/>
              </a:rPr>
              <a:t>The user sees one authorization ceiling; only completed, metered work is settled; every real payment is independently inspectable.</a:t>
            </a:r>
          </a:p>
        </p:txBody>
      </p:sp>
    </p:spTree>
    <p:extLst>
      <p:ext uri="{BB962C8B-B14F-4D97-AF65-F5344CB8AC3E}">
        <p14:creationId xmlns:p14="http://schemas.microsoft.com/office/powerpoint/2010/main" val="1512492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A0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1DD2AC81-7861-4640-BF4D-3B7EECD1A3DD}"/>
              </a:ext>
            </a:extLst>
          </p:cNvPr>
          <p:cNvSpPr>
            <a:spLocks noGrp="1"/>
          </p:cNvSpPr>
          <p:nvPr/>
        </p:nvSpPr>
        <p:spPr>
          <a:xfrm>
            <a:off x="457200" y="209550"/>
            <a:ext cx="4953000" cy="1905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5BE7FF"/>
                </a:solidFill>
                <a:latin typeface="Aptos"/>
                <a:ea typeface="Aptos"/>
                <a:cs typeface="Aptos"/>
              </a:defRPr>
            </a:pPr>
            <a:r>
              <a:rPr sz="1050" b="1">
                <a:solidFill>
                  <a:srgbClr val="5BE7FF"/>
                </a:solidFill>
                <a:latin typeface="Aptos"/>
                <a:ea typeface="Aptos"/>
                <a:cs typeface="Aptos"/>
              </a:rPr>
              <a:t>HOW BUSINESSES INTEGRATE</a:t>
            </a:r>
          </a:p>
        </p:txBody>
      </p:sp>
      <p:sp>
        <p:nvSpPr>
          <p:cNvPr id="2" name="Rectangle 1">
            <a:extLst>
              <a:ext uri="{FF2B5EF4-FFF2-40B4-BE49-F238E27FC236}">
                <a16:creationId xmlns:a16="http://schemas.microsoft.com/office/drawing/2014/main" id="{A7100411-7CD0-46B6-9EFC-4B832F0FD50F}"/>
              </a:ext>
            </a:extLst>
          </p:cNvPr>
          <p:cNvSpPr>
            <a:spLocks noGrp="1"/>
          </p:cNvSpPr>
          <p:nvPr/>
        </p:nvSpPr>
        <p:spPr>
          <a:xfrm>
            <a:off x="457200" y="514350"/>
            <a:ext cx="11239500" cy="762000"/>
          </a:xfrm>
          <a:prstGeom prst="rect">
            <a:avLst/>
          </a:prstGeom>
          <a:noFill/>
          <a:ln w="0">
            <a:noFill/>
            <a:prstDash val="solid"/>
          </a:ln>
        </p:spPr>
        <p:txBody>
          <a:bodyPr wrap="square" lIns="0" tIns="0" rIns="0" bIns="0" anchor="t">
            <a:noAutofit/>
          </a:bodyPr>
          <a:lstStyle/>
          <a:p>
            <a:pPr algn="l">
              <a:lnSpc>
                <a:spcPct val="94000"/>
              </a:lnSpc>
              <a:buNone/>
              <a:defRPr sz="3225" b="1">
                <a:solidFill>
                  <a:srgbClr val="F4F7FB"/>
                </a:solidFill>
                <a:latin typeface="Aptos"/>
                <a:ea typeface="Aptos"/>
                <a:cs typeface="Aptos"/>
              </a:defRPr>
            </a:pPr>
            <a:r>
              <a:rPr sz="3225" b="1">
                <a:solidFill>
                  <a:srgbClr val="F4F7FB"/>
                </a:solidFill>
                <a:latin typeface="Aptos"/>
                <a:ea typeface="Aptos"/>
                <a:cs typeface="Aptos"/>
              </a:rPr>
              <a:t>A business adds a service contract—not a new payment system.</a:t>
            </a:r>
          </a:p>
        </p:txBody>
      </p:sp>
      <p:sp>
        <p:nvSpPr>
          <p:cNvPr id="3" name="Straight Connector 2">
            <a:extLst>
              <a:ext uri="{FF2B5EF4-FFF2-40B4-BE49-F238E27FC236}">
                <a16:creationId xmlns:a16="http://schemas.microsoft.com/office/drawing/2014/main" id="{AE3F694B-6E49-4456-BF62-7D6DA31C3DD5}"/>
              </a:ext>
            </a:extLst>
          </p:cNvPr>
          <p:cNvSpPr>
            <a:spLocks noGrp="1"/>
          </p:cNvSpPr>
          <p:nvPr/>
        </p:nvSpPr>
        <p:spPr>
          <a:xfrm>
            <a:off x="457200" y="1371600"/>
            <a:ext cx="11277600" cy="0"/>
          </a:xfrm>
          <a:prstGeom prst="line">
            <a:avLst/>
          </a:prstGeom>
          <a:noFill/>
          <a:ln w="9525">
            <a:solidFill>
              <a:srgbClr val="2A3548"/>
            </a:solidFill>
            <a:prstDash val="solid"/>
          </a:ln>
        </p:spPr>
        <p:txBody>
          <a:bodyPr/>
          <a:lstStyle/>
          <a:p>
            <a:endParaRPr lang="en-IN"/>
          </a:p>
        </p:txBody>
      </p:sp>
      <p:sp>
        <p:nvSpPr>
          <p:cNvPr id="4" name="Rectangle 3">
            <a:extLst>
              <a:ext uri="{FF2B5EF4-FFF2-40B4-BE49-F238E27FC236}">
                <a16:creationId xmlns:a16="http://schemas.microsoft.com/office/drawing/2014/main" id="{D69B2549-2A17-4EFB-A937-F7E39E86B243}"/>
              </a:ext>
            </a:extLst>
          </p:cNvPr>
          <p:cNvSpPr>
            <a:spLocks noGrp="1"/>
          </p:cNvSpPr>
          <p:nvPr/>
        </p:nvSpPr>
        <p:spPr>
          <a:xfrm>
            <a:off x="457200" y="6457950"/>
            <a:ext cx="152400" cy="38100"/>
          </a:xfrm>
          <a:prstGeom prst="rect">
            <a:avLst/>
          </a:prstGeom>
          <a:solidFill>
            <a:srgbClr val="5BE7FF"/>
          </a:solidFill>
          <a:ln w="0">
            <a:noFill/>
            <a:prstDash val="solid"/>
          </a:ln>
        </p:spPr>
        <p:txBody>
          <a:bodyPr/>
          <a:lstStyle/>
          <a:p>
            <a:endParaRPr lang="en-IN"/>
          </a:p>
        </p:txBody>
      </p:sp>
      <p:sp>
        <p:nvSpPr>
          <p:cNvPr id="5" name="Rectangle 4">
            <a:extLst>
              <a:ext uri="{FF2B5EF4-FFF2-40B4-BE49-F238E27FC236}">
                <a16:creationId xmlns:a16="http://schemas.microsoft.com/office/drawing/2014/main" id="{5CAA1A94-5503-4FD7-AA54-669D816D4F73}"/>
              </a:ext>
            </a:extLst>
          </p:cNvPr>
          <p:cNvSpPr>
            <a:spLocks noGrp="1"/>
          </p:cNvSpPr>
          <p:nvPr/>
        </p:nvSpPr>
        <p:spPr>
          <a:xfrm>
            <a:off x="704850" y="6381750"/>
            <a:ext cx="1714500" cy="190500"/>
          </a:xfrm>
          <a:prstGeom prst="rect">
            <a:avLst/>
          </a:prstGeom>
          <a:noFill/>
          <a:ln w="0">
            <a:noFill/>
            <a:prstDash val="solid"/>
          </a:ln>
        </p:spPr>
        <p:txBody>
          <a:bodyPr wrap="square" lIns="0" tIns="0" rIns="0" bIns="0" anchor="t">
            <a:normAutofit/>
          </a:bodyPr>
          <a:lstStyle/>
          <a:p>
            <a:pPr algn="l">
              <a:lnSpc>
                <a:spcPct val="102000"/>
              </a:lnSpc>
              <a:buNone/>
              <a:defRPr sz="900" b="1">
                <a:solidFill>
                  <a:srgbClr val="99A6B8"/>
                </a:solidFill>
                <a:latin typeface="Aptos"/>
                <a:ea typeface="Aptos"/>
                <a:cs typeface="Aptos"/>
              </a:defRPr>
            </a:pPr>
            <a:r>
              <a:rPr sz="900" b="1">
                <a:solidFill>
                  <a:srgbClr val="99A6B8"/>
                </a:solidFill>
                <a:latin typeface="Aptos"/>
                <a:ea typeface="Aptos"/>
                <a:cs typeface="Aptos"/>
              </a:rPr>
              <a:t>PAYPILOT</a:t>
            </a:r>
          </a:p>
        </p:txBody>
      </p:sp>
      <p:sp>
        <p:nvSpPr>
          <p:cNvPr id="6" name="Rectangle 5">
            <a:extLst>
              <a:ext uri="{FF2B5EF4-FFF2-40B4-BE49-F238E27FC236}">
                <a16:creationId xmlns:a16="http://schemas.microsoft.com/office/drawing/2014/main" id="{04D402B2-A78A-49C5-8FD6-FA4D544E7D3A}"/>
              </a:ext>
            </a:extLst>
          </p:cNvPr>
          <p:cNvSpPr>
            <a:spLocks noGrp="1"/>
          </p:cNvSpPr>
          <p:nvPr/>
        </p:nvSpPr>
        <p:spPr>
          <a:xfrm>
            <a:off x="11182350" y="6381750"/>
            <a:ext cx="552450" cy="190500"/>
          </a:xfrm>
          <a:prstGeom prst="rect">
            <a:avLst/>
          </a:prstGeom>
          <a:noFill/>
          <a:ln w="0">
            <a:noFill/>
            <a:prstDash val="solid"/>
          </a:ln>
        </p:spPr>
        <p:txBody>
          <a:bodyPr wrap="square" lIns="0" tIns="0" rIns="0" bIns="0" anchor="t">
            <a:normAutofit/>
          </a:bodyPr>
          <a:lstStyle/>
          <a:p>
            <a:pPr algn="r">
              <a:lnSpc>
                <a:spcPct val="102000"/>
              </a:lnSpc>
              <a:buNone/>
              <a:defRPr sz="975" b="0">
                <a:solidFill>
                  <a:srgbClr val="99A6B8"/>
                </a:solidFill>
                <a:latin typeface="Aptos"/>
                <a:ea typeface="Aptos"/>
                <a:cs typeface="Aptos"/>
              </a:defRPr>
            </a:pPr>
            <a:r>
              <a:rPr sz="975" b="0">
                <a:solidFill>
                  <a:srgbClr val="99A6B8"/>
                </a:solidFill>
                <a:latin typeface="Aptos"/>
                <a:ea typeface="Aptos"/>
                <a:cs typeface="Aptos"/>
              </a:rPr>
              <a:t>05</a:t>
            </a:r>
          </a:p>
        </p:txBody>
      </p:sp>
      <p:sp>
        <p:nvSpPr>
          <p:cNvPr id="7" name="Rectangle 6">
            <a:extLst>
              <a:ext uri="{FF2B5EF4-FFF2-40B4-BE49-F238E27FC236}">
                <a16:creationId xmlns:a16="http://schemas.microsoft.com/office/drawing/2014/main" id="{E71FA63E-BB86-415D-9081-71F45D0E6109}"/>
              </a:ext>
            </a:extLst>
          </p:cNvPr>
          <p:cNvSpPr>
            <a:spLocks noGrp="1"/>
          </p:cNvSpPr>
          <p:nvPr/>
        </p:nvSpPr>
        <p:spPr>
          <a:xfrm>
            <a:off x="457200" y="1704975"/>
            <a:ext cx="4762500" cy="4067175"/>
          </a:xfrm>
          <a:prstGeom prst="rect">
            <a:avLst/>
          </a:prstGeom>
          <a:solidFill>
            <a:srgbClr val="151E2D"/>
          </a:solidFill>
          <a:ln w="19050">
            <a:solidFill>
              <a:srgbClr val="5BE7FF"/>
            </a:solidFill>
            <a:prstDash val="solid"/>
          </a:ln>
        </p:spPr>
        <p:txBody>
          <a:bodyPr/>
          <a:lstStyle/>
          <a:p>
            <a:endParaRPr lang="en-IN"/>
          </a:p>
        </p:txBody>
      </p:sp>
      <p:sp>
        <p:nvSpPr>
          <p:cNvPr id="8" name="Rectangle 7">
            <a:extLst>
              <a:ext uri="{FF2B5EF4-FFF2-40B4-BE49-F238E27FC236}">
                <a16:creationId xmlns:a16="http://schemas.microsoft.com/office/drawing/2014/main" id="{5F325930-A74A-4BA2-913A-A0F34BA14FB6}"/>
              </a:ext>
            </a:extLst>
          </p:cNvPr>
          <p:cNvSpPr>
            <a:spLocks noGrp="1"/>
          </p:cNvSpPr>
          <p:nvPr/>
        </p:nvSpPr>
        <p:spPr>
          <a:xfrm>
            <a:off x="742950" y="1981200"/>
            <a:ext cx="3048000" cy="219075"/>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5BE7FF"/>
                </a:solidFill>
                <a:latin typeface="Aptos"/>
                <a:ea typeface="Aptos"/>
                <a:cs typeface="Aptos"/>
              </a:defRPr>
            </a:pPr>
            <a:r>
              <a:rPr sz="1050" b="1">
                <a:solidFill>
                  <a:srgbClr val="5BE7FF"/>
                </a:solidFill>
                <a:latin typeface="Aptos"/>
                <a:ea typeface="Aptos"/>
                <a:cs typeface="Aptos"/>
              </a:rPr>
              <a:t>BUSINESS PLUGIN CONTRACT</a:t>
            </a:r>
          </a:p>
        </p:txBody>
      </p:sp>
      <p:sp>
        <p:nvSpPr>
          <p:cNvPr id="9" name="Rectangle 8">
            <a:extLst>
              <a:ext uri="{FF2B5EF4-FFF2-40B4-BE49-F238E27FC236}">
                <a16:creationId xmlns:a16="http://schemas.microsoft.com/office/drawing/2014/main" id="{D5FEF983-D548-4EEC-B8F6-5D086FD25F43}"/>
              </a:ext>
            </a:extLst>
          </p:cNvPr>
          <p:cNvSpPr>
            <a:spLocks noGrp="1"/>
          </p:cNvSpPr>
          <p:nvPr/>
        </p:nvSpPr>
        <p:spPr>
          <a:xfrm>
            <a:off x="742950" y="2476500"/>
            <a:ext cx="4000500" cy="2743200"/>
          </a:xfrm>
          <a:prstGeom prst="rect">
            <a:avLst/>
          </a:prstGeom>
          <a:noFill/>
          <a:ln w="0">
            <a:noFill/>
            <a:prstDash val="solid"/>
          </a:ln>
        </p:spPr>
        <p:txBody>
          <a:bodyPr lIns="0" tIns="0" rIns="0" bIns="0">
            <a:normAutofit/>
          </a:bodyPr>
          <a:lstStyle/>
          <a:p>
            <a:pPr marL="22" indent="-13">
              <a:lnSpc>
                <a:spcPct val="102000"/>
              </a:lnSpc>
              <a:spcAft>
                <a:spcPts val="14"/>
              </a:spcAft>
              <a:buNone/>
              <a:defRPr sz="1500">
                <a:solidFill>
                  <a:srgbClr val="F4F7FB"/>
                </a:solidFill>
                <a:latin typeface="Aptos"/>
                <a:ea typeface="Aptos"/>
                <a:cs typeface="Aptos"/>
              </a:defRPr>
            </a:pPr>
            <a:r>
              <a:rPr sz="1500">
                <a:solidFill>
                  <a:srgbClr val="F4F7FB"/>
                </a:solidFill>
                <a:latin typeface="Aptos"/>
                <a:ea typeface="Aptos"/>
                <a:cs typeface="Aptos"/>
              </a:rPr>
              <a:t>Business identity + registered receiving wallet</a:t>
            </a:r>
          </a:p>
          <a:p>
            <a:pPr marL="22" indent="-13">
              <a:lnSpc>
                <a:spcPct val="102000"/>
              </a:lnSpc>
              <a:spcAft>
                <a:spcPts val="14"/>
              </a:spcAft>
              <a:buNone/>
              <a:defRPr sz="1500">
                <a:solidFill>
                  <a:srgbClr val="F4F7FB"/>
                </a:solidFill>
                <a:latin typeface="Aptos"/>
                <a:ea typeface="Aptos"/>
                <a:cs typeface="Aptos"/>
              </a:defRPr>
            </a:pPr>
            <a:r>
              <a:rPr sz="1500">
                <a:solidFill>
                  <a:srgbClr val="F4F7FB"/>
                </a:solidFill>
                <a:latin typeface="Aptos"/>
                <a:ea typeface="Aptos"/>
                <a:cs typeface="Aptos"/>
              </a:rPr>
              <a:t>Machine-readable service name and input schema</a:t>
            </a:r>
          </a:p>
          <a:p>
            <a:pPr marL="22" indent="-13">
              <a:lnSpc>
                <a:spcPct val="102000"/>
              </a:lnSpc>
              <a:spcAft>
                <a:spcPts val="14"/>
              </a:spcAft>
              <a:buNone/>
              <a:defRPr sz="1500">
                <a:solidFill>
                  <a:srgbClr val="F4F7FB"/>
                </a:solidFill>
                <a:latin typeface="Aptos"/>
                <a:ea typeface="Aptos"/>
                <a:cs typeface="Aptos"/>
              </a:defRPr>
            </a:pPr>
            <a:r>
              <a:rPr sz="1500">
                <a:solidFill>
                  <a:srgbClr val="F4F7FB"/>
                </a:solidFill>
                <a:latin typeface="Aptos"/>
                <a:ea typeface="Aptos"/>
                <a:cs typeface="Aptos"/>
              </a:rPr>
              <a:t>Visible execution plan and versioned pricing</a:t>
            </a:r>
          </a:p>
          <a:p>
            <a:pPr marL="22" indent="-13">
              <a:lnSpc>
                <a:spcPct val="102000"/>
              </a:lnSpc>
              <a:spcAft>
                <a:spcPts val="14"/>
              </a:spcAft>
              <a:buNone/>
              <a:defRPr sz="1500">
                <a:solidFill>
                  <a:srgbClr val="F4F7FB"/>
                </a:solidFill>
                <a:latin typeface="Aptos"/>
                <a:ea typeface="Aptos"/>
                <a:cs typeface="Aptos"/>
              </a:defRPr>
            </a:pPr>
            <a:r>
              <a:rPr sz="1500">
                <a:solidFill>
                  <a:srgbClr val="F4F7FB"/>
                </a:solidFill>
                <a:latin typeface="Aptos"/>
                <a:ea typeface="Aptos"/>
                <a:cs typeface="Aptos"/>
              </a:rPr>
              <a:t>Typed usage events with idempotency keys</a:t>
            </a:r>
          </a:p>
          <a:p>
            <a:pPr marL="22" indent="-13">
              <a:lnSpc>
                <a:spcPct val="102000"/>
              </a:lnSpc>
              <a:spcAft>
                <a:spcPts val="14"/>
              </a:spcAft>
              <a:buNone/>
              <a:defRPr sz="1500">
                <a:solidFill>
                  <a:srgbClr val="F4F7FB"/>
                </a:solidFill>
                <a:latin typeface="Aptos"/>
                <a:ea typeface="Aptos"/>
                <a:cs typeface="Aptos"/>
              </a:defRPr>
            </a:pPr>
            <a:r>
              <a:rPr sz="1500">
                <a:solidFill>
                  <a:srgbClr val="F4F7FB"/>
                </a:solidFill>
                <a:latin typeface="Aptos"/>
                <a:ea typeface="Aptos"/>
                <a:cs typeface="Aptos"/>
              </a:rPr>
              <a:t>Execution callback and structured result schema</a:t>
            </a:r>
          </a:p>
          <a:p>
            <a:pPr marL="22" indent="-13">
              <a:lnSpc>
                <a:spcPct val="102000"/>
              </a:lnSpc>
              <a:spcAft>
                <a:spcPts val="14"/>
              </a:spcAft>
              <a:buNone/>
              <a:defRPr sz="1500">
                <a:solidFill>
                  <a:srgbClr val="F4F7FB"/>
                </a:solidFill>
                <a:latin typeface="Aptos"/>
                <a:ea typeface="Aptos"/>
                <a:cs typeface="Aptos"/>
              </a:defRPr>
            </a:pPr>
            <a:r>
              <a:rPr sz="1500">
                <a:solidFill>
                  <a:srgbClr val="F4F7FB"/>
                </a:solidFill>
                <a:latin typeface="Aptos"/>
                <a:ea typeface="Aptos"/>
                <a:cs typeface="Aptos"/>
              </a:rPr>
              <a:t>Settlement confirmation + unified receipt metadata</a:t>
            </a:r>
          </a:p>
        </p:txBody>
      </p:sp>
      <p:sp>
        <p:nvSpPr>
          <p:cNvPr id="10" name="Oval 9">
            <a:extLst>
              <a:ext uri="{FF2B5EF4-FFF2-40B4-BE49-F238E27FC236}">
                <a16:creationId xmlns:a16="http://schemas.microsoft.com/office/drawing/2014/main" id="{58DBFC97-9604-4D99-AA64-09118D248539}"/>
              </a:ext>
            </a:extLst>
          </p:cNvPr>
          <p:cNvSpPr>
            <a:spLocks noGrp="1"/>
          </p:cNvSpPr>
          <p:nvPr/>
        </p:nvSpPr>
        <p:spPr>
          <a:xfrm>
            <a:off x="5905500" y="1743075"/>
            <a:ext cx="457200" cy="457200"/>
          </a:xfrm>
          <a:prstGeom prst="ellipse">
            <a:avLst/>
          </a:prstGeom>
          <a:solidFill>
            <a:srgbClr val="3D8DFF"/>
          </a:solidFill>
          <a:ln w="0">
            <a:noFill/>
            <a:prstDash val="solid"/>
          </a:ln>
        </p:spPr>
        <p:txBody>
          <a:bodyPr/>
          <a:lstStyle/>
          <a:p>
            <a:endParaRPr lang="en-IN"/>
          </a:p>
        </p:txBody>
      </p:sp>
      <p:sp>
        <p:nvSpPr>
          <p:cNvPr id="11" name="Rectangle 10">
            <a:extLst>
              <a:ext uri="{FF2B5EF4-FFF2-40B4-BE49-F238E27FC236}">
                <a16:creationId xmlns:a16="http://schemas.microsoft.com/office/drawing/2014/main" id="{48714D42-A3FF-458A-87BD-1F13F4E1842E}"/>
              </a:ext>
            </a:extLst>
          </p:cNvPr>
          <p:cNvSpPr>
            <a:spLocks noGrp="1"/>
          </p:cNvSpPr>
          <p:nvPr/>
        </p:nvSpPr>
        <p:spPr>
          <a:xfrm>
            <a:off x="5905500" y="1828800"/>
            <a:ext cx="457200" cy="266700"/>
          </a:xfrm>
          <a:prstGeom prst="rect">
            <a:avLst/>
          </a:prstGeom>
          <a:noFill/>
          <a:ln w="0">
            <a:noFill/>
            <a:prstDash val="solid"/>
          </a:ln>
        </p:spPr>
        <p:txBody>
          <a:bodyPr wrap="square" lIns="0" tIns="0" rIns="0" bIns="0" anchor="t">
            <a:normAutofit/>
          </a:bodyPr>
          <a:lstStyle/>
          <a:p>
            <a:pPr algn="ctr">
              <a:lnSpc>
                <a:spcPct val="102000"/>
              </a:lnSpc>
              <a:buNone/>
              <a:defRPr sz="1500" b="1">
                <a:solidFill>
                  <a:srgbClr val="F4F7FB"/>
                </a:solidFill>
                <a:latin typeface="Aptos"/>
                <a:ea typeface="Aptos"/>
                <a:cs typeface="Aptos"/>
              </a:defRPr>
            </a:pPr>
            <a:r>
              <a:rPr sz="1500" b="1">
                <a:solidFill>
                  <a:srgbClr val="F4F7FB"/>
                </a:solidFill>
                <a:latin typeface="Aptos"/>
                <a:ea typeface="Aptos"/>
                <a:cs typeface="Aptos"/>
              </a:rPr>
              <a:t>1</a:t>
            </a:r>
          </a:p>
        </p:txBody>
      </p:sp>
      <p:sp>
        <p:nvSpPr>
          <p:cNvPr id="12" name="Rectangle 11">
            <a:extLst>
              <a:ext uri="{FF2B5EF4-FFF2-40B4-BE49-F238E27FC236}">
                <a16:creationId xmlns:a16="http://schemas.microsoft.com/office/drawing/2014/main" id="{C045F743-772E-48C5-A521-4AD4A187BA6B}"/>
              </a:ext>
            </a:extLst>
          </p:cNvPr>
          <p:cNvSpPr>
            <a:spLocks noGrp="1"/>
          </p:cNvSpPr>
          <p:nvPr/>
        </p:nvSpPr>
        <p:spPr>
          <a:xfrm>
            <a:off x="6572250" y="1724025"/>
            <a:ext cx="4667250" cy="276225"/>
          </a:xfrm>
          <a:prstGeom prst="rect">
            <a:avLst/>
          </a:prstGeom>
          <a:noFill/>
          <a:ln w="0">
            <a:noFill/>
            <a:prstDash val="solid"/>
          </a:ln>
        </p:spPr>
        <p:txBody>
          <a:bodyPr wrap="square" lIns="0" tIns="0" rIns="0" bIns="0" anchor="t">
            <a:normAutofit/>
          </a:bodyPr>
          <a:lstStyle/>
          <a:p>
            <a:pPr algn="l">
              <a:lnSpc>
                <a:spcPct val="102000"/>
              </a:lnSpc>
              <a:buNone/>
              <a:defRPr sz="1650" b="1">
                <a:solidFill>
                  <a:srgbClr val="F4F7FB"/>
                </a:solidFill>
                <a:latin typeface="Aptos"/>
                <a:ea typeface="Aptos"/>
                <a:cs typeface="Aptos"/>
              </a:defRPr>
            </a:pPr>
            <a:r>
              <a:rPr sz="1650" b="1">
                <a:solidFill>
                  <a:srgbClr val="F4F7FB"/>
                </a:solidFill>
                <a:latin typeface="Aptos"/>
                <a:ea typeface="Aptos"/>
                <a:cs typeface="Aptos"/>
              </a:rPr>
              <a:t>Register</a:t>
            </a:r>
          </a:p>
        </p:txBody>
      </p:sp>
      <p:sp>
        <p:nvSpPr>
          <p:cNvPr id="13" name="Rectangle 12">
            <a:extLst>
              <a:ext uri="{FF2B5EF4-FFF2-40B4-BE49-F238E27FC236}">
                <a16:creationId xmlns:a16="http://schemas.microsoft.com/office/drawing/2014/main" id="{C6321441-BC38-48DA-8AAF-A231F249285C}"/>
              </a:ext>
            </a:extLst>
          </p:cNvPr>
          <p:cNvSpPr>
            <a:spLocks noGrp="1"/>
          </p:cNvSpPr>
          <p:nvPr/>
        </p:nvSpPr>
        <p:spPr>
          <a:xfrm>
            <a:off x="6572250" y="2038350"/>
            <a:ext cx="4667250" cy="428625"/>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99A6B8"/>
                </a:solidFill>
                <a:latin typeface="Aptos"/>
                <a:ea typeface="Aptos"/>
                <a:cs typeface="Aptos"/>
              </a:defRPr>
            </a:pPr>
            <a:r>
              <a:rPr sz="1275" b="0">
                <a:solidFill>
                  <a:srgbClr val="99A6B8"/>
                </a:solidFill>
                <a:latin typeface="Aptos"/>
                <a:ea typeface="Aptos"/>
                <a:cs typeface="Aptos"/>
              </a:rPr>
              <a:t>Admin deploys a trusted plugin and merchant wallet.</a:t>
            </a:r>
          </a:p>
        </p:txBody>
      </p:sp>
      <p:sp>
        <p:nvSpPr>
          <p:cNvPr id="14" name="Oval 13">
            <a:extLst>
              <a:ext uri="{FF2B5EF4-FFF2-40B4-BE49-F238E27FC236}">
                <a16:creationId xmlns:a16="http://schemas.microsoft.com/office/drawing/2014/main" id="{1635BF94-A344-48A9-84A1-AD8D4E3745BD}"/>
              </a:ext>
            </a:extLst>
          </p:cNvPr>
          <p:cNvSpPr>
            <a:spLocks noGrp="1"/>
          </p:cNvSpPr>
          <p:nvPr/>
        </p:nvSpPr>
        <p:spPr>
          <a:xfrm>
            <a:off x="5905500" y="2724150"/>
            <a:ext cx="457200" cy="457200"/>
          </a:xfrm>
          <a:prstGeom prst="ellipse">
            <a:avLst/>
          </a:prstGeom>
          <a:solidFill>
            <a:srgbClr val="3D8DFF"/>
          </a:solidFill>
          <a:ln w="0">
            <a:noFill/>
            <a:prstDash val="solid"/>
          </a:ln>
        </p:spPr>
        <p:txBody>
          <a:bodyPr/>
          <a:lstStyle/>
          <a:p>
            <a:endParaRPr lang="en-IN"/>
          </a:p>
        </p:txBody>
      </p:sp>
      <p:sp>
        <p:nvSpPr>
          <p:cNvPr id="15" name="Rectangle 14">
            <a:extLst>
              <a:ext uri="{FF2B5EF4-FFF2-40B4-BE49-F238E27FC236}">
                <a16:creationId xmlns:a16="http://schemas.microsoft.com/office/drawing/2014/main" id="{59126F57-ABC9-47EE-8F6F-F9A8D64198F5}"/>
              </a:ext>
            </a:extLst>
          </p:cNvPr>
          <p:cNvSpPr>
            <a:spLocks noGrp="1"/>
          </p:cNvSpPr>
          <p:nvPr/>
        </p:nvSpPr>
        <p:spPr>
          <a:xfrm>
            <a:off x="5905500" y="2809875"/>
            <a:ext cx="457200" cy="266700"/>
          </a:xfrm>
          <a:prstGeom prst="rect">
            <a:avLst/>
          </a:prstGeom>
          <a:noFill/>
          <a:ln w="0">
            <a:noFill/>
            <a:prstDash val="solid"/>
          </a:ln>
        </p:spPr>
        <p:txBody>
          <a:bodyPr wrap="square" lIns="0" tIns="0" rIns="0" bIns="0" anchor="t">
            <a:normAutofit/>
          </a:bodyPr>
          <a:lstStyle/>
          <a:p>
            <a:pPr algn="ctr">
              <a:lnSpc>
                <a:spcPct val="102000"/>
              </a:lnSpc>
              <a:buNone/>
              <a:defRPr sz="1500" b="1">
                <a:solidFill>
                  <a:srgbClr val="F4F7FB"/>
                </a:solidFill>
                <a:latin typeface="Aptos"/>
                <a:ea typeface="Aptos"/>
                <a:cs typeface="Aptos"/>
              </a:defRPr>
            </a:pPr>
            <a:r>
              <a:rPr sz="1500" b="1">
                <a:solidFill>
                  <a:srgbClr val="F4F7FB"/>
                </a:solidFill>
                <a:latin typeface="Aptos"/>
                <a:ea typeface="Aptos"/>
                <a:cs typeface="Aptos"/>
              </a:rPr>
              <a:t>2</a:t>
            </a:r>
          </a:p>
        </p:txBody>
      </p:sp>
      <p:sp>
        <p:nvSpPr>
          <p:cNvPr id="16" name="Rectangle 15">
            <a:extLst>
              <a:ext uri="{FF2B5EF4-FFF2-40B4-BE49-F238E27FC236}">
                <a16:creationId xmlns:a16="http://schemas.microsoft.com/office/drawing/2014/main" id="{9F13FC59-267C-4B96-AB6C-263B0979521C}"/>
              </a:ext>
            </a:extLst>
          </p:cNvPr>
          <p:cNvSpPr>
            <a:spLocks noGrp="1"/>
          </p:cNvSpPr>
          <p:nvPr/>
        </p:nvSpPr>
        <p:spPr>
          <a:xfrm>
            <a:off x="6572250" y="2705100"/>
            <a:ext cx="4667250" cy="276225"/>
          </a:xfrm>
          <a:prstGeom prst="rect">
            <a:avLst/>
          </a:prstGeom>
          <a:noFill/>
          <a:ln w="0">
            <a:noFill/>
            <a:prstDash val="solid"/>
          </a:ln>
        </p:spPr>
        <p:txBody>
          <a:bodyPr wrap="square" lIns="0" tIns="0" rIns="0" bIns="0" anchor="t">
            <a:normAutofit/>
          </a:bodyPr>
          <a:lstStyle/>
          <a:p>
            <a:pPr algn="l">
              <a:lnSpc>
                <a:spcPct val="102000"/>
              </a:lnSpc>
              <a:buNone/>
              <a:defRPr sz="1650" b="1">
                <a:solidFill>
                  <a:srgbClr val="F4F7FB"/>
                </a:solidFill>
                <a:latin typeface="Aptos"/>
                <a:ea typeface="Aptos"/>
                <a:cs typeface="Aptos"/>
              </a:defRPr>
            </a:pPr>
            <a:r>
              <a:rPr sz="1650" b="1">
                <a:solidFill>
                  <a:srgbClr val="F4F7FB"/>
                </a:solidFill>
                <a:latin typeface="Aptos"/>
                <a:ea typeface="Aptos"/>
                <a:cs typeface="Aptos"/>
              </a:rPr>
              <a:t>Publish</a:t>
            </a:r>
          </a:p>
        </p:txBody>
      </p:sp>
      <p:sp>
        <p:nvSpPr>
          <p:cNvPr id="17" name="Rectangle 16">
            <a:extLst>
              <a:ext uri="{FF2B5EF4-FFF2-40B4-BE49-F238E27FC236}">
                <a16:creationId xmlns:a16="http://schemas.microsoft.com/office/drawing/2014/main" id="{329A34ED-13C7-4E3F-BD42-68968BC7FF88}"/>
              </a:ext>
            </a:extLst>
          </p:cNvPr>
          <p:cNvSpPr>
            <a:spLocks noGrp="1"/>
          </p:cNvSpPr>
          <p:nvPr/>
        </p:nvSpPr>
        <p:spPr>
          <a:xfrm>
            <a:off x="6572250" y="3019425"/>
            <a:ext cx="4667250" cy="428625"/>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99A6B8"/>
                </a:solidFill>
                <a:latin typeface="Aptos"/>
                <a:ea typeface="Aptos"/>
                <a:cs typeface="Aptos"/>
              </a:defRPr>
            </a:pPr>
            <a:r>
              <a:rPr sz="1275" b="0">
                <a:solidFill>
                  <a:srgbClr val="99A6B8"/>
                </a:solidFill>
                <a:latin typeface="Aptos"/>
                <a:ea typeface="Aptos"/>
                <a:cs typeface="Aptos"/>
              </a:rPr>
              <a:t>List the payable endpoint/service in the Marketplace or discovery API.</a:t>
            </a:r>
          </a:p>
        </p:txBody>
      </p:sp>
      <p:sp>
        <p:nvSpPr>
          <p:cNvPr id="18" name="Oval 17">
            <a:extLst>
              <a:ext uri="{FF2B5EF4-FFF2-40B4-BE49-F238E27FC236}">
                <a16:creationId xmlns:a16="http://schemas.microsoft.com/office/drawing/2014/main" id="{C5BC4E5F-0179-4077-B7DE-75CF69EDB86B}"/>
              </a:ext>
            </a:extLst>
          </p:cNvPr>
          <p:cNvSpPr>
            <a:spLocks noGrp="1"/>
          </p:cNvSpPr>
          <p:nvPr/>
        </p:nvSpPr>
        <p:spPr>
          <a:xfrm>
            <a:off x="5905500" y="3705225"/>
            <a:ext cx="457200" cy="457200"/>
          </a:xfrm>
          <a:prstGeom prst="ellipse">
            <a:avLst/>
          </a:prstGeom>
          <a:solidFill>
            <a:srgbClr val="3D8DFF"/>
          </a:solidFill>
          <a:ln w="0">
            <a:noFill/>
            <a:prstDash val="solid"/>
          </a:ln>
        </p:spPr>
        <p:txBody>
          <a:bodyPr/>
          <a:lstStyle/>
          <a:p>
            <a:endParaRPr lang="en-IN"/>
          </a:p>
        </p:txBody>
      </p:sp>
      <p:sp>
        <p:nvSpPr>
          <p:cNvPr id="19" name="Rectangle 18">
            <a:extLst>
              <a:ext uri="{FF2B5EF4-FFF2-40B4-BE49-F238E27FC236}">
                <a16:creationId xmlns:a16="http://schemas.microsoft.com/office/drawing/2014/main" id="{38DA373F-9F7F-4DE2-9756-B9FBA70BAD9E}"/>
              </a:ext>
            </a:extLst>
          </p:cNvPr>
          <p:cNvSpPr>
            <a:spLocks noGrp="1"/>
          </p:cNvSpPr>
          <p:nvPr/>
        </p:nvSpPr>
        <p:spPr>
          <a:xfrm>
            <a:off x="5905500" y="3790950"/>
            <a:ext cx="457200" cy="266700"/>
          </a:xfrm>
          <a:prstGeom prst="rect">
            <a:avLst/>
          </a:prstGeom>
          <a:noFill/>
          <a:ln w="0">
            <a:noFill/>
            <a:prstDash val="solid"/>
          </a:ln>
        </p:spPr>
        <p:txBody>
          <a:bodyPr wrap="square" lIns="0" tIns="0" rIns="0" bIns="0" anchor="t">
            <a:normAutofit/>
          </a:bodyPr>
          <a:lstStyle/>
          <a:p>
            <a:pPr algn="ctr">
              <a:lnSpc>
                <a:spcPct val="102000"/>
              </a:lnSpc>
              <a:buNone/>
              <a:defRPr sz="1500" b="1">
                <a:solidFill>
                  <a:srgbClr val="F4F7FB"/>
                </a:solidFill>
                <a:latin typeface="Aptos"/>
                <a:ea typeface="Aptos"/>
                <a:cs typeface="Aptos"/>
              </a:defRPr>
            </a:pPr>
            <a:r>
              <a:rPr sz="1500" b="1">
                <a:solidFill>
                  <a:srgbClr val="F4F7FB"/>
                </a:solidFill>
                <a:latin typeface="Aptos"/>
                <a:ea typeface="Aptos"/>
                <a:cs typeface="Aptos"/>
              </a:rPr>
              <a:t>3</a:t>
            </a:r>
          </a:p>
        </p:txBody>
      </p:sp>
      <p:sp>
        <p:nvSpPr>
          <p:cNvPr id="20" name="Rectangle 19">
            <a:extLst>
              <a:ext uri="{FF2B5EF4-FFF2-40B4-BE49-F238E27FC236}">
                <a16:creationId xmlns:a16="http://schemas.microsoft.com/office/drawing/2014/main" id="{C245FF8F-90B6-4A6F-BE60-A699BA19BB58}"/>
              </a:ext>
            </a:extLst>
          </p:cNvPr>
          <p:cNvSpPr>
            <a:spLocks noGrp="1"/>
          </p:cNvSpPr>
          <p:nvPr/>
        </p:nvSpPr>
        <p:spPr>
          <a:xfrm>
            <a:off x="6572250" y="3686175"/>
            <a:ext cx="4667250" cy="276225"/>
          </a:xfrm>
          <a:prstGeom prst="rect">
            <a:avLst/>
          </a:prstGeom>
          <a:noFill/>
          <a:ln w="0">
            <a:noFill/>
            <a:prstDash val="solid"/>
          </a:ln>
        </p:spPr>
        <p:txBody>
          <a:bodyPr wrap="square" lIns="0" tIns="0" rIns="0" bIns="0" anchor="t">
            <a:normAutofit/>
          </a:bodyPr>
          <a:lstStyle/>
          <a:p>
            <a:pPr algn="l">
              <a:lnSpc>
                <a:spcPct val="102000"/>
              </a:lnSpc>
              <a:buNone/>
              <a:defRPr sz="1650" b="1">
                <a:solidFill>
                  <a:srgbClr val="F4F7FB"/>
                </a:solidFill>
                <a:latin typeface="Aptos"/>
                <a:ea typeface="Aptos"/>
                <a:cs typeface="Aptos"/>
              </a:defRPr>
            </a:pPr>
            <a:r>
              <a:rPr sz="1650" b="1">
                <a:solidFill>
                  <a:srgbClr val="F4F7FB"/>
                </a:solidFill>
                <a:latin typeface="Aptos"/>
                <a:ea typeface="Aptos"/>
                <a:cs typeface="Aptos"/>
              </a:rPr>
              <a:t>Receive</a:t>
            </a:r>
          </a:p>
        </p:txBody>
      </p:sp>
      <p:sp>
        <p:nvSpPr>
          <p:cNvPr id="21" name="Rectangle 20">
            <a:extLst>
              <a:ext uri="{FF2B5EF4-FFF2-40B4-BE49-F238E27FC236}">
                <a16:creationId xmlns:a16="http://schemas.microsoft.com/office/drawing/2014/main" id="{BEDE283E-8C98-4685-A689-819F417F1D9B}"/>
              </a:ext>
            </a:extLst>
          </p:cNvPr>
          <p:cNvSpPr>
            <a:spLocks noGrp="1"/>
          </p:cNvSpPr>
          <p:nvPr/>
        </p:nvSpPr>
        <p:spPr>
          <a:xfrm>
            <a:off x="6572250" y="4000500"/>
            <a:ext cx="4667250" cy="428625"/>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99A6B8"/>
                </a:solidFill>
                <a:latin typeface="Aptos"/>
                <a:ea typeface="Aptos"/>
                <a:cs typeface="Aptos"/>
              </a:defRPr>
            </a:pPr>
            <a:r>
              <a:rPr sz="1275" b="0">
                <a:solidFill>
                  <a:srgbClr val="99A6B8"/>
                </a:solidFill>
                <a:latin typeface="Aptos"/>
                <a:ea typeface="Aptos"/>
                <a:cs typeface="Aptos"/>
              </a:rPr>
              <a:t>Verify request/session; execute only the permitted service.</a:t>
            </a:r>
          </a:p>
        </p:txBody>
      </p:sp>
      <p:sp>
        <p:nvSpPr>
          <p:cNvPr id="22" name="Oval 21">
            <a:extLst>
              <a:ext uri="{FF2B5EF4-FFF2-40B4-BE49-F238E27FC236}">
                <a16:creationId xmlns:a16="http://schemas.microsoft.com/office/drawing/2014/main" id="{E5E0C8DC-CB75-4936-B66D-8E767F1CE772}"/>
              </a:ext>
            </a:extLst>
          </p:cNvPr>
          <p:cNvSpPr>
            <a:spLocks noGrp="1"/>
          </p:cNvSpPr>
          <p:nvPr/>
        </p:nvSpPr>
        <p:spPr>
          <a:xfrm>
            <a:off x="5905500" y="4686300"/>
            <a:ext cx="457200" cy="457200"/>
          </a:xfrm>
          <a:prstGeom prst="ellipse">
            <a:avLst/>
          </a:prstGeom>
          <a:solidFill>
            <a:srgbClr val="38E09F"/>
          </a:solidFill>
          <a:ln w="0">
            <a:noFill/>
            <a:prstDash val="solid"/>
          </a:ln>
        </p:spPr>
        <p:txBody>
          <a:bodyPr/>
          <a:lstStyle/>
          <a:p>
            <a:endParaRPr lang="en-IN"/>
          </a:p>
        </p:txBody>
      </p:sp>
      <p:sp>
        <p:nvSpPr>
          <p:cNvPr id="23" name="Rectangle 22">
            <a:extLst>
              <a:ext uri="{FF2B5EF4-FFF2-40B4-BE49-F238E27FC236}">
                <a16:creationId xmlns:a16="http://schemas.microsoft.com/office/drawing/2014/main" id="{48D4ABF2-9913-40CE-BEDE-3DE2C98DD7FA}"/>
              </a:ext>
            </a:extLst>
          </p:cNvPr>
          <p:cNvSpPr>
            <a:spLocks noGrp="1"/>
          </p:cNvSpPr>
          <p:nvPr/>
        </p:nvSpPr>
        <p:spPr>
          <a:xfrm>
            <a:off x="5905500" y="4772025"/>
            <a:ext cx="457200" cy="266700"/>
          </a:xfrm>
          <a:prstGeom prst="rect">
            <a:avLst/>
          </a:prstGeom>
          <a:noFill/>
          <a:ln w="0">
            <a:noFill/>
            <a:prstDash val="solid"/>
          </a:ln>
        </p:spPr>
        <p:txBody>
          <a:bodyPr wrap="square" lIns="0" tIns="0" rIns="0" bIns="0" anchor="t">
            <a:normAutofit/>
          </a:bodyPr>
          <a:lstStyle/>
          <a:p>
            <a:pPr algn="ctr">
              <a:lnSpc>
                <a:spcPct val="102000"/>
              </a:lnSpc>
              <a:buNone/>
              <a:defRPr sz="1500" b="1">
                <a:solidFill>
                  <a:srgbClr val="F4F7FB"/>
                </a:solidFill>
                <a:latin typeface="Aptos"/>
                <a:ea typeface="Aptos"/>
                <a:cs typeface="Aptos"/>
              </a:defRPr>
            </a:pPr>
            <a:r>
              <a:rPr sz="1500" b="1">
                <a:solidFill>
                  <a:srgbClr val="F4F7FB"/>
                </a:solidFill>
                <a:latin typeface="Aptos"/>
                <a:ea typeface="Aptos"/>
                <a:cs typeface="Aptos"/>
              </a:rPr>
              <a:t>4</a:t>
            </a:r>
          </a:p>
        </p:txBody>
      </p:sp>
      <p:sp>
        <p:nvSpPr>
          <p:cNvPr id="24" name="Rectangle 23">
            <a:extLst>
              <a:ext uri="{FF2B5EF4-FFF2-40B4-BE49-F238E27FC236}">
                <a16:creationId xmlns:a16="http://schemas.microsoft.com/office/drawing/2014/main" id="{2457DCCF-F086-4F75-BF19-94497912E5A9}"/>
              </a:ext>
            </a:extLst>
          </p:cNvPr>
          <p:cNvSpPr>
            <a:spLocks noGrp="1"/>
          </p:cNvSpPr>
          <p:nvPr/>
        </p:nvSpPr>
        <p:spPr>
          <a:xfrm>
            <a:off x="6572250" y="4667250"/>
            <a:ext cx="4667250" cy="276225"/>
          </a:xfrm>
          <a:prstGeom prst="rect">
            <a:avLst/>
          </a:prstGeom>
          <a:noFill/>
          <a:ln w="0">
            <a:noFill/>
            <a:prstDash val="solid"/>
          </a:ln>
        </p:spPr>
        <p:txBody>
          <a:bodyPr wrap="square" lIns="0" tIns="0" rIns="0" bIns="0" anchor="t">
            <a:normAutofit/>
          </a:bodyPr>
          <a:lstStyle/>
          <a:p>
            <a:pPr algn="l">
              <a:lnSpc>
                <a:spcPct val="102000"/>
              </a:lnSpc>
              <a:buNone/>
              <a:defRPr sz="1650" b="1">
                <a:solidFill>
                  <a:srgbClr val="F4F7FB"/>
                </a:solidFill>
                <a:latin typeface="Aptos"/>
                <a:ea typeface="Aptos"/>
                <a:cs typeface="Aptos"/>
              </a:defRPr>
            </a:pPr>
            <a:r>
              <a:rPr sz="1650" b="1">
                <a:solidFill>
                  <a:srgbClr val="F4F7FB"/>
                </a:solidFill>
                <a:latin typeface="Aptos"/>
                <a:ea typeface="Aptos"/>
                <a:cs typeface="Aptos"/>
              </a:rPr>
              <a:t>Reconcile</a:t>
            </a:r>
          </a:p>
        </p:txBody>
      </p:sp>
      <p:sp>
        <p:nvSpPr>
          <p:cNvPr id="25" name="Rectangle 24">
            <a:extLst>
              <a:ext uri="{FF2B5EF4-FFF2-40B4-BE49-F238E27FC236}">
                <a16:creationId xmlns:a16="http://schemas.microsoft.com/office/drawing/2014/main" id="{902C54EE-743B-4D5D-88E1-02583FF140B0}"/>
              </a:ext>
            </a:extLst>
          </p:cNvPr>
          <p:cNvSpPr>
            <a:spLocks noGrp="1"/>
          </p:cNvSpPr>
          <p:nvPr/>
        </p:nvSpPr>
        <p:spPr>
          <a:xfrm>
            <a:off x="6572250" y="4981575"/>
            <a:ext cx="4667250" cy="428625"/>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99A6B8"/>
                </a:solidFill>
                <a:latin typeface="Aptos"/>
                <a:ea typeface="Aptos"/>
                <a:cs typeface="Aptos"/>
              </a:defRPr>
            </a:pPr>
            <a:r>
              <a:rPr sz="1275" b="0">
                <a:solidFill>
                  <a:srgbClr val="99A6B8"/>
                </a:solidFill>
                <a:latin typeface="Aptos"/>
                <a:ea typeface="Aptos"/>
                <a:cs typeface="Aptos"/>
              </a:rPr>
              <a:t>Bind delivery to Circle payment proof and PayPilot receipt.</a:t>
            </a:r>
          </a:p>
        </p:txBody>
      </p:sp>
      <p:sp>
        <p:nvSpPr>
          <p:cNvPr id="26" name="Rectangle 25">
            <a:extLst>
              <a:ext uri="{FF2B5EF4-FFF2-40B4-BE49-F238E27FC236}">
                <a16:creationId xmlns:a16="http://schemas.microsoft.com/office/drawing/2014/main" id="{A175FA15-A722-4697-B217-E26C4FC0B1DF}"/>
              </a:ext>
            </a:extLst>
          </p:cNvPr>
          <p:cNvSpPr>
            <a:spLocks noGrp="1"/>
          </p:cNvSpPr>
          <p:nvPr/>
        </p:nvSpPr>
        <p:spPr>
          <a:xfrm>
            <a:off x="5905500" y="5715000"/>
            <a:ext cx="5334000" cy="342900"/>
          </a:xfrm>
          <a:prstGeom prst="rect">
            <a:avLst/>
          </a:prstGeom>
          <a:solidFill>
            <a:srgbClr val="111827"/>
          </a:solidFill>
          <a:ln w="0">
            <a:noFill/>
            <a:prstDash val="solid"/>
          </a:ln>
        </p:spPr>
        <p:txBody>
          <a:bodyPr/>
          <a:lstStyle/>
          <a:p>
            <a:endParaRPr lang="en-IN"/>
          </a:p>
        </p:txBody>
      </p:sp>
      <p:sp>
        <p:nvSpPr>
          <p:cNvPr id="27" name="Rectangle 26">
            <a:extLst>
              <a:ext uri="{FF2B5EF4-FFF2-40B4-BE49-F238E27FC236}">
                <a16:creationId xmlns:a16="http://schemas.microsoft.com/office/drawing/2014/main" id="{B0170427-51E2-40FB-9862-CF98E95DBC7A}"/>
              </a:ext>
            </a:extLst>
          </p:cNvPr>
          <p:cNvSpPr>
            <a:spLocks noGrp="1"/>
          </p:cNvSpPr>
          <p:nvPr/>
        </p:nvSpPr>
        <p:spPr>
          <a:xfrm>
            <a:off x="6076950" y="5800725"/>
            <a:ext cx="4991100" cy="180975"/>
          </a:xfrm>
          <a:prstGeom prst="rect">
            <a:avLst/>
          </a:prstGeom>
          <a:noFill/>
          <a:ln w="0">
            <a:noFill/>
            <a:prstDash val="solid"/>
          </a:ln>
        </p:spPr>
        <p:txBody>
          <a:bodyPr wrap="square" lIns="0" tIns="0" rIns="0" bIns="0" anchor="t">
            <a:normAutofit fontScale="95384"/>
          </a:bodyPr>
          <a:lstStyle/>
          <a:p>
            <a:pPr algn="ctr">
              <a:lnSpc>
                <a:spcPct val="102000"/>
              </a:lnSpc>
              <a:buNone/>
              <a:defRPr sz="1200" b="1">
                <a:solidFill>
                  <a:srgbClr val="FFB454"/>
                </a:solidFill>
                <a:latin typeface="Aptos"/>
                <a:ea typeface="Aptos"/>
                <a:cs typeface="Aptos"/>
              </a:defRPr>
            </a:pPr>
            <a:r>
              <a:rPr sz="1200" b="1">
                <a:solidFill>
                  <a:srgbClr val="FFB454"/>
                </a:solidFill>
                <a:latin typeface="Aptos"/>
                <a:ea typeface="Aptos"/>
                <a:cs typeface="Aptos"/>
              </a:rPr>
              <a:t>New businesses never receive wallet keys or permission to alter user policy.</a:t>
            </a:r>
          </a:p>
        </p:txBody>
      </p:sp>
    </p:spTree>
    <p:extLst>
      <p:ext uri="{BB962C8B-B14F-4D97-AF65-F5344CB8AC3E}">
        <p14:creationId xmlns:p14="http://schemas.microsoft.com/office/powerpoint/2010/main" val="843658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A0F"/>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BB03EFEC-B705-49ED-9637-C8D726A0BB87}"/>
              </a:ext>
            </a:extLst>
          </p:cNvPr>
          <p:cNvSpPr>
            <a:spLocks noGrp="1"/>
          </p:cNvSpPr>
          <p:nvPr/>
        </p:nvSpPr>
        <p:spPr>
          <a:xfrm>
            <a:off x="457200" y="209550"/>
            <a:ext cx="4953000" cy="1905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5BE7FF"/>
                </a:solidFill>
                <a:latin typeface="Aptos"/>
                <a:ea typeface="Aptos"/>
                <a:cs typeface="Aptos"/>
              </a:defRPr>
            </a:pPr>
            <a:r>
              <a:rPr sz="1050" b="1">
                <a:solidFill>
                  <a:srgbClr val="5BE7FF"/>
                </a:solidFill>
                <a:latin typeface="Aptos"/>
                <a:ea typeface="Aptos"/>
                <a:cs typeface="Aptos"/>
              </a:rPr>
              <a:t>TARGET ARCHITECTURE</a:t>
            </a:r>
          </a:p>
        </p:txBody>
      </p:sp>
      <p:sp>
        <p:nvSpPr>
          <p:cNvPr id="2" name="Rectangle 1">
            <a:extLst>
              <a:ext uri="{FF2B5EF4-FFF2-40B4-BE49-F238E27FC236}">
                <a16:creationId xmlns:a16="http://schemas.microsoft.com/office/drawing/2014/main" id="{7DAA7AB5-2008-4206-BFD2-F23B8057122D}"/>
              </a:ext>
            </a:extLst>
          </p:cNvPr>
          <p:cNvSpPr>
            <a:spLocks noGrp="1"/>
          </p:cNvSpPr>
          <p:nvPr/>
        </p:nvSpPr>
        <p:spPr>
          <a:xfrm>
            <a:off x="457200" y="514350"/>
            <a:ext cx="11239500" cy="762000"/>
          </a:xfrm>
          <a:prstGeom prst="rect">
            <a:avLst/>
          </a:prstGeom>
          <a:noFill/>
          <a:ln w="0">
            <a:noFill/>
            <a:prstDash val="solid"/>
          </a:ln>
        </p:spPr>
        <p:txBody>
          <a:bodyPr wrap="square" lIns="0" tIns="0" rIns="0" bIns="0" anchor="t">
            <a:noAutofit/>
          </a:bodyPr>
          <a:lstStyle/>
          <a:p>
            <a:pPr algn="l">
              <a:lnSpc>
                <a:spcPct val="94000"/>
              </a:lnSpc>
              <a:buNone/>
              <a:defRPr sz="3000" b="1">
                <a:solidFill>
                  <a:srgbClr val="F4F7FB"/>
                </a:solidFill>
                <a:latin typeface="Aptos"/>
                <a:ea typeface="Aptos"/>
                <a:cs typeface="Aptos"/>
              </a:defRPr>
            </a:pPr>
            <a:r>
              <a:rPr sz="3000" b="1">
                <a:solidFill>
                  <a:srgbClr val="F4F7FB"/>
                </a:solidFill>
                <a:latin typeface="Aptos"/>
                <a:ea typeface="Aptos"/>
                <a:cs typeface="Aptos"/>
              </a:rPr>
              <a:t>AI plans. PayPilot governs. Circle moves USDC. The chain proves it.</a:t>
            </a:r>
          </a:p>
        </p:txBody>
      </p:sp>
      <p:sp>
        <p:nvSpPr>
          <p:cNvPr id="3" name="Straight Connector 2">
            <a:extLst>
              <a:ext uri="{FF2B5EF4-FFF2-40B4-BE49-F238E27FC236}">
                <a16:creationId xmlns:a16="http://schemas.microsoft.com/office/drawing/2014/main" id="{70DA208E-14C1-4CA5-A4D1-C41772FEF958}"/>
              </a:ext>
            </a:extLst>
          </p:cNvPr>
          <p:cNvSpPr>
            <a:spLocks noGrp="1"/>
          </p:cNvSpPr>
          <p:nvPr/>
        </p:nvSpPr>
        <p:spPr>
          <a:xfrm>
            <a:off x="457200" y="1371600"/>
            <a:ext cx="11277600" cy="0"/>
          </a:xfrm>
          <a:prstGeom prst="line">
            <a:avLst/>
          </a:prstGeom>
          <a:noFill/>
          <a:ln w="9525">
            <a:solidFill>
              <a:srgbClr val="2A3548"/>
            </a:solidFill>
            <a:prstDash val="solid"/>
          </a:ln>
        </p:spPr>
        <p:txBody>
          <a:bodyPr/>
          <a:lstStyle/>
          <a:p>
            <a:endParaRPr lang="en-IN"/>
          </a:p>
        </p:txBody>
      </p:sp>
      <p:sp>
        <p:nvSpPr>
          <p:cNvPr id="4" name="Rectangle 3">
            <a:extLst>
              <a:ext uri="{FF2B5EF4-FFF2-40B4-BE49-F238E27FC236}">
                <a16:creationId xmlns:a16="http://schemas.microsoft.com/office/drawing/2014/main" id="{B5F357A9-AF01-4537-A5A8-3B5E44AD099D}"/>
              </a:ext>
            </a:extLst>
          </p:cNvPr>
          <p:cNvSpPr>
            <a:spLocks noGrp="1"/>
          </p:cNvSpPr>
          <p:nvPr/>
        </p:nvSpPr>
        <p:spPr>
          <a:xfrm>
            <a:off x="457200" y="6457950"/>
            <a:ext cx="152400" cy="38100"/>
          </a:xfrm>
          <a:prstGeom prst="rect">
            <a:avLst/>
          </a:prstGeom>
          <a:solidFill>
            <a:srgbClr val="5BE7FF"/>
          </a:solidFill>
          <a:ln w="0">
            <a:noFill/>
            <a:prstDash val="solid"/>
          </a:ln>
        </p:spPr>
        <p:txBody>
          <a:bodyPr/>
          <a:lstStyle/>
          <a:p>
            <a:endParaRPr lang="en-IN"/>
          </a:p>
        </p:txBody>
      </p:sp>
      <p:sp>
        <p:nvSpPr>
          <p:cNvPr id="5" name="Rectangle 4">
            <a:extLst>
              <a:ext uri="{FF2B5EF4-FFF2-40B4-BE49-F238E27FC236}">
                <a16:creationId xmlns:a16="http://schemas.microsoft.com/office/drawing/2014/main" id="{932384FA-2DA1-425C-AE29-888CE3E320FA}"/>
              </a:ext>
            </a:extLst>
          </p:cNvPr>
          <p:cNvSpPr>
            <a:spLocks noGrp="1"/>
          </p:cNvSpPr>
          <p:nvPr/>
        </p:nvSpPr>
        <p:spPr>
          <a:xfrm>
            <a:off x="704850" y="6381750"/>
            <a:ext cx="1714500" cy="190500"/>
          </a:xfrm>
          <a:prstGeom prst="rect">
            <a:avLst/>
          </a:prstGeom>
          <a:noFill/>
          <a:ln w="0">
            <a:noFill/>
            <a:prstDash val="solid"/>
          </a:ln>
        </p:spPr>
        <p:txBody>
          <a:bodyPr wrap="square" lIns="0" tIns="0" rIns="0" bIns="0" anchor="t">
            <a:normAutofit/>
          </a:bodyPr>
          <a:lstStyle/>
          <a:p>
            <a:pPr algn="l">
              <a:lnSpc>
                <a:spcPct val="102000"/>
              </a:lnSpc>
              <a:buNone/>
              <a:defRPr sz="900" b="1">
                <a:solidFill>
                  <a:srgbClr val="99A6B8"/>
                </a:solidFill>
                <a:latin typeface="Aptos"/>
                <a:ea typeface="Aptos"/>
                <a:cs typeface="Aptos"/>
              </a:defRPr>
            </a:pPr>
            <a:r>
              <a:rPr sz="900" b="1">
                <a:solidFill>
                  <a:srgbClr val="99A6B8"/>
                </a:solidFill>
                <a:latin typeface="Aptos"/>
                <a:ea typeface="Aptos"/>
                <a:cs typeface="Aptos"/>
              </a:rPr>
              <a:t>PAYPILOT</a:t>
            </a:r>
          </a:p>
        </p:txBody>
      </p:sp>
      <p:sp>
        <p:nvSpPr>
          <p:cNvPr id="6" name="Rectangle 5">
            <a:extLst>
              <a:ext uri="{FF2B5EF4-FFF2-40B4-BE49-F238E27FC236}">
                <a16:creationId xmlns:a16="http://schemas.microsoft.com/office/drawing/2014/main" id="{4F1F3100-3EAD-4F09-8AA0-94955C9C344F}"/>
              </a:ext>
            </a:extLst>
          </p:cNvPr>
          <p:cNvSpPr>
            <a:spLocks noGrp="1"/>
          </p:cNvSpPr>
          <p:nvPr/>
        </p:nvSpPr>
        <p:spPr>
          <a:xfrm>
            <a:off x="11182350" y="6381750"/>
            <a:ext cx="552450" cy="190500"/>
          </a:xfrm>
          <a:prstGeom prst="rect">
            <a:avLst/>
          </a:prstGeom>
          <a:noFill/>
          <a:ln w="0">
            <a:noFill/>
            <a:prstDash val="solid"/>
          </a:ln>
        </p:spPr>
        <p:txBody>
          <a:bodyPr wrap="square" lIns="0" tIns="0" rIns="0" bIns="0" anchor="t">
            <a:normAutofit/>
          </a:bodyPr>
          <a:lstStyle/>
          <a:p>
            <a:pPr algn="r">
              <a:lnSpc>
                <a:spcPct val="102000"/>
              </a:lnSpc>
              <a:buNone/>
              <a:defRPr sz="975" b="0">
                <a:solidFill>
                  <a:srgbClr val="99A6B8"/>
                </a:solidFill>
                <a:latin typeface="Aptos"/>
                <a:ea typeface="Aptos"/>
                <a:cs typeface="Aptos"/>
              </a:defRPr>
            </a:pPr>
            <a:r>
              <a:rPr sz="975" b="0">
                <a:solidFill>
                  <a:srgbClr val="99A6B8"/>
                </a:solidFill>
                <a:latin typeface="Aptos"/>
                <a:ea typeface="Aptos"/>
                <a:cs typeface="Aptos"/>
              </a:rPr>
              <a:t>06</a:t>
            </a:r>
          </a:p>
        </p:txBody>
      </p:sp>
      <p:sp>
        <p:nvSpPr>
          <p:cNvPr id="7" name="Rectangle 6">
            <a:extLst>
              <a:ext uri="{FF2B5EF4-FFF2-40B4-BE49-F238E27FC236}">
                <a16:creationId xmlns:a16="http://schemas.microsoft.com/office/drawing/2014/main" id="{5F069F2E-E560-4182-A6CC-48A822FAD4DC}"/>
              </a:ext>
            </a:extLst>
          </p:cNvPr>
          <p:cNvSpPr>
            <a:spLocks noGrp="1"/>
          </p:cNvSpPr>
          <p:nvPr/>
        </p:nvSpPr>
        <p:spPr>
          <a:xfrm>
            <a:off x="457200" y="2457450"/>
            <a:ext cx="1581150" cy="1581150"/>
          </a:xfrm>
          <a:prstGeom prst="rect">
            <a:avLst/>
          </a:prstGeom>
          <a:solidFill>
            <a:srgbClr val="111827"/>
          </a:solidFill>
          <a:ln w="19050">
            <a:solidFill>
              <a:srgbClr val="5BE7FF"/>
            </a:solidFill>
            <a:prstDash val="solid"/>
          </a:ln>
        </p:spPr>
        <p:txBody>
          <a:bodyPr/>
          <a:lstStyle/>
          <a:p>
            <a:endParaRPr lang="en-IN"/>
          </a:p>
        </p:txBody>
      </p:sp>
      <p:sp>
        <p:nvSpPr>
          <p:cNvPr id="8" name="Rectangle 7">
            <a:extLst>
              <a:ext uri="{FF2B5EF4-FFF2-40B4-BE49-F238E27FC236}">
                <a16:creationId xmlns:a16="http://schemas.microsoft.com/office/drawing/2014/main" id="{4688D1CA-4DDF-4CAE-A94F-CBF517D373B7}"/>
              </a:ext>
            </a:extLst>
          </p:cNvPr>
          <p:cNvSpPr>
            <a:spLocks noGrp="1"/>
          </p:cNvSpPr>
          <p:nvPr/>
        </p:nvSpPr>
        <p:spPr>
          <a:xfrm>
            <a:off x="628650" y="2628900"/>
            <a:ext cx="323850" cy="219075"/>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5BE7FF"/>
                </a:solidFill>
                <a:latin typeface="Aptos"/>
                <a:ea typeface="Aptos"/>
                <a:cs typeface="Aptos"/>
              </a:defRPr>
            </a:pPr>
            <a:r>
              <a:rPr sz="1050" b="1">
                <a:solidFill>
                  <a:srgbClr val="5BE7FF"/>
                </a:solidFill>
                <a:latin typeface="Aptos"/>
                <a:ea typeface="Aptos"/>
                <a:cs typeface="Aptos"/>
              </a:rPr>
              <a:t>01</a:t>
            </a:r>
          </a:p>
        </p:txBody>
      </p:sp>
      <p:sp>
        <p:nvSpPr>
          <p:cNvPr id="9" name="Rectangle 8">
            <a:extLst>
              <a:ext uri="{FF2B5EF4-FFF2-40B4-BE49-F238E27FC236}">
                <a16:creationId xmlns:a16="http://schemas.microsoft.com/office/drawing/2014/main" id="{2E350581-1805-43F7-ADA1-EB59DADECC9B}"/>
              </a:ext>
            </a:extLst>
          </p:cNvPr>
          <p:cNvSpPr>
            <a:spLocks noGrp="1"/>
          </p:cNvSpPr>
          <p:nvPr/>
        </p:nvSpPr>
        <p:spPr>
          <a:xfrm>
            <a:off x="628650" y="3057525"/>
            <a:ext cx="1238250" cy="400050"/>
          </a:xfrm>
          <a:prstGeom prst="rect">
            <a:avLst/>
          </a:prstGeom>
          <a:noFill/>
          <a:ln w="0">
            <a:noFill/>
            <a:prstDash val="solid"/>
          </a:ln>
        </p:spPr>
        <p:txBody>
          <a:bodyPr wrap="square" lIns="0" tIns="0" rIns="0" bIns="0" anchor="t">
            <a:normAutofit/>
          </a:bodyPr>
          <a:lstStyle/>
          <a:p>
            <a:pPr algn="ctr">
              <a:lnSpc>
                <a:spcPct val="102000"/>
              </a:lnSpc>
              <a:buNone/>
              <a:defRPr sz="1650" b="1">
                <a:solidFill>
                  <a:srgbClr val="F4F7FB"/>
                </a:solidFill>
                <a:latin typeface="Aptos"/>
                <a:ea typeface="Aptos"/>
                <a:cs typeface="Aptos"/>
              </a:defRPr>
            </a:pPr>
            <a:r>
              <a:rPr sz="1650" b="1">
                <a:solidFill>
                  <a:srgbClr val="F4F7FB"/>
                </a:solidFill>
                <a:latin typeface="Aptos"/>
                <a:ea typeface="Aptos"/>
                <a:cs typeface="Aptos"/>
              </a:rPr>
              <a:t>User policy</a:t>
            </a:r>
          </a:p>
        </p:txBody>
      </p:sp>
      <p:sp>
        <p:nvSpPr>
          <p:cNvPr id="10" name="Rectangle 9">
            <a:extLst>
              <a:ext uri="{FF2B5EF4-FFF2-40B4-BE49-F238E27FC236}">
                <a16:creationId xmlns:a16="http://schemas.microsoft.com/office/drawing/2014/main" id="{36C10875-F0D6-4A32-AA6E-4F9C3178700C}"/>
              </a:ext>
            </a:extLst>
          </p:cNvPr>
          <p:cNvSpPr>
            <a:spLocks noGrp="1"/>
          </p:cNvSpPr>
          <p:nvPr/>
        </p:nvSpPr>
        <p:spPr>
          <a:xfrm>
            <a:off x="628650" y="3600450"/>
            <a:ext cx="1238250" cy="285750"/>
          </a:xfrm>
          <a:prstGeom prst="rect">
            <a:avLst/>
          </a:prstGeom>
          <a:noFill/>
          <a:ln w="0">
            <a:noFill/>
            <a:prstDash val="solid"/>
          </a:ln>
        </p:spPr>
        <p:txBody>
          <a:bodyPr wrap="square" lIns="0" tIns="0" rIns="0" bIns="0" anchor="t">
            <a:normAutofit fontScale="95677"/>
          </a:bodyPr>
          <a:lstStyle/>
          <a:p>
            <a:pPr algn="ctr">
              <a:lnSpc>
                <a:spcPct val="102000"/>
              </a:lnSpc>
              <a:buNone/>
              <a:defRPr sz="1125" b="0">
                <a:solidFill>
                  <a:srgbClr val="99A6B8"/>
                </a:solidFill>
                <a:latin typeface="Aptos"/>
                <a:ea typeface="Aptos"/>
                <a:cs typeface="Aptos"/>
              </a:defRPr>
            </a:pPr>
            <a:r>
              <a:rPr sz="1125" b="0">
                <a:solidFill>
                  <a:srgbClr val="99A6B8"/>
                </a:solidFill>
                <a:latin typeface="Aptos"/>
                <a:ea typeface="Aptos"/>
                <a:cs typeface="Aptos"/>
              </a:rPr>
              <a:t>Cap • allowlist • time</a:t>
            </a:r>
          </a:p>
        </p:txBody>
      </p:sp>
      <p:sp>
        <p:nvSpPr>
          <p:cNvPr id="11" name="Rectangle 10">
            <a:extLst>
              <a:ext uri="{FF2B5EF4-FFF2-40B4-BE49-F238E27FC236}">
                <a16:creationId xmlns:a16="http://schemas.microsoft.com/office/drawing/2014/main" id="{226B4FD8-95FD-419E-AC17-C78B8B690750}"/>
              </a:ext>
            </a:extLst>
          </p:cNvPr>
          <p:cNvSpPr>
            <a:spLocks noGrp="1"/>
          </p:cNvSpPr>
          <p:nvPr/>
        </p:nvSpPr>
        <p:spPr>
          <a:xfrm>
            <a:off x="2343150" y="2457450"/>
            <a:ext cx="1581150" cy="1581150"/>
          </a:xfrm>
          <a:prstGeom prst="rect">
            <a:avLst/>
          </a:prstGeom>
          <a:solidFill>
            <a:srgbClr val="111827"/>
          </a:solidFill>
          <a:ln w="19050">
            <a:solidFill>
              <a:srgbClr val="B29CFF"/>
            </a:solidFill>
            <a:prstDash val="solid"/>
          </a:ln>
        </p:spPr>
        <p:txBody>
          <a:bodyPr/>
          <a:lstStyle/>
          <a:p>
            <a:endParaRPr lang="en-IN"/>
          </a:p>
        </p:txBody>
      </p:sp>
      <p:sp>
        <p:nvSpPr>
          <p:cNvPr id="12" name="Rectangle 11">
            <a:extLst>
              <a:ext uri="{FF2B5EF4-FFF2-40B4-BE49-F238E27FC236}">
                <a16:creationId xmlns:a16="http://schemas.microsoft.com/office/drawing/2014/main" id="{9A4EFEDE-284C-407C-A81E-64BD0327E93C}"/>
              </a:ext>
            </a:extLst>
          </p:cNvPr>
          <p:cNvSpPr>
            <a:spLocks noGrp="1"/>
          </p:cNvSpPr>
          <p:nvPr/>
        </p:nvSpPr>
        <p:spPr>
          <a:xfrm>
            <a:off x="2514600" y="2628900"/>
            <a:ext cx="323850" cy="219075"/>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B29CFF"/>
                </a:solidFill>
                <a:latin typeface="Aptos"/>
                <a:ea typeface="Aptos"/>
                <a:cs typeface="Aptos"/>
              </a:defRPr>
            </a:pPr>
            <a:r>
              <a:rPr sz="1050" b="1">
                <a:solidFill>
                  <a:srgbClr val="B29CFF"/>
                </a:solidFill>
                <a:latin typeface="Aptos"/>
                <a:ea typeface="Aptos"/>
                <a:cs typeface="Aptos"/>
              </a:rPr>
              <a:t>02</a:t>
            </a:r>
          </a:p>
        </p:txBody>
      </p:sp>
      <p:sp>
        <p:nvSpPr>
          <p:cNvPr id="13" name="Rectangle 12">
            <a:extLst>
              <a:ext uri="{FF2B5EF4-FFF2-40B4-BE49-F238E27FC236}">
                <a16:creationId xmlns:a16="http://schemas.microsoft.com/office/drawing/2014/main" id="{056D1181-2E31-483B-81C6-78D962A9B054}"/>
              </a:ext>
            </a:extLst>
          </p:cNvPr>
          <p:cNvSpPr>
            <a:spLocks noGrp="1"/>
          </p:cNvSpPr>
          <p:nvPr/>
        </p:nvSpPr>
        <p:spPr>
          <a:xfrm>
            <a:off x="2514600" y="3057525"/>
            <a:ext cx="1238250" cy="400050"/>
          </a:xfrm>
          <a:prstGeom prst="rect">
            <a:avLst/>
          </a:prstGeom>
          <a:noFill/>
          <a:ln w="0">
            <a:noFill/>
            <a:prstDash val="solid"/>
          </a:ln>
        </p:spPr>
        <p:txBody>
          <a:bodyPr wrap="square" lIns="0" tIns="0" rIns="0" bIns="0" anchor="t">
            <a:normAutofit/>
          </a:bodyPr>
          <a:lstStyle/>
          <a:p>
            <a:pPr algn="ctr">
              <a:lnSpc>
                <a:spcPct val="102000"/>
              </a:lnSpc>
              <a:buNone/>
              <a:defRPr sz="1650" b="1">
                <a:solidFill>
                  <a:srgbClr val="F4F7FB"/>
                </a:solidFill>
                <a:latin typeface="Aptos"/>
                <a:ea typeface="Aptos"/>
                <a:cs typeface="Aptos"/>
              </a:defRPr>
            </a:pPr>
            <a:r>
              <a:rPr sz="1650" b="1">
                <a:solidFill>
                  <a:srgbClr val="F4F7FB"/>
                </a:solidFill>
                <a:latin typeface="Aptos"/>
                <a:ea typeface="Aptos"/>
                <a:cs typeface="Aptos"/>
              </a:rPr>
              <a:t>AI planner</a:t>
            </a:r>
          </a:p>
        </p:txBody>
      </p:sp>
      <p:sp>
        <p:nvSpPr>
          <p:cNvPr id="14" name="Rectangle 13">
            <a:extLst>
              <a:ext uri="{FF2B5EF4-FFF2-40B4-BE49-F238E27FC236}">
                <a16:creationId xmlns:a16="http://schemas.microsoft.com/office/drawing/2014/main" id="{4391DC78-019E-48EF-8927-80B102B99D8A}"/>
              </a:ext>
            </a:extLst>
          </p:cNvPr>
          <p:cNvSpPr>
            <a:spLocks noGrp="1"/>
          </p:cNvSpPr>
          <p:nvPr/>
        </p:nvSpPr>
        <p:spPr>
          <a:xfrm>
            <a:off x="2514600" y="3600450"/>
            <a:ext cx="1238250" cy="285750"/>
          </a:xfrm>
          <a:prstGeom prst="rect">
            <a:avLst/>
          </a:prstGeom>
          <a:noFill/>
          <a:ln w="0">
            <a:noFill/>
            <a:prstDash val="solid"/>
          </a:ln>
        </p:spPr>
        <p:txBody>
          <a:bodyPr wrap="square" lIns="0" tIns="0" rIns="0" bIns="0" anchor="t">
            <a:normAutofit fontScale="99710"/>
          </a:bodyPr>
          <a:lstStyle/>
          <a:p>
            <a:pPr algn="ctr">
              <a:lnSpc>
                <a:spcPct val="102000"/>
              </a:lnSpc>
              <a:buNone/>
              <a:defRPr sz="1125" b="0">
                <a:solidFill>
                  <a:srgbClr val="99A6B8"/>
                </a:solidFill>
                <a:latin typeface="Aptos"/>
                <a:ea typeface="Aptos"/>
                <a:cs typeface="Aptos"/>
              </a:defRPr>
            </a:pPr>
            <a:r>
              <a:rPr sz="1125" b="0">
                <a:solidFill>
                  <a:srgbClr val="99A6B8"/>
                </a:solidFill>
                <a:latin typeface="Aptos"/>
                <a:ea typeface="Aptos"/>
                <a:cs typeface="Aptos"/>
              </a:rPr>
              <a:t>Plan + tool selection</a:t>
            </a:r>
          </a:p>
        </p:txBody>
      </p:sp>
      <p:sp>
        <p:nvSpPr>
          <p:cNvPr id="15" name="Rectangle 14">
            <a:extLst>
              <a:ext uri="{FF2B5EF4-FFF2-40B4-BE49-F238E27FC236}">
                <a16:creationId xmlns:a16="http://schemas.microsoft.com/office/drawing/2014/main" id="{01628534-51B7-4C2F-A3D4-42EC458BA1AB}"/>
              </a:ext>
            </a:extLst>
          </p:cNvPr>
          <p:cNvSpPr>
            <a:spLocks noGrp="1"/>
          </p:cNvSpPr>
          <p:nvPr/>
        </p:nvSpPr>
        <p:spPr>
          <a:xfrm>
            <a:off x="4229100" y="2457450"/>
            <a:ext cx="1581150" cy="1581150"/>
          </a:xfrm>
          <a:prstGeom prst="rect">
            <a:avLst/>
          </a:prstGeom>
          <a:solidFill>
            <a:srgbClr val="111827"/>
          </a:solidFill>
          <a:ln w="19050">
            <a:solidFill>
              <a:srgbClr val="3D8DFF"/>
            </a:solidFill>
            <a:prstDash val="solid"/>
          </a:ln>
        </p:spPr>
        <p:txBody>
          <a:bodyPr/>
          <a:lstStyle/>
          <a:p>
            <a:endParaRPr lang="en-IN"/>
          </a:p>
        </p:txBody>
      </p:sp>
      <p:sp>
        <p:nvSpPr>
          <p:cNvPr id="16" name="Rectangle 15">
            <a:extLst>
              <a:ext uri="{FF2B5EF4-FFF2-40B4-BE49-F238E27FC236}">
                <a16:creationId xmlns:a16="http://schemas.microsoft.com/office/drawing/2014/main" id="{E691A7FC-C0A7-4BF9-B2C3-D7F62FCB3C6E}"/>
              </a:ext>
            </a:extLst>
          </p:cNvPr>
          <p:cNvSpPr>
            <a:spLocks noGrp="1"/>
          </p:cNvSpPr>
          <p:nvPr/>
        </p:nvSpPr>
        <p:spPr>
          <a:xfrm>
            <a:off x="4400550" y="2628900"/>
            <a:ext cx="323850" cy="219075"/>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3D8DFF"/>
                </a:solidFill>
                <a:latin typeface="Aptos"/>
                <a:ea typeface="Aptos"/>
                <a:cs typeface="Aptos"/>
              </a:defRPr>
            </a:pPr>
            <a:r>
              <a:rPr sz="1050" b="1">
                <a:solidFill>
                  <a:srgbClr val="3D8DFF"/>
                </a:solidFill>
                <a:latin typeface="Aptos"/>
                <a:ea typeface="Aptos"/>
                <a:cs typeface="Aptos"/>
              </a:rPr>
              <a:t>03</a:t>
            </a:r>
          </a:p>
        </p:txBody>
      </p:sp>
      <p:sp>
        <p:nvSpPr>
          <p:cNvPr id="17" name="Rectangle 16">
            <a:extLst>
              <a:ext uri="{FF2B5EF4-FFF2-40B4-BE49-F238E27FC236}">
                <a16:creationId xmlns:a16="http://schemas.microsoft.com/office/drawing/2014/main" id="{01B7F2FB-C196-4AFF-B1B6-A6851C2A5BC3}"/>
              </a:ext>
            </a:extLst>
          </p:cNvPr>
          <p:cNvSpPr>
            <a:spLocks noGrp="1"/>
          </p:cNvSpPr>
          <p:nvPr/>
        </p:nvSpPr>
        <p:spPr>
          <a:xfrm>
            <a:off x="4400550" y="3057525"/>
            <a:ext cx="1238250" cy="400050"/>
          </a:xfrm>
          <a:prstGeom prst="rect">
            <a:avLst/>
          </a:prstGeom>
          <a:noFill/>
          <a:ln w="0">
            <a:noFill/>
            <a:prstDash val="solid"/>
          </a:ln>
        </p:spPr>
        <p:txBody>
          <a:bodyPr wrap="square" lIns="0" tIns="0" rIns="0" bIns="0" anchor="t">
            <a:normAutofit/>
          </a:bodyPr>
          <a:lstStyle/>
          <a:p>
            <a:pPr algn="ctr">
              <a:lnSpc>
                <a:spcPct val="102000"/>
              </a:lnSpc>
              <a:buNone/>
              <a:defRPr sz="1650" b="1">
                <a:solidFill>
                  <a:srgbClr val="F4F7FB"/>
                </a:solidFill>
                <a:latin typeface="Aptos"/>
                <a:ea typeface="Aptos"/>
                <a:cs typeface="Aptos"/>
              </a:defRPr>
            </a:pPr>
            <a:r>
              <a:rPr sz="1650" b="1">
                <a:solidFill>
                  <a:srgbClr val="F4F7FB"/>
                </a:solidFill>
                <a:latin typeface="Aptos"/>
                <a:ea typeface="Aptos"/>
                <a:cs typeface="Aptos"/>
              </a:rPr>
              <a:t>PayPilot</a:t>
            </a:r>
          </a:p>
        </p:txBody>
      </p:sp>
      <p:sp>
        <p:nvSpPr>
          <p:cNvPr id="18" name="Rectangle 17">
            <a:extLst>
              <a:ext uri="{FF2B5EF4-FFF2-40B4-BE49-F238E27FC236}">
                <a16:creationId xmlns:a16="http://schemas.microsoft.com/office/drawing/2014/main" id="{6EA14DD7-0728-4568-9DB1-5B6A483EAF76}"/>
              </a:ext>
            </a:extLst>
          </p:cNvPr>
          <p:cNvSpPr>
            <a:spLocks noGrp="1"/>
          </p:cNvSpPr>
          <p:nvPr/>
        </p:nvSpPr>
        <p:spPr>
          <a:xfrm>
            <a:off x="4400550" y="3600450"/>
            <a:ext cx="1238250" cy="285750"/>
          </a:xfrm>
          <a:prstGeom prst="rect">
            <a:avLst/>
          </a:prstGeom>
          <a:noFill/>
          <a:ln w="0">
            <a:noFill/>
            <a:prstDash val="solid"/>
          </a:ln>
        </p:spPr>
        <p:txBody>
          <a:bodyPr wrap="square" lIns="0" tIns="0" rIns="0" bIns="0" anchor="t">
            <a:normAutofit/>
          </a:bodyPr>
          <a:lstStyle/>
          <a:p>
            <a:pPr algn="ctr">
              <a:lnSpc>
                <a:spcPct val="102000"/>
              </a:lnSpc>
              <a:buNone/>
              <a:defRPr sz="1125" b="0">
                <a:solidFill>
                  <a:srgbClr val="99A6B8"/>
                </a:solidFill>
                <a:latin typeface="Aptos"/>
                <a:ea typeface="Aptos"/>
                <a:cs typeface="Aptos"/>
              </a:defRPr>
            </a:pPr>
            <a:r>
              <a:rPr sz="1125" b="0">
                <a:solidFill>
                  <a:srgbClr val="99A6B8"/>
                </a:solidFill>
                <a:latin typeface="Aptos"/>
                <a:ea typeface="Aptos"/>
                <a:cs typeface="Aptos"/>
              </a:rPr>
              <a:t>Price • meter • state</a:t>
            </a:r>
          </a:p>
        </p:txBody>
      </p:sp>
      <p:sp>
        <p:nvSpPr>
          <p:cNvPr id="19" name="Rectangle 18">
            <a:extLst>
              <a:ext uri="{FF2B5EF4-FFF2-40B4-BE49-F238E27FC236}">
                <a16:creationId xmlns:a16="http://schemas.microsoft.com/office/drawing/2014/main" id="{7EC8634F-A453-4BAC-8FA1-5F8E729814AE}"/>
              </a:ext>
            </a:extLst>
          </p:cNvPr>
          <p:cNvSpPr>
            <a:spLocks noGrp="1"/>
          </p:cNvSpPr>
          <p:nvPr/>
        </p:nvSpPr>
        <p:spPr>
          <a:xfrm>
            <a:off x="6115050" y="2457450"/>
            <a:ext cx="1581150" cy="1581150"/>
          </a:xfrm>
          <a:prstGeom prst="rect">
            <a:avLst/>
          </a:prstGeom>
          <a:solidFill>
            <a:srgbClr val="111827"/>
          </a:solidFill>
          <a:ln w="19050">
            <a:solidFill>
              <a:srgbClr val="38E09F"/>
            </a:solidFill>
            <a:prstDash val="solid"/>
          </a:ln>
        </p:spPr>
        <p:txBody>
          <a:bodyPr/>
          <a:lstStyle/>
          <a:p>
            <a:endParaRPr lang="en-IN"/>
          </a:p>
        </p:txBody>
      </p:sp>
      <p:sp>
        <p:nvSpPr>
          <p:cNvPr id="20" name="Rectangle 19">
            <a:extLst>
              <a:ext uri="{FF2B5EF4-FFF2-40B4-BE49-F238E27FC236}">
                <a16:creationId xmlns:a16="http://schemas.microsoft.com/office/drawing/2014/main" id="{F995F4F5-1B39-4308-935A-96CF49010A52}"/>
              </a:ext>
            </a:extLst>
          </p:cNvPr>
          <p:cNvSpPr>
            <a:spLocks noGrp="1"/>
          </p:cNvSpPr>
          <p:nvPr/>
        </p:nvSpPr>
        <p:spPr>
          <a:xfrm>
            <a:off x="6286500" y="2628900"/>
            <a:ext cx="323850" cy="219075"/>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38E09F"/>
                </a:solidFill>
                <a:latin typeface="Aptos"/>
                <a:ea typeface="Aptos"/>
                <a:cs typeface="Aptos"/>
              </a:defRPr>
            </a:pPr>
            <a:r>
              <a:rPr sz="1050" b="1">
                <a:solidFill>
                  <a:srgbClr val="38E09F"/>
                </a:solidFill>
                <a:latin typeface="Aptos"/>
                <a:ea typeface="Aptos"/>
                <a:cs typeface="Aptos"/>
              </a:rPr>
              <a:t>04</a:t>
            </a:r>
          </a:p>
        </p:txBody>
      </p:sp>
      <p:sp>
        <p:nvSpPr>
          <p:cNvPr id="21" name="Rectangle 20">
            <a:extLst>
              <a:ext uri="{FF2B5EF4-FFF2-40B4-BE49-F238E27FC236}">
                <a16:creationId xmlns:a16="http://schemas.microsoft.com/office/drawing/2014/main" id="{919A20D8-1F5A-498D-AED2-FDF2B3E0BA9E}"/>
              </a:ext>
            </a:extLst>
          </p:cNvPr>
          <p:cNvSpPr>
            <a:spLocks noGrp="1"/>
          </p:cNvSpPr>
          <p:nvPr/>
        </p:nvSpPr>
        <p:spPr>
          <a:xfrm>
            <a:off x="6286500" y="3057525"/>
            <a:ext cx="1238250" cy="400050"/>
          </a:xfrm>
          <a:prstGeom prst="rect">
            <a:avLst/>
          </a:prstGeom>
          <a:noFill/>
          <a:ln w="0">
            <a:noFill/>
            <a:prstDash val="solid"/>
          </a:ln>
        </p:spPr>
        <p:txBody>
          <a:bodyPr wrap="square" lIns="0" tIns="0" rIns="0" bIns="0" anchor="t">
            <a:normAutofit/>
          </a:bodyPr>
          <a:lstStyle/>
          <a:p>
            <a:pPr algn="ctr">
              <a:lnSpc>
                <a:spcPct val="102000"/>
              </a:lnSpc>
              <a:buNone/>
              <a:defRPr sz="1650" b="1">
                <a:solidFill>
                  <a:srgbClr val="F4F7FB"/>
                </a:solidFill>
                <a:latin typeface="Aptos"/>
                <a:ea typeface="Aptos"/>
                <a:cs typeface="Aptos"/>
              </a:defRPr>
            </a:pPr>
            <a:r>
              <a:rPr sz="1650" b="1">
                <a:solidFill>
                  <a:srgbClr val="F4F7FB"/>
                </a:solidFill>
                <a:latin typeface="Aptos"/>
                <a:ea typeface="Aptos"/>
                <a:cs typeface="Aptos"/>
              </a:rPr>
              <a:t>Circle Wallet</a:t>
            </a:r>
          </a:p>
        </p:txBody>
      </p:sp>
      <p:sp>
        <p:nvSpPr>
          <p:cNvPr id="22" name="Rectangle 21">
            <a:extLst>
              <a:ext uri="{FF2B5EF4-FFF2-40B4-BE49-F238E27FC236}">
                <a16:creationId xmlns:a16="http://schemas.microsoft.com/office/drawing/2014/main" id="{A3AD6DBA-60EE-4555-94E2-D6608C550BAF}"/>
              </a:ext>
            </a:extLst>
          </p:cNvPr>
          <p:cNvSpPr>
            <a:spLocks noGrp="1"/>
          </p:cNvSpPr>
          <p:nvPr/>
        </p:nvSpPr>
        <p:spPr>
          <a:xfrm>
            <a:off x="6286500" y="3600450"/>
            <a:ext cx="1238250" cy="285750"/>
          </a:xfrm>
          <a:prstGeom prst="rect">
            <a:avLst/>
          </a:prstGeom>
          <a:noFill/>
          <a:ln w="0">
            <a:noFill/>
            <a:prstDash val="solid"/>
          </a:ln>
        </p:spPr>
        <p:txBody>
          <a:bodyPr wrap="square" lIns="0" tIns="0" rIns="0" bIns="0" anchor="t">
            <a:normAutofit fontScale="81699"/>
          </a:bodyPr>
          <a:lstStyle/>
          <a:p>
            <a:pPr algn="ctr">
              <a:lnSpc>
                <a:spcPct val="102000"/>
              </a:lnSpc>
              <a:buNone/>
              <a:defRPr sz="1125" b="0">
                <a:solidFill>
                  <a:srgbClr val="99A6B8"/>
                </a:solidFill>
                <a:latin typeface="Aptos"/>
                <a:ea typeface="Aptos"/>
                <a:cs typeface="Aptos"/>
              </a:defRPr>
            </a:pPr>
            <a:r>
              <a:rPr sz="1125" b="0">
                <a:solidFill>
                  <a:srgbClr val="99A6B8"/>
                </a:solidFill>
                <a:latin typeface="Aptos"/>
                <a:ea typeface="Aptos"/>
                <a:cs typeface="Aptos"/>
              </a:rPr>
              <a:t>On-chain policy boundary</a:t>
            </a:r>
          </a:p>
        </p:txBody>
      </p:sp>
      <p:sp>
        <p:nvSpPr>
          <p:cNvPr id="23" name="Rectangle 22">
            <a:extLst>
              <a:ext uri="{FF2B5EF4-FFF2-40B4-BE49-F238E27FC236}">
                <a16:creationId xmlns:a16="http://schemas.microsoft.com/office/drawing/2014/main" id="{040AC881-6320-4429-8525-220AE569331F}"/>
              </a:ext>
            </a:extLst>
          </p:cNvPr>
          <p:cNvSpPr>
            <a:spLocks noGrp="1"/>
          </p:cNvSpPr>
          <p:nvPr/>
        </p:nvSpPr>
        <p:spPr>
          <a:xfrm>
            <a:off x="8001000" y="2457450"/>
            <a:ext cx="1581150" cy="1581150"/>
          </a:xfrm>
          <a:prstGeom prst="rect">
            <a:avLst/>
          </a:prstGeom>
          <a:solidFill>
            <a:srgbClr val="111827"/>
          </a:solidFill>
          <a:ln w="19050">
            <a:solidFill>
              <a:srgbClr val="FFB454"/>
            </a:solidFill>
            <a:prstDash val="solid"/>
          </a:ln>
        </p:spPr>
        <p:txBody>
          <a:bodyPr/>
          <a:lstStyle/>
          <a:p>
            <a:endParaRPr lang="en-IN"/>
          </a:p>
        </p:txBody>
      </p:sp>
      <p:sp>
        <p:nvSpPr>
          <p:cNvPr id="24" name="Rectangle 23">
            <a:extLst>
              <a:ext uri="{FF2B5EF4-FFF2-40B4-BE49-F238E27FC236}">
                <a16:creationId xmlns:a16="http://schemas.microsoft.com/office/drawing/2014/main" id="{EF9CD6A2-B715-4BCB-9E20-DDCC6C1E876E}"/>
              </a:ext>
            </a:extLst>
          </p:cNvPr>
          <p:cNvSpPr>
            <a:spLocks noGrp="1"/>
          </p:cNvSpPr>
          <p:nvPr/>
        </p:nvSpPr>
        <p:spPr>
          <a:xfrm>
            <a:off x="8172450" y="2628900"/>
            <a:ext cx="323850" cy="219075"/>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FFB454"/>
                </a:solidFill>
                <a:latin typeface="Aptos"/>
                <a:ea typeface="Aptos"/>
                <a:cs typeface="Aptos"/>
              </a:defRPr>
            </a:pPr>
            <a:r>
              <a:rPr sz="1050" b="1">
                <a:solidFill>
                  <a:srgbClr val="FFB454"/>
                </a:solidFill>
                <a:latin typeface="Aptos"/>
                <a:ea typeface="Aptos"/>
                <a:cs typeface="Aptos"/>
              </a:rPr>
              <a:t>05</a:t>
            </a:r>
          </a:p>
        </p:txBody>
      </p:sp>
      <p:sp>
        <p:nvSpPr>
          <p:cNvPr id="25" name="Rectangle 24">
            <a:extLst>
              <a:ext uri="{FF2B5EF4-FFF2-40B4-BE49-F238E27FC236}">
                <a16:creationId xmlns:a16="http://schemas.microsoft.com/office/drawing/2014/main" id="{70B935AE-26B1-4B5D-975F-88E6A921A781}"/>
              </a:ext>
            </a:extLst>
          </p:cNvPr>
          <p:cNvSpPr>
            <a:spLocks noGrp="1"/>
          </p:cNvSpPr>
          <p:nvPr/>
        </p:nvSpPr>
        <p:spPr>
          <a:xfrm>
            <a:off x="8172450" y="3057525"/>
            <a:ext cx="1238250" cy="400050"/>
          </a:xfrm>
          <a:prstGeom prst="rect">
            <a:avLst/>
          </a:prstGeom>
          <a:noFill/>
          <a:ln w="0">
            <a:noFill/>
            <a:prstDash val="solid"/>
          </a:ln>
        </p:spPr>
        <p:txBody>
          <a:bodyPr wrap="square" lIns="0" tIns="0" rIns="0" bIns="0" anchor="t">
            <a:normAutofit/>
          </a:bodyPr>
          <a:lstStyle/>
          <a:p>
            <a:pPr algn="ctr">
              <a:lnSpc>
                <a:spcPct val="102000"/>
              </a:lnSpc>
              <a:buNone/>
              <a:defRPr sz="1650" b="1">
                <a:solidFill>
                  <a:srgbClr val="F4F7FB"/>
                </a:solidFill>
                <a:latin typeface="Aptos"/>
                <a:ea typeface="Aptos"/>
                <a:cs typeface="Aptos"/>
              </a:defRPr>
            </a:pPr>
            <a:r>
              <a:rPr sz="1650" b="1">
                <a:solidFill>
                  <a:srgbClr val="F4F7FB"/>
                </a:solidFill>
                <a:latin typeface="Aptos"/>
                <a:ea typeface="Aptos"/>
                <a:cs typeface="Aptos"/>
              </a:rPr>
              <a:t>Merchant</a:t>
            </a:r>
          </a:p>
        </p:txBody>
      </p:sp>
      <p:sp>
        <p:nvSpPr>
          <p:cNvPr id="26" name="Rectangle 25">
            <a:extLst>
              <a:ext uri="{FF2B5EF4-FFF2-40B4-BE49-F238E27FC236}">
                <a16:creationId xmlns:a16="http://schemas.microsoft.com/office/drawing/2014/main" id="{562AE1B2-31E4-402A-A52E-F9A95EC5B33A}"/>
              </a:ext>
            </a:extLst>
          </p:cNvPr>
          <p:cNvSpPr>
            <a:spLocks noGrp="1"/>
          </p:cNvSpPr>
          <p:nvPr/>
        </p:nvSpPr>
        <p:spPr>
          <a:xfrm>
            <a:off x="8172450" y="3600450"/>
            <a:ext cx="1238250" cy="285750"/>
          </a:xfrm>
          <a:prstGeom prst="rect">
            <a:avLst/>
          </a:prstGeom>
          <a:noFill/>
          <a:ln w="0">
            <a:noFill/>
            <a:prstDash val="solid"/>
          </a:ln>
        </p:spPr>
        <p:txBody>
          <a:bodyPr wrap="square" lIns="0" tIns="0" rIns="0" bIns="0" anchor="t">
            <a:normAutofit fontScale="91690"/>
          </a:bodyPr>
          <a:lstStyle/>
          <a:p>
            <a:pPr algn="ctr">
              <a:lnSpc>
                <a:spcPct val="102000"/>
              </a:lnSpc>
              <a:buNone/>
              <a:defRPr sz="1125" b="0">
                <a:solidFill>
                  <a:srgbClr val="99A6B8"/>
                </a:solidFill>
                <a:latin typeface="Aptos"/>
                <a:ea typeface="Aptos"/>
                <a:cs typeface="Aptos"/>
              </a:defRPr>
            </a:pPr>
            <a:r>
              <a:rPr sz="1125" b="0">
                <a:solidFill>
                  <a:srgbClr val="99A6B8"/>
                </a:solidFill>
                <a:latin typeface="Aptos"/>
                <a:ea typeface="Aptos"/>
                <a:cs typeface="Aptos"/>
              </a:rPr>
              <a:t>x402 / service delivery</a:t>
            </a:r>
          </a:p>
        </p:txBody>
      </p:sp>
      <p:sp>
        <p:nvSpPr>
          <p:cNvPr id="27" name="Rectangle 26">
            <a:extLst>
              <a:ext uri="{FF2B5EF4-FFF2-40B4-BE49-F238E27FC236}">
                <a16:creationId xmlns:a16="http://schemas.microsoft.com/office/drawing/2014/main" id="{B3AAF0A7-B018-4AB4-ADD2-37E880288C92}"/>
              </a:ext>
            </a:extLst>
          </p:cNvPr>
          <p:cNvSpPr>
            <a:spLocks noGrp="1"/>
          </p:cNvSpPr>
          <p:nvPr/>
        </p:nvSpPr>
        <p:spPr>
          <a:xfrm>
            <a:off x="9886950" y="2457450"/>
            <a:ext cx="1581150" cy="1581150"/>
          </a:xfrm>
          <a:prstGeom prst="rect">
            <a:avLst/>
          </a:prstGeom>
          <a:solidFill>
            <a:srgbClr val="111827"/>
          </a:solidFill>
          <a:ln w="19050">
            <a:solidFill>
              <a:srgbClr val="5BE7FF"/>
            </a:solidFill>
            <a:prstDash val="solid"/>
          </a:ln>
        </p:spPr>
        <p:txBody>
          <a:bodyPr/>
          <a:lstStyle/>
          <a:p>
            <a:endParaRPr lang="en-IN"/>
          </a:p>
        </p:txBody>
      </p:sp>
      <p:sp>
        <p:nvSpPr>
          <p:cNvPr id="28" name="Rectangle 27">
            <a:extLst>
              <a:ext uri="{FF2B5EF4-FFF2-40B4-BE49-F238E27FC236}">
                <a16:creationId xmlns:a16="http://schemas.microsoft.com/office/drawing/2014/main" id="{1CC106E8-6804-406D-BAAD-7BA6CCD5817C}"/>
              </a:ext>
            </a:extLst>
          </p:cNvPr>
          <p:cNvSpPr>
            <a:spLocks noGrp="1"/>
          </p:cNvSpPr>
          <p:nvPr/>
        </p:nvSpPr>
        <p:spPr>
          <a:xfrm>
            <a:off x="10058400" y="2628900"/>
            <a:ext cx="323850" cy="219075"/>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5BE7FF"/>
                </a:solidFill>
                <a:latin typeface="Aptos"/>
                <a:ea typeface="Aptos"/>
                <a:cs typeface="Aptos"/>
              </a:defRPr>
            </a:pPr>
            <a:r>
              <a:rPr sz="1050" b="1">
                <a:solidFill>
                  <a:srgbClr val="5BE7FF"/>
                </a:solidFill>
                <a:latin typeface="Aptos"/>
                <a:ea typeface="Aptos"/>
                <a:cs typeface="Aptos"/>
              </a:rPr>
              <a:t>06</a:t>
            </a:r>
          </a:p>
        </p:txBody>
      </p:sp>
      <p:sp>
        <p:nvSpPr>
          <p:cNvPr id="29" name="Rectangle 28">
            <a:extLst>
              <a:ext uri="{FF2B5EF4-FFF2-40B4-BE49-F238E27FC236}">
                <a16:creationId xmlns:a16="http://schemas.microsoft.com/office/drawing/2014/main" id="{F8759C79-A3F7-4B23-9BA2-1EBE5369EAF5}"/>
              </a:ext>
            </a:extLst>
          </p:cNvPr>
          <p:cNvSpPr>
            <a:spLocks noGrp="1"/>
          </p:cNvSpPr>
          <p:nvPr/>
        </p:nvSpPr>
        <p:spPr>
          <a:xfrm>
            <a:off x="10058400" y="3057525"/>
            <a:ext cx="1238250" cy="400050"/>
          </a:xfrm>
          <a:prstGeom prst="rect">
            <a:avLst/>
          </a:prstGeom>
          <a:noFill/>
          <a:ln w="0">
            <a:noFill/>
            <a:prstDash val="solid"/>
          </a:ln>
        </p:spPr>
        <p:txBody>
          <a:bodyPr wrap="square" lIns="0" tIns="0" rIns="0" bIns="0" anchor="t">
            <a:normAutofit/>
          </a:bodyPr>
          <a:lstStyle/>
          <a:p>
            <a:pPr algn="ctr">
              <a:lnSpc>
                <a:spcPct val="102000"/>
              </a:lnSpc>
              <a:buNone/>
              <a:defRPr sz="1650" b="1">
                <a:solidFill>
                  <a:srgbClr val="F4F7FB"/>
                </a:solidFill>
                <a:latin typeface="Aptos"/>
                <a:ea typeface="Aptos"/>
                <a:cs typeface="Aptos"/>
              </a:defRPr>
            </a:pPr>
            <a:r>
              <a:rPr sz="1650" b="1">
                <a:solidFill>
                  <a:srgbClr val="F4F7FB"/>
                </a:solidFill>
                <a:latin typeface="Aptos"/>
                <a:ea typeface="Aptos"/>
                <a:cs typeface="Aptos"/>
              </a:rPr>
              <a:t>Proof</a:t>
            </a:r>
          </a:p>
        </p:txBody>
      </p:sp>
      <p:sp>
        <p:nvSpPr>
          <p:cNvPr id="30" name="Rectangle 29">
            <a:extLst>
              <a:ext uri="{FF2B5EF4-FFF2-40B4-BE49-F238E27FC236}">
                <a16:creationId xmlns:a16="http://schemas.microsoft.com/office/drawing/2014/main" id="{7F88BF3D-7246-433D-843E-BF6D40A02E52}"/>
              </a:ext>
            </a:extLst>
          </p:cNvPr>
          <p:cNvSpPr>
            <a:spLocks noGrp="1"/>
          </p:cNvSpPr>
          <p:nvPr/>
        </p:nvSpPr>
        <p:spPr>
          <a:xfrm>
            <a:off x="10058400" y="3600450"/>
            <a:ext cx="1238250" cy="285750"/>
          </a:xfrm>
          <a:prstGeom prst="rect">
            <a:avLst/>
          </a:prstGeom>
          <a:noFill/>
          <a:ln w="0">
            <a:noFill/>
            <a:prstDash val="solid"/>
          </a:ln>
        </p:spPr>
        <p:txBody>
          <a:bodyPr wrap="square" lIns="0" tIns="0" rIns="0" bIns="0" anchor="t">
            <a:normAutofit fontScale="98663"/>
          </a:bodyPr>
          <a:lstStyle/>
          <a:p>
            <a:pPr algn="ctr">
              <a:lnSpc>
                <a:spcPct val="102000"/>
              </a:lnSpc>
              <a:buNone/>
              <a:defRPr sz="1125" b="0">
                <a:solidFill>
                  <a:srgbClr val="99A6B8"/>
                </a:solidFill>
                <a:latin typeface="Aptos"/>
                <a:ea typeface="Aptos"/>
                <a:cs typeface="Aptos"/>
              </a:defRPr>
            </a:pPr>
            <a:r>
              <a:rPr sz="1125" b="0">
                <a:solidFill>
                  <a:srgbClr val="99A6B8"/>
                </a:solidFill>
                <a:latin typeface="Aptos"/>
                <a:ea typeface="Aptos"/>
                <a:cs typeface="Aptos"/>
              </a:rPr>
              <a:t>Wallet • tx • explorer</a:t>
            </a:r>
          </a:p>
        </p:txBody>
      </p:sp>
      <p:cxnSp>
        <p:nvCxnSpPr>
          <p:cNvPr id="140" name="Straight Arrow Connector 139"/>
          <p:cNvCxnSpPr>
            <a:stCxn id="7" idx="3"/>
            <a:endCxn id="11" idx="1"/>
          </p:cNvCxnSpPr>
          <p:nvPr/>
        </p:nvCxnSpPr>
        <p:spPr>
          <a:xfrm>
            <a:off x="2038350" y="3248025"/>
            <a:ext cx="304800" cy="0"/>
          </a:xfrm>
          <a:prstGeom prst="straightConnector1">
            <a:avLst/>
          </a:prstGeom>
          <a:ln w="19050">
            <a:solidFill>
              <a:srgbClr val="2A3548"/>
            </a:solidFill>
            <a:prstDash val="solid"/>
            <a:tailEnd type="arrow" w="sm" len="sm"/>
          </a:ln>
        </p:spPr>
      </p:cxnSp>
      <p:cxnSp>
        <p:nvCxnSpPr>
          <p:cNvPr id="141" name="Straight Arrow Connector 140"/>
          <p:cNvCxnSpPr>
            <a:stCxn id="11" idx="3"/>
            <a:endCxn id="15" idx="1"/>
          </p:cNvCxnSpPr>
          <p:nvPr/>
        </p:nvCxnSpPr>
        <p:spPr>
          <a:xfrm>
            <a:off x="3924300" y="3248025"/>
            <a:ext cx="304800" cy="0"/>
          </a:xfrm>
          <a:prstGeom prst="straightConnector1">
            <a:avLst/>
          </a:prstGeom>
          <a:ln w="19050">
            <a:solidFill>
              <a:srgbClr val="2A3548"/>
            </a:solidFill>
            <a:prstDash val="solid"/>
            <a:tailEnd type="arrow" w="sm" len="sm"/>
          </a:ln>
        </p:spPr>
      </p:cxnSp>
      <p:cxnSp>
        <p:nvCxnSpPr>
          <p:cNvPr id="142" name="Straight Arrow Connector 141"/>
          <p:cNvCxnSpPr>
            <a:stCxn id="15" idx="3"/>
            <a:endCxn id="19" idx="1"/>
          </p:cNvCxnSpPr>
          <p:nvPr/>
        </p:nvCxnSpPr>
        <p:spPr>
          <a:xfrm>
            <a:off x="5810250" y="3248025"/>
            <a:ext cx="304800" cy="0"/>
          </a:xfrm>
          <a:prstGeom prst="straightConnector1">
            <a:avLst/>
          </a:prstGeom>
          <a:ln w="19050">
            <a:solidFill>
              <a:srgbClr val="2A3548"/>
            </a:solidFill>
            <a:prstDash val="solid"/>
            <a:tailEnd type="arrow" w="sm" len="sm"/>
          </a:ln>
        </p:spPr>
      </p:cxnSp>
      <p:cxnSp>
        <p:nvCxnSpPr>
          <p:cNvPr id="143" name="Straight Arrow Connector 142"/>
          <p:cNvCxnSpPr>
            <a:stCxn id="19" idx="3"/>
            <a:endCxn id="23" idx="1"/>
          </p:cNvCxnSpPr>
          <p:nvPr/>
        </p:nvCxnSpPr>
        <p:spPr>
          <a:xfrm>
            <a:off x="7696200" y="3248025"/>
            <a:ext cx="304800" cy="0"/>
          </a:xfrm>
          <a:prstGeom prst="straightConnector1">
            <a:avLst/>
          </a:prstGeom>
          <a:ln w="19050">
            <a:solidFill>
              <a:srgbClr val="2A3548"/>
            </a:solidFill>
            <a:prstDash val="solid"/>
            <a:tailEnd type="arrow" w="sm" len="sm"/>
          </a:ln>
        </p:spPr>
      </p:cxnSp>
      <p:cxnSp>
        <p:nvCxnSpPr>
          <p:cNvPr id="144" name="Straight Arrow Connector 143"/>
          <p:cNvCxnSpPr>
            <a:stCxn id="23" idx="3"/>
            <a:endCxn id="27" idx="1"/>
          </p:cNvCxnSpPr>
          <p:nvPr/>
        </p:nvCxnSpPr>
        <p:spPr>
          <a:xfrm>
            <a:off x="9582150" y="3248025"/>
            <a:ext cx="304800" cy="0"/>
          </a:xfrm>
          <a:prstGeom prst="straightConnector1">
            <a:avLst/>
          </a:prstGeom>
          <a:ln w="19050">
            <a:solidFill>
              <a:srgbClr val="2A3548"/>
            </a:solidFill>
            <a:prstDash val="solid"/>
            <a:tailEnd type="arrow" w="sm" len="sm"/>
          </a:ln>
        </p:spPr>
      </p:cxnSp>
      <p:sp>
        <p:nvSpPr>
          <p:cNvPr id="36" name="Rectangle 35">
            <a:extLst>
              <a:ext uri="{FF2B5EF4-FFF2-40B4-BE49-F238E27FC236}">
                <a16:creationId xmlns:a16="http://schemas.microsoft.com/office/drawing/2014/main" id="{7513D535-9A9A-4EC6-8FAD-DE5F52C4E451}"/>
              </a:ext>
            </a:extLst>
          </p:cNvPr>
          <p:cNvSpPr>
            <a:spLocks noGrp="1"/>
          </p:cNvSpPr>
          <p:nvPr/>
        </p:nvSpPr>
        <p:spPr>
          <a:xfrm>
            <a:off x="457200" y="4572000"/>
            <a:ext cx="11010900" cy="1085850"/>
          </a:xfrm>
          <a:prstGeom prst="rect">
            <a:avLst/>
          </a:prstGeom>
          <a:solidFill>
            <a:srgbClr val="151E2D"/>
          </a:solidFill>
          <a:ln w="9525">
            <a:solidFill>
              <a:srgbClr val="2A3548"/>
            </a:solidFill>
            <a:prstDash val="solid"/>
          </a:ln>
        </p:spPr>
        <p:txBody>
          <a:bodyPr/>
          <a:lstStyle/>
          <a:p>
            <a:endParaRPr lang="en-IN"/>
          </a:p>
        </p:txBody>
      </p:sp>
      <p:sp>
        <p:nvSpPr>
          <p:cNvPr id="37" name="Rectangle 36">
            <a:extLst>
              <a:ext uri="{FF2B5EF4-FFF2-40B4-BE49-F238E27FC236}">
                <a16:creationId xmlns:a16="http://schemas.microsoft.com/office/drawing/2014/main" id="{37844B52-6AA8-457E-9D20-820667CEC01C}"/>
              </a:ext>
            </a:extLst>
          </p:cNvPr>
          <p:cNvSpPr>
            <a:spLocks noGrp="1"/>
          </p:cNvSpPr>
          <p:nvPr/>
        </p:nvSpPr>
        <p:spPr>
          <a:xfrm>
            <a:off x="685800" y="4829175"/>
            <a:ext cx="1524000" cy="1905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3D8DFF"/>
                </a:solidFill>
                <a:latin typeface="Aptos"/>
                <a:ea typeface="Aptos"/>
                <a:cs typeface="Aptos"/>
              </a:defRPr>
            </a:pPr>
            <a:r>
              <a:rPr sz="1050" b="1">
                <a:solidFill>
                  <a:srgbClr val="3D8DFF"/>
                </a:solidFill>
                <a:latin typeface="Aptos"/>
                <a:ea typeface="Aptos"/>
                <a:cs typeface="Aptos"/>
              </a:rPr>
              <a:t>CONTROL PLANE</a:t>
            </a:r>
          </a:p>
        </p:txBody>
      </p:sp>
      <p:sp>
        <p:nvSpPr>
          <p:cNvPr id="38" name="Rectangle 37">
            <a:extLst>
              <a:ext uri="{FF2B5EF4-FFF2-40B4-BE49-F238E27FC236}">
                <a16:creationId xmlns:a16="http://schemas.microsoft.com/office/drawing/2014/main" id="{0D2C6043-B1A2-4ECD-84A7-A7246C531C25}"/>
              </a:ext>
            </a:extLst>
          </p:cNvPr>
          <p:cNvSpPr>
            <a:spLocks noGrp="1"/>
          </p:cNvSpPr>
          <p:nvPr/>
        </p:nvSpPr>
        <p:spPr>
          <a:xfrm>
            <a:off x="2333625" y="4781550"/>
            <a:ext cx="8763000" cy="266700"/>
          </a:xfrm>
          <a:prstGeom prst="rect">
            <a:avLst/>
          </a:prstGeom>
          <a:noFill/>
          <a:ln w="0">
            <a:noFill/>
            <a:prstDash val="solid"/>
          </a:ln>
        </p:spPr>
        <p:txBody>
          <a:bodyPr wrap="square" lIns="0" tIns="0" rIns="0" bIns="0" anchor="t">
            <a:normAutofit/>
          </a:bodyPr>
          <a:lstStyle/>
          <a:p>
            <a:pPr algn="l">
              <a:lnSpc>
                <a:spcPct val="102000"/>
              </a:lnSpc>
              <a:buNone/>
              <a:defRPr sz="1575" b="1">
                <a:solidFill>
                  <a:srgbClr val="F4F7FB"/>
                </a:solidFill>
                <a:latin typeface="Aptos"/>
                <a:ea typeface="Aptos"/>
                <a:cs typeface="Aptos"/>
              </a:defRPr>
            </a:pPr>
            <a:r>
              <a:rPr sz="1575" b="1">
                <a:solidFill>
                  <a:srgbClr val="F4F7FB"/>
                </a:solidFill>
                <a:latin typeface="Aptos"/>
                <a:ea typeface="Aptos"/>
                <a:cs typeface="Aptos"/>
              </a:rPr>
              <a:t>Model output cannot set price, cap, merchant, network, final settlement, or explorer proof.</a:t>
            </a:r>
          </a:p>
        </p:txBody>
      </p:sp>
      <p:sp>
        <p:nvSpPr>
          <p:cNvPr id="39" name="Rectangle 38">
            <a:extLst>
              <a:ext uri="{FF2B5EF4-FFF2-40B4-BE49-F238E27FC236}">
                <a16:creationId xmlns:a16="http://schemas.microsoft.com/office/drawing/2014/main" id="{3F0DD764-D56B-4547-8964-37F27E19F89F}"/>
              </a:ext>
            </a:extLst>
          </p:cNvPr>
          <p:cNvSpPr>
            <a:spLocks noGrp="1"/>
          </p:cNvSpPr>
          <p:nvPr/>
        </p:nvSpPr>
        <p:spPr>
          <a:xfrm>
            <a:off x="2333625" y="5219700"/>
            <a:ext cx="8763000" cy="285750"/>
          </a:xfrm>
          <a:prstGeom prst="rect">
            <a:avLst/>
          </a:prstGeom>
          <a:noFill/>
          <a:ln w="0">
            <a:noFill/>
            <a:prstDash val="solid"/>
          </a:ln>
        </p:spPr>
        <p:txBody>
          <a:bodyPr wrap="square" lIns="0" tIns="0" rIns="0" bIns="0" anchor="t">
            <a:normAutofit fontScale="99432"/>
          </a:bodyPr>
          <a:lstStyle/>
          <a:p>
            <a:pPr algn="l">
              <a:lnSpc>
                <a:spcPct val="102000"/>
              </a:lnSpc>
              <a:buNone/>
              <a:defRPr sz="1275" b="0">
                <a:solidFill>
                  <a:srgbClr val="99A6B8"/>
                </a:solidFill>
                <a:latin typeface="Aptos"/>
                <a:ea typeface="Aptos"/>
                <a:cs typeface="Aptos"/>
              </a:defRPr>
            </a:pPr>
            <a:r>
              <a:rPr sz="1275" b="0">
                <a:solidFill>
                  <a:srgbClr val="99A6B8"/>
                </a:solidFill>
                <a:latin typeface="Aptos"/>
                <a:ea typeface="Aptos"/>
                <a:cs typeface="Aptos"/>
              </a:rPr>
              <a:t>Real-money authority is bounded twice: deterministically in PayPilot and operationally/on-chain by Circle Agent Wallet policies.</a:t>
            </a:r>
          </a:p>
        </p:txBody>
      </p:sp>
    </p:spTree>
    <p:extLst>
      <p:ext uri="{BB962C8B-B14F-4D97-AF65-F5344CB8AC3E}">
        <p14:creationId xmlns:p14="http://schemas.microsoft.com/office/powerpoint/2010/main" val="829326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A0F"/>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F7EE49E-7321-47C9-9BD7-4C5E99029DB6}"/>
              </a:ext>
            </a:extLst>
          </p:cNvPr>
          <p:cNvSpPr>
            <a:spLocks noGrp="1"/>
          </p:cNvSpPr>
          <p:nvPr/>
        </p:nvSpPr>
        <p:spPr>
          <a:xfrm>
            <a:off x="457200" y="209550"/>
            <a:ext cx="4953000" cy="1905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38E09F"/>
                </a:solidFill>
                <a:latin typeface="Aptos"/>
                <a:ea typeface="Aptos"/>
                <a:cs typeface="Aptos"/>
              </a:defRPr>
            </a:pPr>
            <a:r>
              <a:rPr sz="1050" b="1">
                <a:solidFill>
                  <a:srgbClr val="38E09F"/>
                </a:solidFill>
                <a:latin typeface="Aptos"/>
                <a:ea typeface="Aptos"/>
                <a:cs typeface="Aptos"/>
              </a:rPr>
              <a:t>CIRCLE INTEGRATION</a:t>
            </a:r>
          </a:p>
        </p:txBody>
      </p:sp>
      <p:sp>
        <p:nvSpPr>
          <p:cNvPr id="2" name="Rectangle 1">
            <a:extLst>
              <a:ext uri="{FF2B5EF4-FFF2-40B4-BE49-F238E27FC236}">
                <a16:creationId xmlns:a16="http://schemas.microsoft.com/office/drawing/2014/main" id="{96AAC37A-182E-4508-8F47-DEDAD8322930}"/>
              </a:ext>
            </a:extLst>
          </p:cNvPr>
          <p:cNvSpPr>
            <a:spLocks noGrp="1"/>
          </p:cNvSpPr>
          <p:nvPr/>
        </p:nvSpPr>
        <p:spPr>
          <a:xfrm>
            <a:off x="457200" y="514350"/>
            <a:ext cx="11239500" cy="762000"/>
          </a:xfrm>
          <a:prstGeom prst="rect">
            <a:avLst/>
          </a:prstGeom>
          <a:noFill/>
          <a:ln w="0">
            <a:noFill/>
            <a:prstDash val="solid"/>
          </a:ln>
        </p:spPr>
        <p:txBody>
          <a:bodyPr wrap="square" lIns="0" tIns="0" rIns="0" bIns="0" anchor="t">
            <a:noAutofit/>
          </a:bodyPr>
          <a:lstStyle/>
          <a:p>
            <a:pPr algn="l">
              <a:lnSpc>
                <a:spcPct val="94000"/>
              </a:lnSpc>
              <a:buNone/>
              <a:defRPr sz="3300" b="1">
                <a:solidFill>
                  <a:srgbClr val="F4F7FB"/>
                </a:solidFill>
                <a:latin typeface="Aptos"/>
                <a:ea typeface="Aptos"/>
                <a:cs typeface="Aptos"/>
              </a:defRPr>
            </a:pPr>
            <a:r>
              <a:rPr sz="3300" b="1">
                <a:solidFill>
                  <a:srgbClr val="F4F7FB"/>
                </a:solidFill>
                <a:latin typeface="Aptos"/>
                <a:ea typeface="Aptos"/>
                <a:cs typeface="Aptos"/>
              </a:rPr>
              <a:t>Map every Circle Agent Stack component to a product job.</a:t>
            </a:r>
          </a:p>
        </p:txBody>
      </p:sp>
      <p:sp>
        <p:nvSpPr>
          <p:cNvPr id="3" name="Straight Connector 2">
            <a:extLst>
              <a:ext uri="{FF2B5EF4-FFF2-40B4-BE49-F238E27FC236}">
                <a16:creationId xmlns:a16="http://schemas.microsoft.com/office/drawing/2014/main" id="{399C2846-8D6E-4609-BEFB-5DAC2350748D}"/>
              </a:ext>
            </a:extLst>
          </p:cNvPr>
          <p:cNvSpPr>
            <a:spLocks noGrp="1"/>
          </p:cNvSpPr>
          <p:nvPr/>
        </p:nvSpPr>
        <p:spPr>
          <a:xfrm>
            <a:off x="457200" y="1371600"/>
            <a:ext cx="11277600" cy="0"/>
          </a:xfrm>
          <a:prstGeom prst="line">
            <a:avLst/>
          </a:prstGeom>
          <a:noFill/>
          <a:ln w="9525">
            <a:solidFill>
              <a:srgbClr val="2A3548"/>
            </a:solidFill>
            <a:prstDash val="solid"/>
          </a:ln>
        </p:spPr>
        <p:txBody>
          <a:bodyPr/>
          <a:lstStyle/>
          <a:p>
            <a:endParaRPr lang="en-IN"/>
          </a:p>
        </p:txBody>
      </p:sp>
      <p:sp>
        <p:nvSpPr>
          <p:cNvPr id="4" name="Rectangle 3">
            <a:extLst>
              <a:ext uri="{FF2B5EF4-FFF2-40B4-BE49-F238E27FC236}">
                <a16:creationId xmlns:a16="http://schemas.microsoft.com/office/drawing/2014/main" id="{89E251D0-3E39-4C6E-B1FE-3271A5CC0D7C}"/>
              </a:ext>
            </a:extLst>
          </p:cNvPr>
          <p:cNvSpPr>
            <a:spLocks noGrp="1"/>
          </p:cNvSpPr>
          <p:nvPr/>
        </p:nvSpPr>
        <p:spPr>
          <a:xfrm>
            <a:off x="457200" y="6457950"/>
            <a:ext cx="152400" cy="38100"/>
          </a:xfrm>
          <a:prstGeom prst="rect">
            <a:avLst/>
          </a:prstGeom>
          <a:solidFill>
            <a:srgbClr val="38E09F"/>
          </a:solidFill>
          <a:ln w="0">
            <a:noFill/>
            <a:prstDash val="solid"/>
          </a:ln>
        </p:spPr>
        <p:txBody>
          <a:bodyPr/>
          <a:lstStyle/>
          <a:p>
            <a:endParaRPr lang="en-IN"/>
          </a:p>
        </p:txBody>
      </p:sp>
      <p:sp>
        <p:nvSpPr>
          <p:cNvPr id="5" name="Rectangle 4">
            <a:extLst>
              <a:ext uri="{FF2B5EF4-FFF2-40B4-BE49-F238E27FC236}">
                <a16:creationId xmlns:a16="http://schemas.microsoft.com/office/drawing/2014/main" id="{C3FA79F3-4BC0-4887-AFDF-2C363C1DBB51}"/>
              </a:ext>
            </a:extLst>
          </p:cNvPr>
          <p:cNvSpPr>
            <a:spLocks noGrp="1"/>
          </p:cNvSpPr>
          <p:nvPr/>
        </p:nvSpPr>
        <p:spPr>
          <a:xfrm>
            <a:off x="704850" y="6381750"/>
            <a:ext cx="1714500" cy="190500"/>
          </a:xfrm>
          <a:prstGeom prst="rect">
            <a:avLst/>
          </a:prstGeom>
          <a:noFill/>
          <a:ln w="0">
            <a:noFill/>
            <a:prstDash val="solid"/>
          </a:ln>
        </p:spPr>
        <p:txBody>
          <a:bodyPr wrap="square" lIns="0" tIns="0" rIns="0" bIns="0" anchor="t">
            <a:normAutofit/>
          </a:bodyPr>
          <a:lstStyle/>
          <a:p>
            <a:pPr algn="l">
              <a:lnSpc>
                <a:spcPct val="102000"/>
              </a:lnSpc>
              <a:buNone/>
              <a:defRPr sz="900" b="1">
                <a:solidFill>
                  <a:srgbClr val="99A6B8"/>
                </a:solidFill>
                <a:latin typeface="Aptos"/>
                <a:ea typeface="Aptos"/>
                <a:cs typeface="Aptos"/>
              </a:defRPr>
            </a:pPr>
            <a:r>
              <a:rPr sz="900" b="1">
                <a:solidFill>
                  <a:srgbClr val="99A6B8"/>
                </a:solidFill>
                <a:latin typeface="Aptos"/>
                <a:ea typeface="Aptos"/>
                <a:cs typeface="Aptos"/>
              </a:rPr>
              <a:t>PAYPILOT</a:t>
            </a:r>
          </a:p>
        </p:txBody>
      </p:sp>
      <p:sp>
        <p:nvSpPr>
          <p:cNvPr id="6" name="Rectangle 5">
            <a:extLst>
              <a:ext uri="{FF2B5EF4-FFF2-40B4-BE49-F238E27FC236}">
                <a16:creationId xmlns:a16="http://schemas.microsoft.com/office/drawing/2014/main" id="{4A41BBFC-C8DE-4B12-9684-D1DE657A29DB}"/>
              </a:ext>
            </a:extLst>
          </p:cNvPr>
          <p:cNvSpPr>
            <a:spLocks noGrp="1"/>
          </p:cNvSpPr>
          <p:nvPr/>
        </p:nvSpPr>
        <p:spPr>
          <a:xfrm>
            <a:off x="11182350" y="6381750"/>
            <a:ext cx="552450" cy="190500"/>
          </a:xfrm>
          <a:prstGeom prst="rect">
            <a:avLst/>
          </a:prstGeom>
          <a:noFill/>
          <a:ln w="0">
            <a:noFill/>
            <a:prstDash val="solid"/>
          </a:ln>
        </p:spPr>
        <p:txBody>
          <a:bodyPr wrap="square" lIns="0" tIns="0" rIns="0" bIns="0" anchor="t">
            <a:normAutofit/>
          </a:bodyPr>
          <a:lstStyle/>
          <a:p>
            <a:pPr algn="r">
              <a:lnSpc>
                <a:spcPct val="102000"/>
              </a:lnSpc>
              <a:buNone/>
              <a:defRPr sz="975" b="0">
                <a:solidFill>
                  <a:srgbClr val="99A6B8"/>
                </a:solidFill>
                <a:latin typeface="Aptos"/>
                <a:ea typeface="Aptos"/>
                <a:cs typeface="Aptos"/>
              </a:defRPr>
            </a:pPr>
            <a:r>
              <a:rPr sz="975" b="0">
                <a:solidFill>
                  <a:srgbClr val="99A6B8"/>
                </a:solidFill>
                <a:latin typeface="Aptos"/>
                <a:ea typeface="Aptos"/>
                <a:cs typeface="Aptos"/>
              </a:rPr>
              <a:t>07</a:t>
            </a:r>
          </a:p>
        </p:txBody>
      </p:sp>
      <p:sp>
        <p:nvSpPr>
          <p:cNvPr id="7" name="Rectangle 6">
            <a:extLst>
              <a:ext uri="{FF2B5EF4-FFF2-40B4-BE49-F238E27FC236}">
                <a16:creationId xmlns:a16="http://schemas.microsoft.com/office/drawing/2014/main" id="{258FAD61-C0C6-416F-9883-0BE1573A6E9F}"/>
              </a:ext>
            </a:extLst>
          </p:cNvPr>
          <p:cNvSpPr>
            <a:spLocks noGrp="1"/>
          </p:cNvSpPr>
          <p:nvPr/>
        </p:nvSpPr>
        <p:spPr>
          <a:xfrm>
            <a:off x="457200" y="1657350"/>
            <a:ext cx="114300" cy="619125"/>
          </a:xfrm>
          <a:prstGeom prst="rect">
            <a:avLst/>
          </a:prstGeom>
          <a:solidFill>
            <a:srgbClr val="38E09F"/>
          </a:solidFill>
          <a:ln w="0">
            <a:noFill/>
            <a:prstDash val="solid"/>
          </a:ln>
        </p:spPr>
        <p:txBody>
          <a:bodyPr/>
          <a:lstStyle/>
          <a:p>
            <a:endParaRPr lang="en-IN"/>
          </a:p>
        </p:txBody>
      </p:sp>
      <p:sp>
        <p:nvSpPr>
          <p:cNvPr id="8" name="Rectangle 7">
            <a:extLst>
              <a:ext uri="{FF2B5EF4-FFF2-40B4-BE49-F238E27FC236}">
                <a16:creationId xmlns:a16="http://schemas.microsoft.com/office/drawing/2014/main" id="{0C8E32D0-EB4A-489F-98F6-FD3C9748A2D4}"/>
              </a:ext>
            </a:extLst>
          </p:cNvPr>
          <p:cNvSpPr>
            <a:spLocks noGrp="1"/>
          </p:cNvSpPr>
          <p:nvPr/>
        </p:nvSpPr>
        <p:spPr>
          <a:xfrm>
            <a:off x="790575" y="1676400"/>
            <a:ext cx="2476500" cy="266700"/>
          </a:xfrm>
          <a:prstGeom prst="rect">
            <a:avLst/>
          </a:prstGeom>
          <a:noFill/>
          <a:ln w="0">
            <a:noFill/>
            <a:prstDash val="solid"/>
          </a:ln>
        </p:spPr>
        <p:txBody>
          <a:bodyPr wrap="square" lIns="0" tIns="0" rIns="0" bIns="0" anchor="t">
            <a:normAutofit fontScale="99460"/>
          </a:bodyPr>
          <a:lstStyle/>
          <a:p>
            <a:pPr algn="l">
              <a:lnSpc>
                <a:spcPct val="102000"/>
              </a:lnSpc>
              <a:buNone/>
              <a:defRPr sz="1725" b="1">
                <a:solidFill>
                  <a:srgbClr val="F4F7FB"/>
                </a:solidFill>
                <a:latin typeface="Aptos"/>
                <a:ea typeface="Aptos"/>
                <a:cs typeface="Aptos"/>
              </a:defRPr>
            </a:pPr>
            <a:r>
              <a:rPr sz="1725" b="1">
                <a:solidFill>
                  <a:srgbClr val="F4F7FB"/>
                </a:solidFill>
                <a:latin typeface="Aptos"/>
                <a:ea typeface="Aptos"/>
                <a:cs typeface="Aptos"/>
              </a:rPr>
              <a:t>Agent Wallets</a:t>
            </a:r>
          </a:p>
        </p:txBody>
      </p:sp>
      <p:sp>
        <p:nvSpPr>
          <p:cNvPr id="9" name="Rectangle 8">
            <a:extLst>
              <a:ext uri="{FF2B5EF4-FFF2-40B4-BE49-F238E27FC236}">
                <a16:creationId xmlns:a16="http://schemas.microsoft.com/office/drawing/2014/main" id="{7F44CC0F-6F31-4C52-AC80-03BA4909365C}"/>
              </a:ext>
            </a:extLst>
          </p:cNvPr>
          <p:cNvSpPr>
            <a:spLocks noGrp="1"/>
          </p:cNvSpPr>
          <p:nvPr/>
        </p:nvSpPr>
        <p:spPr>
          <a:xfrm>
            <a:off x="3524250" y="1666875"/>
            <a:ext cx="7810500" cy="476250"/>
          </a:xfrm>
          <a:prstGeom prst="rect">
            <a:avLst/>
          </a:prstGeom>
          <a:noFill/>
          <a:ln w="0">
            <a:noFill/>
            <a:prstDash val="solid"/>
          </a:ln>
        </p:spPr>
        <p:txBody>
          <a:bodyPr wrap="square" lIns="0" tIns="0" rIns="0" bIns="0" anchor="t">
            <a:normAutofit/>
          </a:bodyPr>
          <a:lstStyle/>
          <a:p>
            <a:pPr algn="l">
              <a:lnSpc>
                <a:spcPct val="102000"/>
              </a:lnSpc>
              <a:buNone/>
              <a:defRPr sz="1350" b="0">
                <a:solidFill>
                  <a:srgbClr val="99A6B8"/>
                </a:solidFill>
                <a:latin typeface="Aptos"/>
                <a:ea typeface="Aptos"/>
                <a:cs typeface="Aptos"/>
              </a:defRPr>
            </a:pPr>
            <a:r>
              <a:rPr sz="1350" b="0">
                <a:solidFill>
                  <a:srgbClr val="99A6B8"/>
                </a:solidFill>
                <a:latin typeface="Aptos"/>
                <a:ea typeface="Aptos"/>
                <a:cs typeface="Aptos"/>
              </a:rPr>
              <a:t>Create the agent wallet; enforce spending limits, service caps, allowlists, and time-bounded sessions.</a:t>
            </a:r>
          </a:p>
        </p:txBody>
      </p:sp>
      <p:sp>
        <p:nvSpPr>
          <p:cNvPr id="10" name="Straight Connector 9">
            <a:extLst>
              <a:ext uri="{FF2B5EF4-FFF2-40B4-BE49-F238E27FC236}">
                <a16:creationId xmlns:a16="http://schemas.microsoft.com/office/drawing/2014/main" id="{1C74E03C-21C9-484A-A09B-73507698A982}"/>
              </a:ext>
            </a:extLst>
          </p:cNvPr>
          <p:cNvSpPr>
            <a:spLocks noGrp="1"/>
          </p:cNvSpPr>
          <p:nvPr/>
        </p:nvSpPr>
        <p:spPr>
          <a:xfrm>
            <a:off x="790575" y="2305050"/>
            <a:ext cx="10544175" cy="0"/>
          </a:xfrm>
          <a:prstGeom prst="line">
            <a:avLst/>
          </a:prstGeom>
          <a:noFill/>
          <a:ln w="9525">
            <a:solidFill>
              <a:srgbClr val="2A3548"/>
            </a:solidFill>
            <a:prstDash val="solid"/>
          </a:ln>
        </p:spPr>
        <p:txBody>
          <a:bodyPr/>
          <a:lstStyle/>
          <a:p>
            <a:endParaRPr lang="en-IN"/>
          </a:p>
        </p:txBody>
      </p:sp>
      <p:sp>
        <p:nvSpPr>
          <p:cNvPr id="11" name="Rectangle 10">
            <a:extLst>
              <a:ext uri="{FF2B5EF4-FFF2-40B4-BE49-F238E27FC236}">
                <a16:creationId xmlns:a16="http://schemas.microsoft.com/office/drawing/2014/main" id="{C545BE8A-F8C2-4A58-9558-C2D273414E23}"/>
              </a:ext>
            </a:extLst>
          </p:cNvPr>
          <p:cNvSpPr>
            <a:spLocks noGrp="1"/>
          </p:cNvSpPr>
          <p:nvPr/>
        </p:nvSpPr>
        <p:spPr>
          <a:xfrm>
            <a:off x="457200" y="2505075"/>
            <a:ext cx="114300" cy="619125"/>
          </a:xfrm>
          <a:prstGeom prst="rect">
            <a:avLst/>
          </a:prstGeom>
          <a:solidFill>
            <a:srgbClr val="5BE7FF"/>
          </a:solidFill>
          <a:ln w="0">
            <a:noFill/>
            <a:prstDash val="solid"/>
          </a:ln>
        </p:spPr>
        <p:txBody>
          <a:bodyPr/>
          <a:lstStyle/>
          <a:p>
            <a:endParaRPr lang="en-IN"/>
          </a:p>
        </p:txBody>
      </p:sp>
      <p:sp>
        <p:nvSpPr>
          <p:cNvPr id="12" name="Rectangle 11">
            <a:extLst>
              <a:ext uri="{FF2B5EF4-FFF2-40B4-BE49-F238E27FC236}">
                <a16:creationId xmlns:a16="http://schemas.microsoft.com/office/drawing/2014/main" id="{4B3DF109-2B99-482D-B420-60E11871A811}"/>
              </a:ext>
            </a:extLst>
          </p:cNvPr>
          <p:cNvSpPr>
            <a:spLocks noGrp="1"/>
          </p:cNvSpPr>
          <p:nvPr/>
        </p:nvSpPr>
        <p:spPr>
          <a:xfrm>
            <a:off x="790575" y="2524125"/>
            <a:ext cx="2476500" cy="266700"/>
          </a:xfrm>
          <a:prstGeom prst="rect">
            <a:avLst/>
          </a:prstGeom>
          <a:noFill/>
          <a:ln w="0">
            <a:noFill/>
            <a:prstDash val="solid"/>
          </a:ln>
        </p:spPr>
        <p:txBody>
          <a:bodyPr wrap="square" lIns="0" tIns="0" rIns="0" bIns="0" anchor="t">
            <a:normAutofit fontScale="99460"/>
          </a:bodyPr>
          <a:lstStyle/>
          <a:p>
            <a:pPr algn="l">
              <a:lnSpc>
                <a:spcPct val="102000"/>
              </a:lnSpc>
              <a:buNone/>
              <a:defRPr sz="1725" b="1">
                <a:solidFill>
                  <a:srgbClr val="F4F7FB"/>
                </a:solidFill>
                <a:latin typeface="Aptos"/>
                <a:ea typeface="Aptos"/>
                <a:cs typeface="Aptos"/>
              </a:defRPr>
            </a:pPr>
            <a:r>
              <a:rPr sz="1725" b="1">
                <a:solidFill>
                  <a:srgbClr val="F4F7FB"/>
                </a:solidFill>
                <a:latin typeface="Aptos"/>
                <a:ea typeface="Aptos"/>
                <a:cs typeface="Aptos"/>
              </a:rPr>
              <a:t>Agent Marketplace</a:t>
            </a:r>
          </a:p>
        </p:txBody>
      </p:sp>
      <p:sp>
        <p:nvSpPr>
          <p:cNvPr id="13" name="Rectangle 12">
            <a:extLst>
              <a:ext uri="{FF2B5EF4-FFF2-40B4-BE49-F238E27FC236}">
                <a16:creationId xmlns:a16="http://schemas.microsoft.com/office/drawing/2014/main" id="{2359A6F9-72EE-4C17-BF77-EE79199B5C0D}"/>
              </a:ext>
            </a:extLst>
          </p:cNvPr>
          <p:cNvSpPr>
            <a:spLocks noGrp="1"/>
          </p:cNvSpPr>
          <p:nvPr/>
        </p:nvSpPr>
        <p:spPr>
          <a:xfrm>
            <a:off x="3524250" y="2514600"/>
            <a:ext cx="7810500" cy="476250"/>
          </a:xfrm>
          <a:prstGeom prst="rect">
            <a:avLst/>
          </a:prstGeom>
          <a:noFill/>
          <a:ln w="0">
            <a:noFill/>
            <a:prstDash val="solid"/>
          </a:ln>
        </p:spPr>
        <p:txBody>
          <a:bodyPr wrap="square" lIns="0" tIns="0" rIns="0" bIns="0" anchor="t">
            <a:normAutofit/>
          </a:bodyPr>
          <a:lstStyle/>
          <a:p>
            <a:pPr algn="l">
              <a:lnSpc>
                <a:spcPct val="102000"/>
              </a:lnSpc>
              <a:buNone/>
              <a:defRPr sz="1350" b="0">
                <a:solidFill>
                  <a:srgbClr val="99A6B8"/>
                </a:solidFill>
                <a:latin typeface="Aptos"/>
                <a:ea typeface="Aptos"/>
                <a:cs typeface="Aptos"/>
              </a:defRPr>
            </a:pPr>
            <a:r>
              <a:rPr sz="1350" b="0">
                <a:solidFill>
                  <a:srgbClr val="99A6B8"/>
                </a:solidFill>
                <a:latin typeface="Aptos"/>
                <a:ea typeface="Aptos"/>
                <a:cs typeface="Aptos"/>
              </a:rPr>
              <a:t>Discover machine-readable payable services before the agent selects a business or tool.</a:t>
            </a:r>
          </a:p>
        </p:txBody>
      </p:sp>
      <p:sp>
        <p:nvSpPr>
          <p:cNvPr id="14" name="Straight Connector 13">
            <a:extLst>
              <a:ext uri="{FF2B5EF4-FFF2-40B4-BE49-F238E27FC236}">
                <a16:creationId xmlns:a16="http://schemas.microsoft.com/office/drawing/2014/main" id="{27E28AF1-CEBF-494A-817C-7A9D89C0B3F2}"/>
              </a:ext>
            </a:extLst>
          </p:cNvPr>
          <p:cNvSpPr>
            <a:spLocks noGrp="1"/>
          </p:cNvSpPr>
          <p:nvPr/>
        </p:nvSpPr>
        <p:spPr>
          <a:xfrm>
            <a:off x="790575" y="3152775"/>
            <a:ext cx="10544175" cy="0"/>
          </a:xfrm>
          <a:prstGeom prst="line">
            <a:avLst/>
          </a:prstGeom>
          <a:noFill/>
          <a:ln w="9525">
            <a:solidFill>
              <a:srgbClr val="2A3548"/>
            </a:solidFill>
            <a:prstDash val="solid"/>
          </a:ln>
        </p:spPr>
        <p:txBody>
          <a:bodyPr/>
          <a:lstStyle/>
          <a:p>
            <a:endParaRPr lang="en-IN"/>
          </a:p>
        </p:txBody>
      </p:sp>
      <p:sp>
        <p:nvSpPr>
          <p:cNvPr id="15" name="Rectangle 14">
            <a:extLst>
              <a:ext uri="{FF2B5EF4-FFF2-40B4-BE49-F238E27FC236}">
                <a16:creationId xmlns:a16="http://schemas.microsoft.com/office/drawing/2014/main" id="{360DB28A-B545-4F92-BD19-8623F8AB1BE8}"/>
              </a:ext>
            </a:extLst>
          </p:cNvPr>
          <p:cNvSpPr>
            <a:spLocks noGrp="1"/>
          </p:cNvSpPr>
          <p:nvPr/>
        </p:nvSpPr>
        <p:spPr>
          <a:xfrm>
            <a:off x="457200" y="3352800"/>
            <a:ext cx="114300" cy="619125"/>
          </a:xfrm>
          <a:prstGeom prst="rect">
            <a:avLst/>
          </a:prstGeom>
          <a:solidFill>
            <a:srgbClr val="3D8DFF"/>
          </a:solidFill>
          <a:ln w="0">
            <a:noFill/>
            <a:prstDash val="solid"/>
          </a:ln>
        </p:spPr>
        <p:txBody>
          <a:bodyPr/>
          <a:lstStyle/>
          <a:p>
            <a:endParaRPr lang="en-IN"/>
          </a:p>
        </p:txBody>
      </p:sp>
      <p:sp>
        <p:nvSpPr>
          <p:cNvPr id="16" name="Rectangle 15">
            <a:extLst>
              <a:ext uri="{FF2B5EF4-FFF2-40B4-BE49-F238E27FC236}">
                <a16:creationId xmlns:a16="http://schemas.microsoft.com/office/drawing/2014/main" id="{461F9446-CAE0-4774-841C-C438F2EF23E3}"/>
              </a:ext>
            </a:extLst>
          </p:cNvPr>
          <p:cNvSpPr>
            <a:spLocks noGrp="1"/>
          </p:cNvSpPr>
          <p:nvPr/>
        </p:nvSpPr>
        <p:spPr>
          <a:xfrm>
            <a:off x="790575" y="3371850"/>
            <a:ext cx="2476500" cy="266700"/>
          </a:xfrm>
          <a:prstGeom prst="rect">
            <a:avLst/>
          </a:prstGeom>
          <a:noFill/>
          <a:ln w="0">
            <a:noFill/>
            <a:prstDash val="solid"/>
          </a:ln>
        </p:spPr>
        <p:txBody>
          <a:bodyPr wrap="square" lIns="0" tIns="0" rIns="0" bIns="0" anchor="t">
            <a:normAutofit fontScale="99460"/>
          </a:bodyPr>
          <a:lstStyle/>
          <a:p>
            <a:pPr algn="l">
              <a:lnSpc>
                <a:spcPct val="102000"/>
              </a:lnSpc>
              <a:buNone/>
              <a:defRPr sz="1725" b="1">
                <a:solidFill>
                  <a:srgbClr val="F4F7FB"/>
                </a:solidFill>
                <a:latin typeface="Aptos"/>
                <a:ea typeface="Aptos"/>
                <a:cs typeface="Aptos"/>
              </a:defRPr>
            </a:pPr>
            <a:r>
              <a:rPr sz="1725" b="1">
                <a:solidFill>
                  <a:srgbClr val="F4F7FB"/>
                </a:solidFill>
                <a:latin typeface="Aptos"/>
                <a:ea typeface="Aptos"/>
                <a:cs typeface="Aptos"/>
              </a:rPr>
              <a:t>Gateway Nanopayments</a:t>
            </a:r>
          </a:p>
        </p:txBody>
      </p:sp>
      <p:sp>
        <p:nvSpPr>
          <p:cNvPr id="17" name="Rectangle 16">
            <a:extLst>
              <a:ext uri="{FF2B5EF4-FFF2-40B4-BE49-F238E27FC236}">
                <a16:creationId xmlns:a16="http://schemas.microsoft.com/office/drawing/2014/main" id="{A5B9F8D3-C2F6-43F7-B696-045F69CE29D6}"/>
              </a:ext>
            </a:extLst>
          </p:cNvPr>
          <p:cNvSpPr>
            <a:spLocks noGrp="1"/>
          </p:cNvSpPr>
          <p:nvPr/>
        </p:nvSpPr>
        <p:spPr>
          <a:xfrm>
            <a:off x="3524250" y="3362325"/>
            <a:ext cx="7810500" cy="476250"/>
          </a:xfrm>
          <a:prstGeom prst="rect">
            <a:avLst/>
          </a:prstGeom>
          <a:noFill/>
          <a:ln w="0">
            <a:noFill/>
            <a:prstDash val="solid"/>
          </a:ln>
        </p:spPr>
        <p:txBody>
          <a:bodyPr wrap="square" lIns="0" tIns="0" rIns="0" bIns="0" anchor="t">
            <a:normAutofit/>
          </a:bodyPr>
          <a:lstStyle/>
          <a:p>
            <a:pPr algn="l">
              <a:lnSpc>
                <a:spcPct val="102000"/>
              </a:lnSpc>
              <a:buNone/>
              <a:defRPr sz="1350" b="0">
                <a:solidFill>
                  <a:srgbClr val="99A6B8"/>
                </a:solidFill>
                <a:latin typeface="Aptos"/>
                <a:ea typeface="Aptos"/>
                <a:cs typeface="Aptos"/>
              </a:defRPr>
            </a:pPr>
            <a:r>
              <a:rPr sz="1350" b="0">
                <a:solidFill>
                  <a:srgbClr val="99A6B8"/>
                </a:solidFill>
                <a:latin typeface="Aptos"/>
                <a:ea typeface="Aptos"/>
                <a:cs typeface="Aptos"/>
              </a:rPr>
              <a:t>Enable high-frequency, gas-free, sub-cent USDC payments where the service and route support it.</a:t>
            </a:r>
          </a:p>
        </p:txBody>
      </p:sp>
      <p:sp>
        <p:nvSpPr>
          <p:cNvPr id="18" name="Straight Connector 17">
            <a:extLst>
              <a:ext uri="{FF2B5EF4-FFF2-40B4-BE49-F238E27FC236}">
                <a16:creationId xmlns:a16="http://schemas.microsoft.com/office/drawing/2014/main" id="{9ABC0065-9E2F-42AA-8849-239B38E36BD0}"/>
              </a:ext>
            </a:extLst>
          </p:cNvPr>
          <p:cNvSpPr>
            <a:spLocks noGrp="1"/>
          </p:cNvSpPr>
          <p:nvPr/>
        </p:nvSpPr>
        <p:spPr>
          <a:xfrm>
            <a:off x="790575" y="4000500"/>
            <a:ext cx="10544175" cy="0"/>
          </a:xfrm>
          <a:prstGeom prst="line">
            <a:avLst/>
          </a:prstGeom>
          <a:noFill/>
          <a:ln w="9525">
            <a:solidFill>
              <a:srgbClr val="2A3548"/>
            </a:solidFill>
            <a:prstDash val="solid"/>
          </a:ln>
        </p:spPr>
        <p:txBody>
          <a:bodyPr/>
          <a:lstStyle/>
          <a:p>
            <a:endParaRPr lang="en-IN"/>
          </a:p>
        </p:txBody>
      </p:sp>
      <p:sp>
        <p:nvSpPr>
          <p:cNvPr id="19" name="Rectangle 18">
            <a:extLst>
              <a:ext uri="{FF2B5EF4-FFF2-40B4-BE49-F238E27FC236}">
                <a16:creationId xmlns:a16="http://schemas.microsoft.com/office/drawing/2014/main" id="{1674FD6D-2909-44B6-BECD-EB5DAF1B1842}"/>
              </a:ext>
            </a:extLst>
          </p:cNvPr>
          <p:cNvSpPr>
            <a:spLocks noGrp="1"/>
          </p:cNvSpPr>
          <p:nvPr/>
        </p:nvSpPr>
        <p:spPr>
          <a:xfrm>
            <a:off x="457200" y="4200525"/>
            <a:ext cx="114300" cy="619125"/>
          </a:xfrm>
          <a:prstGeom prst="rect">
            <a:avLst/>
          </a:prstGeom>
          <a:solidFill>
            <a:srgbClr val="FFB454"/>
          </a:solidFill>
          <a:ln w="0">
            <a:noFill/>
            <a:prstDash val="solid"/>
          </a:ln>
        </p:spPr>
        <p:txBody>
          <a:bodyPr/>
          <a:lstStyle/>
          <a:p>
            <a:endParaRPr lang="en-IN"/>
          </a:p>
        </p:txBody>
      </p:sp>
      <p:sp>
        <p:nvSpPr>
          <p:cNvPr id="20" name="Rectangle 19">
            <a:extLst>
              <a:ext uri="{FF2B5EF4-FFF2-40B4-BE49-F238E27FC236}">
                <a16:creationId xmlns:a16="http://schemas.microsoft.com/office/drawing/2014/main" id="{B5478A76-034E-46F9-9804-6DB87B47E8B7}"/>
              </a:ext>
            </a:extLst>
          </p:cNvPr>
          <p:cNvSpPr>
            <a:spLocks noGrp="1"/>
          </p:cNvSpPr>
          <p:nvPr/>
        </p:nvSpPr>
        <p:spPr>
          <a:xfrm>
            <a:off x="790575" y="4219575"/>
            <a:ext cx="2476500" cy="266700"/>
          </a:xfrm>
          <a:prstGeom prst="rect">
            <a:avLst/>
          </a:prstGeom>
          <a:noFill/>
          <a:ln w="0">
            <a:noFill/>
            <a:prstDash val="solid"/>
          </a:ln>
        </p:spPr>
        <p:txBody>
          <a:bodyPr wrap="square" lIns="0" tIns="0" rIns="0" bIns="0" anchor="t">
            <a:normAutofit fontScale="99460"/>
          </a:bodyPr>
          <a:lstStyle/>
          <a:p>
            <a:pPr algn="l">
              <a:lnSpc>
                <a:spcPct val="102000"/>
              </a:lnSpc>
              <a:buNone/>
              <a:defRPr sz="1725" b="1">
                <a:solidFill>
                  <a:srgbClr val="F4F7FB"/>
                </a:solidFill>
                <a:latin typeface="Aptos"/>
                <a:ea typeface="Aptos"/>
                <a:cs typeface="Aptos"/>
              </a:defRPr>
            </a:pPr>
            <a:r>
              <a:rPr sz="1725" b="1">
                <a:solidFill>
                  <a:srgbClr val="F4F7FB"/>
                </a:solidFill>
                <a:latin typeface="Aptos"/>
                <a:ea typeface="Aptos"/>
                <a:cs typeface="Aptos"/>
              </a:rPr>
              <a:t>Circle CLI</a:t>
            </a:r>
          </a:p>
        </p:txBody>
      </p:sp>
      <p:sp>
        <p:nvSpPr>
          <p:cNvPr id="21" name="Rectangle 20">
            <a:extLst>
              <a:ext uri="{FF2B5EF4-FFF2-40B4-BE49-F238E27FC236}">
                <a16:creationId xmlns:a16="http://schemas.microsoft.com/office/drawing/2014/main" id="{8616F6EF-8082-4D8B-ADE2-A0B874072DD7}"/>
              </a:ext>
            </a:extLst>
          </p:cNvPr>
          <p:cNvSpPr>
            <a:spLocks noGrp="1"/>
          </p:cNvSpPr>
          <p:nvPr/>
        </p:nvSpPr>
        <p:spPr>
          <a:xfrm>
            <a:off x="3524250" y="4210050"/>
            <a:ext cx="7810500" cy="476250"/>
          </a:xfrm>
          <a:prstGeom prst="rect">
            <a:avLst/>
          </a:prstGeom>
          <a:noFill/>
          <a:ln w="0">
            <a:noFill/>
            <a:prstDash val="solid"/>
          </a:ln>
        </p:spPr>
        <p:txBody>
          <a:bodyPr wrap="square" lIns="0" tIns="0" rIns="0" bIns="0" anchor="t">
            <a:normAutofit/>
          </a:bodyPr>
          <a:lstStyle/>
          <a:p>
            <a:pPr algn="l">
              <a:lnSpc>
                <a:spcPct val="102000"/>
              </a:lnSpc>
              <a:buNone/>
              <a:defRPr sz="1350" b="0">
                <a:solidFill>
                  <a:srgbClr val="99A6B8"/>
                </a:solidFill>
                <a:latin typeface="Aptos"/>
                <a:ea typeface="Aptos"/>
                <a:cs typeface="Aptos"/>
              </a:defRPr>
            </a:pPr>
            <a:r>
              <a:rPr sz="1350" b="0">
                <a:solidFill>
                  <a:srgbClr val="99A6B8"/>
                </a:solidFill>
                <a:latin typeface="Aptos"/>
                <a:ea typeface="Aptos"/>
                <a:cs typeface="Aptos"/>
              </a:rPr>
              <a:t>Create/list wallets, configure policies, discover services, and trigger transactions during development.</a:t>
            </a:r>
          </a:p>
        </p:txBody>
      </p:sp>
      <p:sp>
        <p:nvSpPr>
          <p:cNvPr id="22" name="Straight Connector 21">
            <a:extLst>
              <a:ext uri="{FF2B5EF4-FFF2-40B4-BE49-F238E27FC236}">
                <a16:creationId xmlns:a16="http://schemas.microsoft.com/office/drawing/2014/main" id="{8750A3A5-D572-4E72-B90E-9A248C7ACD8B}"/>
              </a:ext>
            </a:extLst>
          </p:cNvPr>
          <p:cNvSpPr>
            <a:spLocks noGrp="1"/>
          </p:cNvSpPr>
          <p:nvPr/>
        </p:nvSpPr>
        <p:spPr>
          <a:xfrm>
            <a:off x="790575" y="4848225"/>
            <a:ext cx="10544175" cy="0"/>
          </a:xfrm>
          <a:prstGeom prst="line">
            <a:avLst/>
          </a:prstGeom>
          <a:noFill/>
          <a:ln w="9525">
            <a:solidFill>
              <a:srgbClr val="2A3548"/>
            </a:solidFill>
            <a:prstDash val="solid"/>
          </a:ln>
        </p:spPr>
        <p:txBody>
          <a:bodyPr/>
          <a:lstStyle/>
          <a:p>
            <a:endParaRPr lang="en-IN"/>
          </a:p>
        </p:txBody>
      </p:sp>
      <p:sp>
        <p:nvSpPr>
          <p:cNvPr id="23" name="Rectangle 22">
            <a:extLst>
              <a:ext uri="{FF2B5EF4-FFF2-40B4-BE49-F238E27FC236}">
                <a16:creationId xmlns:a16="http://schemas.microsoft.com/office/drawing/2014/main" id="{28E82127-F241-4529-BFEB-6F5C117D4954}"/>
              </a:ext>
            </a:extLst>
          </p:cNvPr>
          <p:cNvSpPr>
            <a:spLocks noGrp="1"/>
          </p:cNvSpPr>
          <p:nvPr/>
        </p:nvSpPr>
        <p:spPr>
          <a:xfrm>
            <a:off x="457200" y="5048250"/>
            <a:ext cx="114300" cy="619125"/>
          </a:xfrm>
          <a:prstGeom prst="rect">
            <a:avLst/>
          </a:prstGeom>
          <a:solidFill>
            <a:srgbClr val="B29CFF"/>
          </a:solidFill>
          <a:ln w="0">
            <a:noFill/>
            <a:prstDash val="solid"/>
          </a:ln>
        </p:spPr>
        <p:txBody>
          <a:bodyPr/>
          <a:lstStyle/>
          <a:p>
            <a:endParaRPr lang="en-IN"/>
          </a:p>
        </p:txBody>
      </p:sp>
      <p:sp>
        <p:nvSpPr>
          <p:cNvPr id="24" name="Rectangle 23">
            <a:extLst>
              <a:ext uri="{FF2B5EF4-FFF2-40B4-BE49-F238E27FC236}">
                <a16:creationId xmlns:a16="http://schemas.microsoft.com/office/drawing/2014/main" id="{D0C71AAB-D948-4659-B44E-105CA40FEDAA}"/>
              </a:ext>
            </a:extLst>
          </p:cNvPr>
          <p:cNvSpPr>
            <a:spLocks noGrp="1"/>
          </p:cNvSpPr>
          <p:nvPr/>
        </p:nvSpPr>
        <p:spPr>
          <a:xfrm>
            <a:off x="790575" y="5067300"/>
            <a:ext cx="2476500" cy="266700"/>
          </a:xfrm>
          <a:prstGeom prst="rect">
            <a:avLst/>
          </a:prstGeom>
          <a:noFill/>
          <a:ln w="0">
            <a:noFill/>
            <a:prstDash val="solid"/>
          </a:ln>
        </p:spPr>
        <p:txBody>
          <a:bodyPr wrap="square" lIns="0" tIns="0" rIns="0" bIns="0" anchor="t">
            <a:normAutofit fontScale="99460"/>
          </a:bodyPr>
          <a:lstStyle/>
          <a:p>
            <a:pPr algn="l">
              <a:lnSpc>
                <a:spcPct val="102000"/>
              </a:lnSpc>
              <a:buNone/>
              <a:defRPr sz="1725" b="1">
                <a:solidFill>
                  <a:srgbClr val="F4F7FB"/>
                </a:solidFill>
                <a:latin typeface="Aptos"/>
                <a:ea typeface="Aptos"/>
                <a:cs typeface="Aptos"/>
              </a:defRPr>
            </a:pPr>
            <a:r>
              <a:rPr sz="1725" b="1">
                <a:solidFill>
                  <a:srgbClr val="F4F7FB"/>
                </a:solidFill>
                <a:latin typeface="Aptos"/>
                <a:ea typeface="Aptos"/>
                <a:cs typeface="Aptos"/>
              </a:rPr>
              <a:t>Circle Skills + MCP</a:t>
            </a:r>
          </a:p>
        </p:txBody>
      </p:sp>
      <p:sp>
        <p:nvSpPr>
          <p:cNvPr id="25" name="Rectangle 24">
            <a:extLst>
              <a:ext uri="{FF2B5EF4-FFF2-40B4-BE49-F238E27FC236}">
                <a16:creationId xmlns:a16="http://schemas.microsoft.com/office/drawing/2014/main" id="{EF3B7992-5510-4B3C-886C-E0B251FC1EEF}"/>
              </a:ext>
            </a:extLst>
          </p:cNvPr>
          <p:cNvSpPr>
            <a:spLocks noGrp="1"/>
          </p:cNvSpPr>
          <p:nvPr/>
        </p:nvSpPr>
        <p:spPr>
          <a:xfrm>
            <a:off x="3524250" y="5057775"/>
            <a:ext cx="7810500" cy="476250"/>
          </a:xfrm>
          <a:prstGeom prst="rect">
            <a:avLst/>
          </a:prstGeom>
          <a:noFill/>
          <a:ln w="0">
            <a:noFill/>
            <a:prstDash val="solid"/>
          </a:ln>
        </p:spPr>
        <p:txBody>
          <a:bodyPr wrap="square" lIns="0" tIns="0" rIns="0" bIns="0" anchor="t">
            <a:normAutofit/>
          </a:bodyPr>
          <a:lstStyle/>
          <a:p>
            <a:pPr algn="l">
              <a:lnSpc>
                <a:spcPct val="102000"/>
              </a:lnSpc>
              <a:buNone/>
              <a:defRPr sz="1350" b="0">
                <a:solidFill>
                  <a:srgbClr val="99A6B8"/>
                </a:solidFill>
                <a:latin typeface="Aptos"/>
                <a:ea typeface="Aptos"/>
                <a:cs typeface="Aptos"/>
              </a:defRPr>
            </a:pPr>
            <a:r>
              <a:rPr sz="1350" b="0">
                <a:solidFill>
                  <a:srgbClr val="99A6B8"/>
                </a:solidFill>
                <a:latin typeface="Aptos"/>
                <a:ea typeface="Aptos"/>
                <a:cs typeface="Aptos"/>
              </a:rPr>
              <a:t>Expose Circle operations as agent tools; constrain them behind PayPilot’s deterministic policy engine.</a:t>
            </a:r>
          </a:p>
        </p:txBody>
      </p:sp>
      <p:sp>
        <p:nvSpPr>
          <p:cNvPr id="26" name="Straight Connector 25">
            <a:extLst>
              <a:ext uri="{FF2B5EF4-FFF2-40B4-BE49-F238E27FC236}">
                <a16:creationId xmlns:a16="http://schemas.microsoft.com/office/drawing/2014/main" id="{57205A35-B66E-4796-A81E-886A68FE99FC}"/>
              </a:ext>
            </a:extLst>
          </p:cNvPr>
          <p:cNvSpPr>
            <a:spLocks noGrp="1"/>
          </p:cNvSpPr>
          <p:nvPr/>
        </p:nvSpPr>
        <p:spPr>
          <a:xfrm>
            <a:off x="790575" y="5695950"/>
            <a:ext cx="10544175" cy="0"/>
          </a:xfrm>
          <a:prstGeom prst="line">
            <a:avLst/>
          </a:prstGeom>
          <a:noFill/>
          <a:ln w="9525">
            <a:solidFill>
              <a:srgbClr val="2A3548"/>
            </a:solidFill>
            <a:prstDash val="solid"/>
          </a:ln>
        </p:spPr>
        <p:txBody>
          <a:bodyPr/>
          <a:lstStyle/>
          <a:p>
            <a:endParaRPr lang="en-IN"/>
          </a:p>
        </p:txBody>
      </p:sp>
      <p:sp>
        <p:nvSpPr>
          <p:cNvPr id="27" name="Rectangle: Rounded Corners 26">
            <a:extLst>
              <a:ext uri="{FF2B5EF4-FFF2-40B4-BE49-F238E27FC236}">
                <a16:creationId xmlns:a16="http://schemas.microsoft.com/office/drawing/2014/main" id="{47AC5F98-96DE-4A0E-8311-00E6C8A4D07A}"/>
              </a:ext>
            </a:extLst>
          </p:cNvPr>
          <p:cNvSpPr>
            <a:spLocks noGrp="1"/>
          </p:cNvSpPr>
          <p:nvPr/>
        </p:nvSpPr>
        <p:spPr>
          <a:xfrm>
            <a:off x="457200" y="5905500"/>
            <a:ext cx="1809750" cy="285750"/>
          </a:xfrm>
          <a:prstGeom prst="roundRect">
            <a:avLst>
              <a:gd name="adj" fmla="val 50000"/>
            </a:avLst>
          </a:prstGeom>
          <a:solidFill>
            <a:srgbClr val="38E09F"/>
          </a:solidFill>
          <a:ln w="0">
            <a:noFill/>
            <a:prstDash val="solid"/>
          </a:ln>
        </p:spPr>
        <p:txBody>
          <a:bodyPr/>
          <a:lstStyle/>
          <a:p>
            <a:endParaRPr lang="en-IN"/>
          </a:p>
        </p:txBody>
      </p:sp>
      <p:sp>
        <p:nvSpPr>
          <p:cNvPr id="28" name="Rectangle 27">
            <a:extLst>
              <a:ext uri="{FF2B5EF4-FFF2-40B4-BE49-F238E27FC236}">
                <a16:creationId xmlns:a16="http://schemas.microsoft.com/office/drawing/2014/main" id="{3B520D71-8EBD-4E44-8627-F5E35261C5D9}"/>
              </a:ext>
            </a:extLst>
          </p:cNvPr>
          <p:cNvSpPr>
            <a:spLocks noGrp="1"/>
          </p:cNvSpPr>
          <p:nvPr/>
        </p:nvSpPr>
        <p:spPr>
          <a:xfrm>
            <a:off x="552450" y="5953125"/>
            <a:ext cx="1619250" cy="190500"/>
          </a:xfrm>
          <a:prstGeom prst="rect">
            <a:avLst/>
          </a:prstGeom>
          <a:noFill/>
          <a:ln w="0">
            <a:noFill/>
            <a:prstDash val="solid"/>
          </a:ln>
        </p:spPr>
        <p:txBody>
          <a:bodyPr wrap="square" lIns="0" tIns="0" rIns="0" bIns="0" anchor="ctr">
            <a:normAutofit/>
          </a:bodyPr>
          <a:lstStyle/>
          <a:p>
            <a:pPr algn="ctr">
              <a:lnSpc>
                <a:spcPct val="102000"/>
              </a:lnSpc>
              <a:buNone/>
              <a:defRPr sz="1050" b="1">
                <a:solidFill>
                  <a:srgbClr val="070A0F"/>
                </a:solidFill>
                <a:latin typeface="Aptos"/>
                <a:ea typeface="Aptos"/>
                <a:cs typeface="Aptos"/>
              </a:defRPr>
            </a:pPr>
            <a:r>
              <a:rPr sz="1050" b="1">
                <a:solidFill>
                  <a:srgbClr val="070A0F"/>
                </a:solidFill>
                <a:latin typeface="Aptos"/>
                <a:ea typeface="Aptos"/>
                <a:cs typeface="Aptos"/>
              </a:rPr>
              <a:t>RECOMMENDED START</a:t>
            </a:r>
          </a:p>
        </p:txBody>
      </p:sp>
      <p:sp>
        <p:nvSpPr>
          <p:cNvPr id="29" name="Rectangle 28">
            <a:extLst>
              <a:ext uri="{FF2B5EF4-FFF2-40B4-BE49-F238E27FC236}">
                <a16:creationId xmlns:a16="http://schemas.microsoft.com/office/drawing/2014/main" id="{F471DF19-D26F-46DE-AE59-A69A354DBABB}"/>
              </a:ext>
            </a:extLst>
          </p:cNvPr>
          <p:cNvSpPr>
            <a:spLocks noGrp="1"/>
          </p:cNvSpPr>
          <p:nvPr/>
        </p:nvSpPr>
        <p:spPr>
          <a:xfrm>
            <a:off x="2495550" y="5895975"/>
            <a:ext cx="8839200" cy="228600"/>
          </a:xfrm>
          <a:prstGeom prst="rect">
            <a:avLst/>
          </a:prstGeom>
          <a:noFill/>
          <a:ln w="0">
            <a:noFill/>
            <a:prstDash val="solid"/>
          </a:ln>
        </p:spPr>
        <p:txBody>
          <a:bodyPr wrap="square" lIns="0" tIns="0" rIns="0" bIns="0" anchor="t">
            <a:normAutofit/>
          </a:bodyPr>
          <a:lstStyle/>
          <a:p>
            <a:pPr algn="l">
              <a:lnSpc>
                <a:spcPct val="102000"/>
              </a:lnSpc>
              <a:buNone/>
              <a:defRPr sz="1350" b="1">
                <a:solidFill>
                  <a:srgbClr val="F4F7FB"/>
                </a:solidFill>
                <a:latin typeface="Aptos"/>
                <a:ea typeface="Aptos"/>
                <a:cs typeface="Aptos"/>
              </a:defRPr>
            </a:pPr>
            <a:r>
              <a:rPr sz="1350" b="1">
                <a:solidFill>
                  <a:srgbClr val="F4F7FB"/>
                </a:solidFill>
                <a:latin typeface="Aptos"/>
                <a:ea typeface="Aptos"/>
                <a:cs typeface="Aptos"/>
              </a:rPr>
              <a:t>Start with Circle’s agent tools, then bind every business call to PayPilot’s session, pricing, and receipt contracts.</a:t>
            </a:r>
          </a:p>
        </p:txBody>
      </p:sp>
    </p:spTree>
    <p:extLst>
      <p:ext uri="{BB962C8B-B14F-4D97-AF65-F5344CB8AC3E}">
        <p14:creationId xmlns:p14="http://schemas.microsoft.com/office/powerpoint/2010/main" val="146607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A0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3C86E40-263C-4687-AB2B-9022DAAF6575}"/>
              </a:ext>
            </a:extLst>
          </p:cNvPr>
          <p:cNvSpPr>
            <a:spLocks noGrp="1"/>
          </p:cNvSpPr>
          <p:nvPr/>
        </p:nvSpPr>
        <p:spPr>
          <a:xfrm>
            <a:off x="457200" y="209550"/>
            <a:ext cx="4953000" cy="1905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B29CFF"/>
                </a:solidFill>
                <a:latin typeface="Aptos"/>
                <a:ea typeface="Aptos"/>
                <a:cs typeface="Aptos"/>
              </a:defRPr>
            </a:pPr>
            <a:r>
              <a:rPr sz="1050" b="1">
                <a:solidFill>
                  <a:srgbClr val="B29CFF"/>
                </a:solidFill>
                <a:latin typeface="Aptos"/>
                <a:ea typeface="Aptos"/>
                <a:cs typeface="Aptos"/>
              </a:rPr>
              <a:t>BUSINESS INTEGRATION</a:t>
            </a:r>
          </a:p>
        </p:txBody>
      </p:sp>
      <p:sp>
        <p:nvSpPr>
          <p:cNvPr id="2" name="Rectangle 1">
            <a:extLst>
              <a:ext uri="{FF2B5EF4-FFF2-40B4-BE49-F238E27FC236}">
                <a16:creationId xmlns:a16="http://schemas.microsoft.com/office/drawing/2014/main" id="{7873F277-6335-4CE1-B3CF-259CA9D06EFC}"/>
              </a:ext>
            </a:extLst>
          </p:cNvPr>
          <p:cNvSpPr>
            <a:spLocks noGrp="1"/>
          </p:cNvSpPr>
          <p:nvPr/>
        </p:nvSpPr>
        <p:spPr>
          <a:xfrm>
            <a:off x="457200" y="514350"/>
            <a:ext cx="11239500" cy="762000"/>
          </a:xfrm>
          <a:prstGeom prst="rect">
            <a:avLst/>
          </a:prstGeom>
          <a:noFill/>
          <a:ln w="0">
            <a:noFill/>
            <a:prstDash val="solid"/>
          </a:ln>
        </p:spPr>
        <p:txBody>
          <a:bodyPr wrap="square" lIns="0" tIns="0" rIns="0" bIns="0" anchor="t">
            <a:noAutofit/>
          </a:bodyPr>
          <a:lstStyle/>
          <a:p>
            <a:pPr algn="l">
              <a:lnSpc>
                <a:spcPct val="94000"/>
              </a:lnSpc>
              <a:buNone/>
              <a:defRPr sz="3075" b="1">
                <a:solidFill>
                  <a:srgbClr val="F4F7FB"/>
                </a:solidFill>
                <a:latin typeface="Aptos"/>
                <a:ea typeface="Aptos"/>
                <a:cs typeface="Aptos"/>
              </a:defRPr>
            </a:pPr>
            <a:r>
              <a:rPr sz="3075" b="1">
                <a:solidFill>
                  <a:srgbClr val="F4F7FB"/>
                </a:solidFill>
                <a:latin typeface="Aptos"/>
                <a:ea typeface="Aptos"/>
                <a:cs typeface="Aptos"/>
              </a:rPr>
              <a:t>Connect any deployed business without giving it payment authority.</a:t>
            </a:r>
          </a:p>
        </p:txBody>
      </p:sp>
      <p:sp>
        <p:nvSpPr>
          <p:cNvPr id="3" name="Straight Connector 2">
            <a:extLst>
              <a:ext uri="{FF2B5EF4-FFF2-40B4-BE49-F238E27FC236}">
                <a16:creationId xmlns:a16="http://schemas.microsoft.com/office/drawing/2014/main" id="{91B7C436-7933-4D20-8F1C-E4ACF4D3A947}"/>
              </a:ext>
            </a:extLst>
          </p:cNvPr>
          <p:cNvSpPr>
            <a:spLocks noGrp="1"/>
          </p:cNvSpPr>
          <p:nvPr/>
        </p:nvSpPr>
        <p:spPr>
          <a:xfrm>
            <a:off x="457200" y="1371600"/>
            <a:ext cx="11277600" cy="0"/>
          </a:xfrm>
          <a:prstGeom prst="line">
            <a:avLst/>
          </a:prstGeom>
          <a:noFill/>
          <a:ln w="9525">
            <a:solidFill>
              <a:srgbClr val="2A3548"/>
            </a:solidFill>
            <a:prstDash val="solid"/>
          </a:ln>
        </p:spPr>
        <p:txBody>
          <a:bodyPr/>
          <a:lstStyle/>
          <a:p>
            <a:endParaRPr lang="en-IN"/>
          </a:p>
        </p:txBody>
      </p:sp>
      <p:sp>
        <p:nvSpPr>
          <p:cNvPr id="4" name="Rectangle 3">
            <a:extLst>
              <a:ext uri="{FF2B5EF4-FFF2-40B4-BE49-F238E27FC236}">
                <a16:creationId xmlns:a16="http://schemas.microsoft.com/office/drawing/2014/main" id="{45D2CA02-DBF6-45C7-A15D-4CD4A16B5F88}"/>
              </a:ext>
            </a:extLst>
          </p:cNvPr>
          <p:cNvSpPr>
            <a:spLocks noGrp="1"/>
          </p:cNvSpPr>
          <p:nvPr/>
        </p:nvSpPr>
        <p:spPr>
          <a:xfrm>
            <a:off x="457200" y="6457950"/>
            <a:ext cx="152400" cy="38100"/>
          </a:xfrm>
          <a:prstGeom prst="rect">
            <a:avLst/>
          </a:prstGeom>
          <a:solidFill>
            <a:srgbClr val="B29CFF"/>
          </a:solidFill>
          <a:ln w="0">
            <a:noFill/>
            <a:prstDash val="solid"/>
          </a:ln>
        </p:spPr>
        <p:txBody>
          <a:bodyPr/>
          <a:lstStyle/>
          <a:p>
            <a:endParaRPr lang="en-IN"/>
          </a:p>
        </p:txBody>
      </p:sp>
      <p:sp>
        <p:nvSpPr>
          <p:cNvPr id="5" name="Rectangle 4">
            <a:extLst>
              <a:ext uri="{FF2B5EF4-FFF2-40B4-BE49-F238E27FC236}">
                <a16:creationId xmlns:a16="http://schemas.microsoft.com/office/drawing/2014/main" id="{4CD189E9-D301-4B07-A411-C833B2DFE9E6}"/>
              </a:ext>
            </a:extLst>
          </p:cNvPr>
          <p:cNvSpPr>
            <a:spLocks noGrp="1"/>
          </p:cNvSpPr>
          <p:nvPr/>
        </p:nvSpPr>
        <p:spPr>
          <a:xfrm>
            <a:off x="704850" y="6381750"/>
            <a:ext cx="1714500" cy="190500"/>
          </a:xfrm>
          <a:prstGeom prst="rect">
            <a:avLst/>
          </a:prstGeom>
          <a:noFill/>
          <a:ln w="0">
            <a:noFill/>
            <a:prstDash val="solid"/>
          </a:ln>
        </p:spPr>
        <p:txBody>
          <a:bodyPr wrap="square" lIns="0" tIns="0" rIns="0" bIns="0" anchor="t">
            <a:normAutofit/>
          </a:bodyPr>
          <a:lstStyle/>
          <a:p>
            <a:pPr algn="l">
              <a:lnSpc>
                <a:spcPct val="102000"/>
              </a:lnSpc>
              <a:buNone/>
              <a:defRPr sz="900" b="1">
                <a:solidFill>
                  <a:srgbClr val="99A6B8"/>
                </a:solidFill>
                <a:latin typeface="Aptos"/>
                <a:ea typeface="Aptos"/>
                <a:cs typeface="Aptos"/>
              </a:defRPr>
            </a:pPr>
            <a:r>
              <a:rPr sz="900" b="1">
                <a:solidFill>
                  <a:srgbClr val="99A6B8"/>
                </a:solidFill>
                <a:latin typeface="Aptos"/>
                <a:ea typeface="Aptos"/>
                <a:cs typeface="Aptos"/>
              </a:rPr>
              <a:t>PAYPILOT</a:t>
            </a:r>
          </a:p>
        </p:txBody>
      </p:sp>
      <p:sp>
        <p:nvSpPr>
          <p:cNvPr id="6" name="Rectangle 5">
            <a:extLst>
              <a:ext uri="{FF2B5EF4-FFF2-40B4-BE49-F238E27FC236}">
                <a16:creationId xmlns:a16="http://schemas.microsoft.com/office/drawing/2014/main" id="{17BC36BC-E6BF-412B-9D90-832AB0D2BE46}"/>
              </a:ext>
            </a:extLst>
          </p:cNvPr>
          <p:cNvSpPr>
            <a:spLocks noGrp="1"/>
          </p:cNvSpPr>
          <p:nvPr/>
        </p:nvSpPr>
        <p:spPr>
          <a:xfrm>
            <a:off x="11182350" y="6381750"/>
            <a:ext cx="552450" cy="190500"/>
          </a:xfrm>
          <a:prstGeom prst="rect">
            <a:avLst/>
          </a:prstGeom>
          <a:noFill/>
          <a:ln w="0">
            <a:noFill/>
            <a:prstDash val="solid"/>
          </a:ln>
        </p:spPr>
        <p:txBody>
          <a:bodyPr wrap="square" lIns="0" tIns="0" rIns="0" bIns="0" anchor="t">
            <a:normAutofit/>
          </a:bodyPr>
          <a:lstStyle/>
          <a:p>
            <a:pPr algn="r">
              <a:lnSpc>
                <a:spcPct val="102000"/>
              </a:lnSpc>
              <a:buNone/>
              <a:defRPr sz="975" b="0">
                <a:solidFill>
                  <a:srgbClr val="99A6B8"/>
                </a:solidFill>
                <a:latin typeface="Aptos"/>
                <a:ea typeface="Aptos"/>
                <a:cs typeface="Aptos"/>
              </a:defRPr>
            </a:pPr>
            <a:r>
              <a:rPr sz="975" b="0">
                <a:solidFill>
                  <a:srgbClr val="99A6B8"/>
                </a:solidFill>
                <a:latin typeface="Aptos"/>
                <a:ea typeface="Aptos"/>
                <a:cs typeface="Aptos"/>
              </a:rPr>
              <a:t>08</a:t>
            </a:r>
          </a:p>
        </p:txBody>
      </p:sp>
      <p:sp>
        <p:nvSpPr>
          <p:cNvPr id="7" name="Rectangle 6">
            <a:extLst>
              <a:ext uri="{FF2B5EF4-FFF2-40B4-BE49-F238E27FC236}">
                <a16:creationId xmlns:a16="http://schemas.microsoft.com/office/drawing/2014/main" id="{C1E67FE6-2A4A-476A-A069-E23A61E96999}"/>
              </a:ext>
            </a:extLst>
          </p:cNvPr>
          <p:cNvSpPr>
            <a:spLocks noGrp="1"/>
          </p:cNvSpPr>
          <p:nvPr/>
        </p:nvSpPr>
        <p:spPr>
          <a:xfrm>
            <a:off x="457200" y="1733550"/>
            <a:ext cx="5219700" cy="3467100"/>
          </a:xfrm>
          <a:prstGeom prst="rect">
            <a:avLst/>
          </a:prstGeom>
          <a:solidFill>
            <a:srgbClr val="111827"/>
          </a:solidFill>
          <a:ln w="19050">
            <a:solidFill>
              <a:srgbClr val="B29CFF"/>
            </a:solidFill>
            <a:prstDash val="solid"/>
          </a:ln>
        </p:spPr>
        <p:txBody>
          <a:bodyPr/>
          <a:lstStyle/>
          <a:p>
            <a:endParaRPr lang="en-IN"/>
          </a:p>
        </p:txBody>
      </p:sp>
      <p:sp>
        <p:nvSpPr>
          <p:cNvPr id="8" name="Rectangle 7">
            <a:extLst>
              <a:ext uri="{FF2B5EF4-FFF2-40B4-BE49-F238E27FC236}">
                <a16:creationId xmlns:a16="http://schemas.microsoft.com/office/drawing/2014/main" id="{EAA41986-996C-41BE-97BD-56585A8D6F1D}"/>
              </a:ext>
            </a:extLst>
          </p:cNvPr>
          <p:cNvSpPr>
            <a:spLocks noGrp="1"/>
          </p:cNvSpPr>
          <p:nvPr/>
        </p:nvSpPr>
        <p:spPr>
          <a:xfrm>
            <a:off x="723900" y="1990725"/>
            <a:ext cx="1428750" cy="200025"/>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B29CFF"/>
                </a:solidFill>
                <a:latin typeface="Aptos"/>
                <a:ea typeface="Aptos"/>
                <a:cs typeface="Aptos"/>
              </a:defRPr>
            </a:pPr>
            <a:r>
              <a:rPr sz="1050" b="1">
                <a:solidFill>
                  <a:srgbClr val="B29CFF"/>
                </a:solidFill>
                <a:latin typeface="Aptos"/>
                <a:ea typeface="Aptos"/>
                <a:cs typeface="Aptos"/>
              </a:rPr>
              <a:t>OPTION A</a:t>
            </a:r>
          </a:p>
        </p:txBody>
      </p:sp>
      <p:sp>
        <p:nvSpPr>
          <p:cNvPr id="9" name="Rectangle 8">
            <a:extLst>
              <a:ext uri="{FF2B5EF4-FFF2-40B4-BE49-F238E27FC236}">
                <a16:creationId xmlns:a16="http://schemas.microsoft.com/office/drawing/2014/main" id="{8DEFBBDA-F5A8-48CE-BC7D-C726A6112CAD}"/>
              </a:ext>
            </a:extLst>
          </p:cNvPr>
          <p:cNvSpPr>
            <a:spLocks noGrp="1"/>
          </p:cNvSpPr>
          <p:nvPr/>
        </p:nvSpPr>
        <p:spPr>
          <a:xfrm>
            <a:off x="723900" y="2371725"/>
            <a:ext cx="4191000" cy="400050"/>
          </a:xfrm>
          <a:prstGeom prst="rect">
            <a:avLst/>
          </a:prstGeom>
          <a:noFill/>
          <a:ln w="0">
            <a:noFill/>
            <a:prstDash val="solid"/>
          </a:ln>
        </p:spPr>
        <p:txBody>
          <a:bodyPr wrap="square" lIns="0" tIns="0" rIns="0" bIns="0" anchor="t">
            <a:normAutofit/>
          </a:bodyPr>
          <a:lstStyle/>
          <a:p>
            <a:pPr algn="l">
              <a:lnSpc>
                <a:spcPct val="102000"/>
              </a:lnSpc>
              <a:buNone/>
              <a:defRPr sz="2400" b="1">
                <a:solidFill>
                  <a:srgbClr val="F4F7FB"/>
                </a:solidFill>
                <a:latin typeface="Aptos"/>
                <a:ea typeface="Aptos"/>
                <a:cs typeface="Aptos"/>
              </a:defRPr>
            </a:pPr>
            <a:r>
              <a:rPr sz="2400" b="1">
                <a:solidFill>
                  <a:srgbClr val="F4F7FB"/>
                </a:solidFill>
                <a:latin typeface="Aptos"/>
                <a:ea typeface="Aptos"/>
                <a:cs typeface="Aptos"/>
              </a:rPr>
              <a:t>Standard HTTPS API</a:t>
            </a:r>
          </a:p>
        </p:txBody>
      </p:sp>
      <p:sp>
        <p:nvSpPr>
          <p:cNvPr id="10" name="Rectangle 9">
            <a:extLst>
              <a:ext uri="{FF2B5EF4-FFF2-40B4-BE49-F238E27FC236}">
                <a16:creationId xmlns:a16="http://schemas.microsoft.com/office/drawing/2014/main" id="{D65E1A01-1A4B-49BF-976E-913BCFC01D5F}"/>
              </a:ext>
            </a:extLst>
          </p:cNvPr>
          <p:cNvSpPr>
            <a:spLocks noGrp="1"/>
          </p:cNvSpPr>
          <p:nvPr/>
        </p:nvSpPr>
        <p:spPr>
          <a:xfrm>
            <a:off x="723900" y="2952750"/>
            <a:ext cx="4286250" cy="257175"/>
          </a:xfrm>
          <a:prstGeom prst="rect">
            <a:avLst/>
          </a:prstGeom>
          <a:noFill/>
          <a:ln w="0">
            <a:noFill/>
            <a:prstDash val="solid"/>
          </a:ln>
        </p:spPr>
        <p:txBody>
          <a:bodyPr wrap="square" lIns="0" tIns="0" rIns="0" bIns="0" anchor="t">
            <a:normAutofit/>
          </a:bodyPr>
          <a:lstStyle/>
          <a:p>
            <a:pPr algn="l">
              <a:lnSpc>
                <a:spcPct val="102000"/>
              </a:lnSpc>
              <a:buNone/>
              <a:defRPr sz="1500" b="1">
                <a:solidFill>
                  <a:srgbClr val="F4F7FB"/>
                </a:solidFill>
                <a:latin typeface="Aptos"/>
                <a:ea typeface="Aptos"/>
                <a:cs typeface="Aptos"/>
              </a:defRPr>
            </a:pPr>
            <a:r>
              <a:rPr sz="1500" b="1">
                <a:solidFill>
                  <a:srgbClr val="F4F7FB"/>
                </a:solidFill>
                <a:latin typeface="Aptos"/>
                <a:ea typeface="Aptos"/>
                <a:cs typeface="Aptos"/>
              </a:rPr>
              <a:t>PayPilot → signed request → business endpoint</a:t>
            </a:r>
          </a:p>
        </p:txBody>
      </p:sp>
      <p:sp>
        <p:nvSpPr>
          <p:cNvPr id="11" name="Rectangle 10">
            <a:extLst>
              <a:ext uri="{FF2B5EF4-FFF2-40B4-BE49-F238E27FC236}">
                <a16:creationId xmlns:a16="http://schemas.microsoft.com/office/drawing/2014/main" id="{1ED6039E-940F-4E39-8890-98D9721063DF}"/>
              </a:ext>
            </a:extLst>
          </p:cNvPr>
          <p:cNvSpPr>
            <a:spLocks noGrp="1"/>
          </p:cNvSpPr>
          <p:nvPr/>
        </p:nvSpPr>
        <p:spPr>
          <a:xfrm>
            <a:off x="723900" y="3476625"/>
            <a:ext cx="4381500" cy="1352550"/>
          </a:xfrm>
          <a:prstGeom prst="rect">
            <a:avLst/>
          </a:prstGeom>
          <a:noFill/>
          <a:ln w="0">
            <a:noFill/>
            <a:prstDash val="solid"/>
          </a:ln>
        </p:spPr>
        <p:txBody>
          <a:bodyPr lIns="0" tIns="0" rIns="0" bIns="0">
            <a:normAutofit/>
          </a:bodyPr>
          <a:lstStyle/>
          <a:p>
            <a:pPr marL="22" indent="-13">
              <a:lnSpc>
                <a:spcPct val="102000"/>
              </a:lnSpc>
              <a:spcAft>
                <a:spcPts val="10"/>
              </a:spcAft>
              <a:buNone/>
              <a:defRPr sz="1350">
                <a:solidFill>
                  <a:srgbClr val="F4F7FB"/>
                </a:solidFill>
                <a:latin typeface="Aptos"/>
                <a:ea typeface="Aptos"/>
                <a:cs typeface="Aptos"/>
              </a:defRPr>
            </a:pPr>
            <a:r>
              <a:rPr sz="1350">
                <a:solidFill>
                  <a:srgbClr val="F4F7FB"/>
                </a:solidFill>
                <a:latin typeface="Aptos"/>
                <a:ea typeface="Aptos"/>
                <a:cs typeface="Aptos"/>
              </a:rPr>
              <a:t>Publish a versioned service contract with price and fulfilment rules.</a:t>
            </a:r>
          </a:p>
          <a:p>
            <a:pPr marL="22" indent="-13">
              <a:lnSpc>
                <a:spcPct val="102000"/>
              </a:lnSpc>
              <a:spcAft>
                <a:spcPts val="10"/>
              </a:spcAft>
              <a:buNone/>
              <a:defRPr sz="1350">
                <a:solidFill>
                  <a:srgbClr val="F4F7FB"/>
                </a:solidFill>
                <a:latin typeface="Aptos"/>
                <a:ea typeface="Aptos"/>
                <a:cs typeface="Aptos"/>
              </a:defRPr>
            </a:pPr>
            <a:r>
              <a:rPr sz="1350">
                <a:solidFill>
                  <a:srgbClr val="F4F7FB"/>
                </a:solidFill>
                <a:latin typeface="Aptos"/>
                <a:ea typeface="Aptos"/>
                <a:cs typeface="Aptos"/>
              </a:rPr>
              <a:t>Authenticate PayPilot with scoped API credentials.</a:t>
            </a:r>
          </a:p>
          <a:p>
            <a:pPr marL="22" indent="-13">
              <a:lnSpc>
                <a:spcPct val="102000"/>
              </a:lnSpc>
              <a:spcAft>
                <a:spcPts val="10"/>
              </a:spcAft>
              <a:buNone/>
              <a:defRPr sz="1350">
                <a:solidFill>
                  <a:srgbClr val="F4F7FB"/>
                </a:solidFill>
                <a:latin typeface="Aptos"/>
                <a:ea typeface="Aptos"/>
                <a:cs typeface="Aptos"/>
              </a:defRPr>
            </a:pPr>
            <a:r>
              <a:rPr sz="1350">
                <a:solidFill>
                  <a:srgbClr val="F4F7FB"/>
                </a:solidFill>
                <a:latin typeface="Aptos"/>
                <a:ea typeface="Aptos"/>
                <a:cs typeface="Aptos"/>
              </a:rPr>
              <a:t>Return structured result, metered usage, and delivery evidence.</a:t>
            </a:r>
          </a:p>
        </p:txBody>
      </p:sp>
      <p:sp>
        <p:nvSpPr>
          <p:cNvPr id="12" name="Rectangle 11">
            <a:extLst>
              <a:ext uri="{FF2B5EF4-FFF2-40B4-BE49-F238E27FC236}">
                <a16:creationId xmlns:a16="http://schemas.microsoft.com/office/drawing/2014/main" id="{DB2AF5E9-0508-45B6-B18C-B77FE680EA82}"/>
              </a:ext>
            </a:extLst>
          </p:cNvPr>
          <p:cNvSpPr>
            <a:spLocks noGrp="1"/>
          </p:cNvSpPr>
          <p:nvPr/>
        </p:nvSpPr>
        <p:spPr>
          <a:xfrm>
            <a:off x="6019800" y="1733550"/>
            <a:ext cx="5219700" cy="3467100"/>
          </a:xfrm>
          <a:prstGeom prst="rect">
            <a:avLst/>
          </a:prstGeom>
          <a:solidFill>
            <a:srgbClr val="151E2D"/>
          </a:solidFill>
          <a:ln w="19050">
            <a:solidFill>
              <a:srgbClr val="5BE7FF"/>
            </a:solidFill>
            <a:prstDash val="solid"/>
          </a:ln>
        </p:spPr>
        <p:txBody>
          <a:bodyPr/>
          <a:lstStyle/>
          <a:p>
            <a:endParaRPr lang="en-IN"/>
          </a:p>
        </p:txBody>
      </p:sp>
      <p:sp>
        <p:nvSpPr>
          <p:cNvPr id="13" name="Rectangle 12">
            <a:extLst>
              <a:ext uri="{FF2B5EF4-FFF2-40B4-BE49-F238E27FC236}">
                <a16:creationId xmlns:a16="http://schemas.microsoft.com/office/drawing/2014/main" id="{36D726A0-C80B-4EC0-BD55-34861C500D3E}"/>
              </a:ext>
            </a:extLst>
          </p:cNvPr>
          <p:cNvSpPr>
            <a:spLocks noGrp="1"/>
          </p:cNvSpPr>
          <p:nvPr/>
        </p:nvSpPr>
        <p:spPr>
          <a:xfrm>
            <a:off x="6286500" y="1990725"/>
            <a:ext cx="1428750" cy="200025"/>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5BE7FF"/>
                </a:solidFill>
                <a:latin typeface="Aptos"/>
                <a:ea typeface="Aptos"/>
                <a:cs typeface="Aptos"/>
              </a:defRPr>
            </a:pPr>
            <a:r>
              <a:rPr sz="1050" b="1">
                <a:solidFill>
                  <a:srgbClr val="5BE7FF"/>
                </a:solidFill>
                <a:latin typeface="Aptos"/>
                <a:ea typeface="Aptos"/>
                <a:cs typeface="Aptos"/>
              </a:rPr>
              <a:t>OPTION B</a:t>
            </a:r>
          </a:p>
        </p:txBody>
      </p:sp>
      <p:sp>
        <p:nvSpPr>
          <p:cNvPr id="14" name="Rectangle 13">
            <a:extLst>
              <a:ext uri="{FF2B5EF4-FFF2-40B4-BE49-F238E27FC236}">
                <a16:creationId xmlns:a16="http://schemas.microsoft.com/office/drawing/2014/main" id="{1E6DC9DA-E3A7-4B46-AD75-4F5E68B2C5BA}"/>
              </a:ext>
            </a:extLst>
          </p:cNvPr>
          <p:cNvSpPr>
            <a:spLocks noGrp="1"/>
          </p:cNvSpPr>
          <p:nvPr/>
        </p:nvSpPr>
        <p:spPr>
          <a:xfrm>
            <a:off x="6286500" y="2371725"/>
            <a:ext cx="4476750" cy="400050"/>
          </a:xfrm>
          <a:prstGeom prst="rect">
            <a:avLst/>
          </a:prstGeom>
          <a:noFill/>
          <a:ln w="0">
            <a:noFill/>
            <a:prstDash val="solid"/>
          </a:ln>
        </p:spPr>
        <p:txBody>
          <a:bodyPr wrap="square" lIns="0" tIns="0" rIns="0" bIns="0" anchor="t">
            <a:normAutofit/>
          </a:bodyPr>
          <a:lstStyle/>
          <a:p>
            <a:pPr algn="l">
              <a:lnSpc>
                <a:spcPct val="102000"/>
              </a:lnSpc>
              <a:buNone/>
              <a:defRPr sz="2400" b="1">
                <a:solidFill>
                  <a:srgbClr val="F4F7FB"/>
                </a:solidFill>
                <a:latin typeface="Aptos"/>
                <a:ea typeface="Aptos"/>
                <a:cs typeface="Aptos"/>
              </a:defRPr>
            </a:pPr>
            <a:r>
              <a:rPr sz="2400" b="1">
                <a:solidFill>
                  <a:srgbClr val="F4F7FB"/>
                </a:solidFill>
                <a:latin typeface="Aptos"/>
                <a:ea typeface="Aptos"/>
                <a:cs typeface="Aptos"/>
              </a:rPr>
              <a:t>Business system adapter</a:t>
            </a:r>
          </a:p>
        </p:txBody>
      </p:sp>
      <p:sp>
        <p:nvSpPr>
          <p:cNvPr id="15" name="Rectangle 14">
            <a:extLst>
              <a:ext uri="{FF2B5EF4-FFF2-40B4-BE49-F238E27FC236}">
                <a16:creationId xmlns:a16="http://schemas.microsoft.com/office/drawing/2014/main" id="{EB8DE93B-5B04-4876-A135-FC7E773FB7CD}"/>
              </a:ext>
            </a:extLst>
          </p:cNvPr>
          <p:cNvSpPr>
            <a:spLocks noGrp="1"/>
          </p:cNvSpPr>
          <p:nvPr/>
        </p:nvSpPr>
        <p:spPr>
          <a:xfrm>
            <a:off x="6286500" y="2952750"/>
            <a:ext cx="4476750" cy="257175"/>
          </a:xfrm>
          <a:prstGeom prst="rect">
            <a:avLst/>
          </a:prstGeom>
          <a:noFill/>
          <a:ln w="0">
            <a:noFill/>
            <a:prstDash val="solid"/>
          </a:ln>
        </p:spPr>
        <p:txBody>
          <a:bodyPr wrap="square" lIns="0" tIns="0" rIns="0" bIns="0" anchor="t">
            <a:normAutofit/>
          </a:bodyPr>
          <a:lstStyle/>
          <a:p>
            <a:pPr algn="l">
              <a:lnSpc>
                <a:spcPct val="102000"/>
              </a:lnSpc>
              <a:buNone/>
              <a:defRPr sz="1425" b="1">
                <a:solidFill>
                  <a:srgbClr val="F4F7FB"/>
                </a:solidFill>
                <a:latin typeface="Aptos"/>
                <a:ea typeface="Aptos"/>
                <a:cs typeface="Aptos"/>
              </a:defRPr>
            </a:pPr>
            <a:r>
              <a:rPr sz="1425" b="1">
                <a:solidFill>
                  <a:srgbClr val="F4F7FB"/>
                </a:solidFill>
                <a:latin typeface="Aptos"/>
                <a:ea typeface="Aptos"/>
                <a:cs typeface="Aptos"/>
              </a:rPr>
              <a:t>PayPilot → private token → existing business service</a:t>
            </a:r>
          </a:p>
        </p:txBody>
      </p:sp>
      <p:sp>
        <p:nvSpPr>
          <p:cNvPr id="16" name="Rectangle 15">
            <a:extLst>
              <a:ext uri="{FF2B5EF4-FFF2-40B4-BE49-F238E27FC236}">
                <a16:creationId xmlns:a16="http://schemas.microsoft.com/office/drawing/2014/main" id="{3AD4FDFA-67C5-449D-8DEE-3A7F65CF47A0}"/>
              </a:ext>
            </a:extLst>
          </p:cNvPr>
          <p:cNvSpPr>
            <a:spLocks noGrp="1"/>
          </p:cNvSpPr>
          <p:nvPr/>
        </p:nvSpPr>
        <p:spPr>
          <a:xfrm>
            <a:off x="6286500" y="3476625"/>
            <a:ext cx="4476750" cy="1352550"/>
          </a:xfrm>
          <a:prstGeom prst="rect">
            <a:avLst/>
          </a:prstGeom>
          <a:noFill/>
          <a:ln w="0">
            <a:noFill/>
            <a:prstDash val="solid"/>
          </a:ln>
        </p:spPr>
        <p:txBody>
          <a:bodyPr lIns="0" tIns="0" rIns="0" bIns="0">
            <a:normAutofit/>
          </a:bodyPr>
          <a:lstStyle/>
          <a:p>
            <a:pPr marL="22" indent="-13">
              <a:lnSpc>
                <a:spcPct val="102000"/>
              </a:lnSpc>
              <a:spcAft>
                <a:spcPts val="10"/>
              </a:spcAft>
              <a:buNone/>
              <a:defRPr sz="1350">
                <a:solidFill>
                  <a:srgbClr val="F4F7FB"/>
                </a:solidFill>
                <a:latin typeface="Aptos"/>
                <a:ea typeface="Aptos"/>
                <a:cs typeface="Aptos"/>
              </a:defRPr>
            </a:pPr>
            <a:r>
              <a:rPr sz="1350">
                <a:solidFill>
                  <a:srgbClr val="F4F7FB"/>
                </a:solidFill>
                <a:latin typeface="Aptos"/>
                <a:ea typeface="Aptos"/>
                <a:cs typeface="Aptos"/>
              </a:rPr>
              <a:t>Keep the business behind its current gateway or private network.</a:t>
            </a:r>
          </a:p>
          <a:p>
            <a:pPr marL="22" indent="-13">
              <a:lnSpc>
                <a:spcPct val="102000"/>
              </a:lnSpc>
              <a:spcAft>
                <a:spcPts val="10"/>
              </a:spcAft>
              <a:buNone/>
              <a:defRPr sz="1350">
                <a:solidFill>
                  <a:srgbClr val="F4F7FB"/>
                </a:solidFill>
                <a:latin typeface="Aptos"/>
                <a:ea typeface="Aptos"/>
                <a:cs typeface="Aptos"/>
              </a:defRPr>
            </a:pPr>
            <a:r>
              <a:rPr sz="1350">
                <a:solidFill>
                  <a:srgbClr val="F4F7FB"/>
                </a:solidFill>
                <a:latin typeface="Aptos"/>
                <a:ea typeface="Aptos"/>
                <a:cs typeface="Aptos"/>
              </a:rPr>
              <a:t>Send correlation ID, validated task contract, and response schema.</a:t>
            </a:r>
          </a:p>
          <a:p>
            <a:pPr marL="22" indent="-13">
              <a:lnSpc>
                <a:spcPct val="102000"/>
              </a:lnSpc>
              <a:spcAft>
                <a:spcPts val="10"/>
              </a:spcAft>
              <a:buNone/>
              <a:defRPr sz="1350">
                <a:solidFill>
                  <a:srgbClr val="F4F7FB"/>
                </a:solidFill>
                <a:latin typeface="Aptos"/>
                <a:ea typeface="Aptos"/>
                <a:cs typeface="Aptos"/>
              </a:defRPr>
            </a:pPr>
            <a:r>
              <a:rPr sz="1350">
                <a:solidFill>
                  <a:srgbClr val="F4F7FB"/>
                </a:solidFill>
                <a:latin typeface="Aptos"/>
                <a:ea typeface="Aptos"/>
                <a:cs typeface="Aptos"/>
              </a:rPr>
              <a:t>Reject missing usage or delivery evidence; fail closed.</a:t>
            </a:r>
          </a:p>
        </p:txBody>
      </p:sp>
      <p:sp>
        <p:nvSpPr>
          <p:cNvPr id="17" name="Rectangle: Rounded Corners 16">
            <a:extLst>
              <a:ext uri="{FF2B5EF4-FFF2-40B4-BE49-F238E27FC236}">
                <a16:creationId xmlns:a16="http://schemas.microsoft.com/office/drawing/2014/main" id="{C2ADEE2C-7EFE-42C0-B135-0F38B246EA59}"/>
              </a:ext>
            </a:extLst>
          </p:cNvPr>
          <p:cNvSpPr>
            <a:spLocks noGrp="1"/>
          </p:cNvSpPr>
          <p:nvPr/>
        </p:nvSpPr>
        <p:spPr>
          <a:xfrm>
            <a:off x="457200" y="5591175"/>
            <a:ext cx="1352550" cy="266700"/>
          </a:xfrm>
          <a:prstGeom prst="roundRect">
            <a:avLst>
              <a:gd name="adj" fmla="val 50000"/>
            </a:avLst>
          </a:prstGeom>
          <a:solidFill>
            <a:srgbClr val="FF6673"/>
          </a:solidFill>
          <a:ln w="0">
            <a:noFill/>
            <a:prstDash val="solid"/>
          </a:ln>
        </p:spPr>
        <p:txBody>
          <a:bodyPr/>
          <a:lstStyle/>
          <a:p>
            <a:endParaRPr lang="en-IN"/>
          </a:p>
        </p:txBody>
      </p:sp>
      <p:sp>
        <p:nvSpPr>
          <p:cNvPr id="18" name="Rectangle 17">
            <a:extLst>
              <a:ext uri="{FF2B5EF4-FFF2-40B4-BE49-F238E27FC236}">
                <a16:creationId xmlns:a16="http://schemas.microsoft.com/office/drawing/2014/main" id="{A13C8BAB-55A0-42F4-9D00-F2E671164F5A}"/>
              </a:ext>
            </a:extLst>
          </p:cNvPr>
          <p:cNvSpPr>
            <a:spLocks noGrp="1"/>
          </p:cNvSpPr>
          <p:nvPr/>
        </p:nvSpPr>
        <p:spPr>
          <a:xfrm>
            <a:off x="552450" y="5638800"/>
            <a:ext cx="1162050" cy="171450"/>
          </a:xfrm>
          <a:prstGeom prst="rect">
            <a:avLst/>
          </a:prstGeom>
          <a:noFill/>
          <a:ln w="0">
            <a:noFill/>
            <a:prstDash val="solid"/>
          </a:ln>
        </p:spPr>
        <p:txBody>
          <a:bodyPr wrap="square" lIns="0" tIns="0" rIns="0" bIns="0" anchor="ctr">
            <a:normAutofit/>
          </a:bodyPr>
          <a:lstStyle/>
          <a:p>
            <a:pPr algn="ctr">
              <a:lnSpc>
                <a:spcPct val="102000"/>
              </a:lnSpc>
              <a:buNone/>
              <a:defRPr sz="1050" b="1">
                <a:solidFill>
                  <a:srgbClr val="070A0F"/>
                </a:solidFill>
                <a:latin typeface="Aptos"/>
                <a:ea typeface="Aptos"/>
                <a:cs typeface="Aptos"/>
              </a:defRPr>
            </a:pPr>
            <a:r>
              <a:rPr sz="1050" b="1">
                <a:solidFill>
                  <a:srgbClr val="070A0F"/>
                </a:solidFill>
                <a:latin typeface="Aptos"/>
                <a:ea typeface="Aptos"/>
                <a:cs typeface="Aptos"/>
              </a:rPr>
              <a:t>BUSINESS API</a:t>
            </a:r>
          </a:p>
        </p:txBody>
      </p:sp>
      <p:sp>
        <p:nvSpPr>
          <p:cNvPr id="19" name="Rectangle 18">
            <a:extLst>
              <a:ext uri="{FF2B5EF4-FFF2-40B4-BE49-F238E27FC236}">
                <a16:creationId xmlns:a16="http://schemas.microsoft.com/office/drawing/2014/main" id="{EC72C2B2-EE7B-4FB7-A160-1A274514343B}"/>
              </a:ext>
            </a:extLst>
          </p:cNvPr>
          <p:cNvSpPr>
            <a:spLocks noGrp="1"/>
          </p:cNvSpPr>
          <p:nvPr/>
        </p:nvSpPr>
        <p:spPr>
          <a:xfrm>
            <a:off x="2114550" y="5610225"/>
            <a:ext cx="9124950" cy="228600"/>
          </a:xfrm>
          <a:prstGeom prst="rect">
            <a:avLst/>
          </a:prstGeom>
          <a:noFill/>
          <a:ln w="0">
            <a:noFill/>
            <a:prstDash val="solid"/>
          </a:ln>
        </p:spPr>
        <p:txBody>
          <a:bodyPr wrap="square" lIns="0" tIns="0" rIns="0" bIns="0" anchor="t">
            <a:normAutofit/>
          </a:bodyPr>
          <a:lstStyle/>
          <a:p>
            <a:pPr algn="l">
              <a:lnSpc>
                <a:spcPct val="102000"/>
              </a:lnSpc>
              <a:buNone/>
              <a:defRPr sz="1350" b="1">
                <a:solidFill>
                  <a:srgbClr val="F4F7FB"/>
                </a:solidFill>
                <a:latin typeface="Aptos"/>
                <a:ea typeface="Aptos"/>
                <a:cs typeface="Aptos"/>
              </a:defRPr>
            </a:pPr>
            <a:r>
              <a:rPr sz="1350" b="1">
                <a:solidFill>
                  <a:srgbClr val="F4F7FB"/>
                </a:solidFill>
                <a:latin typeface="Aptos"/>
                <a:ea typeface="Aptos"/>
                <a:cs typeface="Aptos"/>
              </a:rPr>
              <a:t>The business exposes work and usage—not wallet keys, pricing authority, or settlement control.</a:t>
            </a:r>
          </a:p>
        </p:txBody>
      </p:sp>
    </p:spTree>
    <p:extLst>
      <p:ext uri="{BB962C8B-B14F-4D97-AF65-F5344CB8AC3E}">
        <p14:creationId xmlns:p14="http://schemas.microsoft.com/office/powerpoint/2010/main" val="903553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A0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B96FA7A-F1C2-0749-FAB0-889AE4FDC305}"/>
              </a:ext>
            </a:extLst>
          </p:cNvPr>
          <p:cNvSpPr>
            <a:spLocks noGrp="1"/>
          </p:cNvSpPr>
          <p:nvPr/>
        </p:nvSpPr>
        <p:spPr>
          <a:xfrm>
            <a:off x="457200" y="209550"/>
            <a:ext cx="4953000" cy="1905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FFB454"/>
                </a:solidFill>
                <a:latin typeface="Aptos"/>
                <a:ea typeface="Aptos"/>
                <a:cs typeface="Aptos"/>
              </a:defRPr>
            </a:pPr>
            <a:r>
              <a:rPr lang="en-IN" sz="1050" b="1" dirty="0">
                <a:solidFill>
                  <a:srgbClr val="FFB454"/>
                </a:solidFill>
                <a:latin typeface="Aptos"/>
                <a:ea typeface="Aptos"/>
                <a:cs typeface="Aptos"/>
              </a:rPr>
              <a:t>PAYMENT </a:t>
            </a:r>
            <a:r>
              <a:rPr sz="1050" b="1" dirty="0">
                <a:solidFill>
                  <a:srgbClr val="FFB454"/>
                </a:solidFill>
                <a:latin typeface="Aptos"/>
                <a:ea typeface="Aptos"/>
                <a:cs typeface="Aptos"/>
              </a:rPr>
              <a:t>INTEGRATION</a:t>
            </a:r>
          </a:p>
        </p:txBody>
      </p:sp>
      <p:sp>
        <p:nvSpPr>
          <p:cNvPr id="22" name="Rectangle 21">
            <a:extLst>
              <a:ext uri="{FF2B5EF4-FFF2-40B4-BE49-F238E27FC236}">
                <a16:creationId xmlns:a16="http://schemas.microsoft.com/office/drawing/2014/main" id="{BD5224C1-9757-A6B8-74E9-BDD15918C760}"/>
              </a:ext>
            </a:extLst>
          </p:cNvPr>
          <p:cNvSpPr>
            <a:spLocks noGrp="1"/>
          </p:cNvSpPr>
          <p:nvPr/>
        </p:nvSpPr>
        <p:spPr>
          <a:xfrm>
            <a:off x="457200" y="514350"/>
            <a:ext cx="11239500" cy="762000"/>
          </a:xfrm>
          <a:prstGeom prst="rect">
            <a:avLst/>
          </a:prstGeom>
          <a:noFill/>
          <a:ln w="0">
            <a:noFill/>
            <a:prstDash val="solid"/>
          </a:ln>
        </p:spPr>
        <p:txBody>
          <a:bodyPr wrap="square" lIns="0" tIns="0" rIns="0" bIns="0" anchor="t">
            <a:noAutofit/>
          </a:bodyPr>
          <a:lstStyle/>
          <a:p>
            <a:pPr algn="ctr">
              <a:lnSpc>
                <a:spcPct val="94000"/>
              </a:lnSpc>
              <a:buNone/>
              <a:defRPr sz="3000" b="1">
                <a:solidFill>
                  <a:srgbClr val="F4F7FB"/>
                </a:solidFill>
                <a:latin typeface="Aptos"/>
                <a:ea typeface="Aptos"/>
                <a:cs typeface="Aptos"/>
              </a:defRPr>
            </a:pPr>
            <a:r>
              <a:rPr sz="3000" b="1" dirty="0">
                <a:solidFill>
                  <a:srgbClr val="F4F7FB"/>
                </a:solidFill>
                <a:latin typeface="Aptos"/>
                <a:ea typeface="Aptos"/>
                <a:cs typeface="Aptos"/>
              </a:rPr>
              <a:t>Use</a:t>
            </a:r>
            <a:r>
              <a:rPr lang="en-IN" sz="3000" b="1" dirty="0">
                <a:solidFill>
                  <a:srgbClr val="F4F7FB"/>
                </a:solidFill>
                <a:latin typeface="Aptos"/>
                <a:ea typeface="Aptos"/>
                <a:cs typeface="Aptos"/>
              </a:rPr>
              <a:t> </a:t>
            </a:r>
            <a:r>
              <a:rPr sz="3000" b="1" dirty="0">
                <a:solidFill>
                  <a:srgbClr val="F4F7FB"/>
                </a:solidFill>
                <a:latin typeface="Aptos"/>
                <a:ea typeface="Aptos"/>
                <a:cs typeface="Aptos"/>
              </a:rPr>
              <a:t>Circle for the qualifying agentic payment</a:t>
            </a:r>
          </a:p>
        </p:txBody>
      </p:sp>
      <p:sp>
        <p:nvSpPr>
          <p:cNvPr id="24" name="Straight Connector 23">
            <a:extLst>
              <a:ext uri="{FF2B5EF4-FFF2-40B4-BE49-F238E27FC236}">
                <a16:creationId xmlns:a16="http://schemas.microsoft.com/office/drawing/2014/main" id="{99A7B0D7-9B89-7E8D-EF79-1095E432D5C9}"/>
              </a:ext>
            </a:extLst>
          </p:cNvPr>
          <p:cNvSpPr>
            <a:spLocks noGrp="1"/>
          </p:cNvSpPr>
          <p:nvPr/>
        </p:nvSpPr>
        <p:spPr>
          <a:xfrm>
            <a:off x="457200" y="1371600"/>
            <a:ext cx="11277600" cy="0"/>
          </a:xfrm>
          <a:prstGeom prst="line">
            <a:avLst/>
          </a:prstGeom>
          <a:noFill/>
          <a:ln w="9525">
            <a:solidFill>
              <a:srgbClr val="2A3548"/>
            </a:solidFill>
            <a:prstDash val="solid"/>
          </a:ln>
        </p:spPr>
        <p:txBody>
          <a:bodyPr/>
          <a:lstStyle/>
          <a:p>
            <a:endParaRPr lang="en-IN"/>
          </a:p>
        </p:txBody>
      </p:sp>
      <p:sp>
        <p:nvSpPr>
          <p:cNvPr id="26" name="Rectangle 25">
            <a:extLst>
              <a:ext uri="{FF2B5EF4-FFF2-40B4-BE49-F238E27FC236}">
                <a16:creationId xmlns:a16="http://schemas.microsoft.com/office/drawing/2014/main" id="{4326512F-4E30-BBEE-AE65-43AD25AF533E}"/>
              </a:ext>
            </a:extLst>
          </p:cNvPr>
          <p:cNvSpPr>
            <a:spLocks noGrp="1"/>
          </p:cNvSpPr>
          <p:nvPr/>
        </p:nvSpPr>
        <p:spPr>
          <a:xfrm>
            <a:off x="457200" y="6457950"/>
            <a:ext cx="152400" cy="38100"/>
          </a:xfrm>
          <a:prstGeom prst="rect">
            <a:avLst/>
          </a:prstGeom>
          <a:solidFill>
            <a:srgbClr val="FFB454"/>
          </a:solidFill>
          <a:ln w="0">
            <a:noFill/>
            <a:prstDash val="solid"/>
          </a:ln>
        </p:spPr>
        <p:txBody>
          <a:bodyPr/>
          <a:lstStyle/>
          <a:p>
            <a:endParaRPr lang="en-IN"/>
          </a:p>
        </p:txBody>
      </p:sp>
      <p:sp>
        <p:nvSpPr>
          <p:cNvPr id="28" name="Rectangle 27">
            <a:extLst>
              <a:ext uri="{FF2B5EF4-FFF2-40B4-BE49-F238E27FC236}">
                <a16:creationId xmlns:a16="http://schemas.microsoft.com/office/drawing/2014/main" id="{6AA601A1-8FE1-36A2-8463-CA0CCF772661}"/>
              </a:ext>
            </a:extLst>
          </p:cNvPr>
          <p:cNvSpPr>
            <a:spLocks noGrp="1"/>
          </p:cNvSpPr>
          <p:nvPr/>
        </p:nvSpPr>
        <p:spPr>
          <a:xfrm>
            <a:off x="704850" y="6381750"/>
            <a:ext cx="1714500" cy="190500"/>
          </a:xfrm>
          <a:prstGeom prst="rect">
            <a:avLst/>
          </a:prstGeom>
          <a:noFill/>
          <a:ln w="0">
            <a:noFill/>
            <a:prstDash val="solid"/>
          </a:ln>
        </p:spPr>
        <p:txBody>
          <a:bodyPr wrap="square" lIns="0" tIns="0" rIns="0" bIns="0" anchor="t">
            <a:normAutofit/>
          </a:bodyPr>
          <a:lstStyle/>
          <a:p>
            <a:pPr algn="l">
              <a:lnSpc>
                <a:spcPct val="102000"/>
              </a:lnSpc>
              <a:buNone/>
              <a:defRPr sz="900" b="1">
                <a:solidFill>
                  <a:srgbClr val="99A6B8"/>
                </a:solidFill>
                <a:latin typeface="Aptos"/>
                <a:ea typeface="Aptos"/>
                <a:cs typeface="Aptos"/>
              </a:defRPr>
            </a:pPr>
            <a:r>
              <a:rPr sz="900" b="1">
                <a:solidFill>
                  <a:srgbClr val="99A6B8"/>
                </a:solidFill>
                <a:latin typeface="Aptos"/>
                <a:ea typeface="Aptos"/>
                <a:cs typeface="Aptos"/>
              </a:rPr>
              <a:t>PAYPILOT</a:t>
            </a:r>
          </a:p>
        </p:txBody>
      </p:sp>
      <p:sp>
        <p:nvSpPr>
          <p:cNvPr id="30" name="Rectangle 29">
            <a:extLst>
              <a:ext uri="{FF2B5EF4-FFF2-40B4-BE49-F238E27FC236}">
                <a16:creationId xmlns:a16="http://schemas.microsoft.com/office/drawing/2014/main" id="{1BDEAA5C-B224-50C7-0941-413CE1F4902D}"/>
              </a:ext>
            </a:extLst>
          </p:cNvPr>
          <p:cNvSpPr>
            <a:spLocks noGrp="1"/>
          </p:cNvSpPr>
          <p:nvPr/>
        </p:nvSpPr>
        <p:spPr>
          <a:xfrm>
            <a:off x="11182350" y="6381750"/>
            <a:ext cx="552450" cy="190500"/>
          </a:xfrm>
          <a:prstGeom prst="rect">
            <a:avLst/>
          </a:prstGeom>
          <a:noFill/>
          <a:ln w="0">
            <a:noFill/>
            <a:prstDash val="solid"/>
          </a:ln>
        </p:spPr>
        <p:txBody>
          <a:bodyPr wrap="square" lIns="0" tIns="0" rIns="0" bIns="0" anchor="t">
            <a:normAutofit/>
          </a:bodyPr>
          <a:lstStyle/>
          <a:p>
            <a:pPr algn="r">
              <a:lnSpc>
                <a:spcPct val="102000"/>
              </a:lnSpc>
              <a:buNone/>
              <a:defRPr sz="975" b="0">
                <a:solidFill>
                  <a:srgbClr val="99A6B8"/>
                </a:solidFill>
                <a:latin typeface="Aptos"/>
                <a:ea typeface="Aptos"/>
                <a:cs typeface="Aptos"/>
              </a:defRPr>
            </a:pPr>
            <a:r>
              <a:rPr sz="975" b="0">
                <a:solidFill>
                  <a:srgbClr val="99A6B8"/>
                </a:solidFill>
                <a:latin typeface="Aptos"/>
                <a:ea typeface="Aptos"/>
                <a:cs typeface="Aptos"/>
              </a:rPr>
              <a:t>09</a:t>
            </a:r>
          </a:p>
        </p:txBody>
      </p:sp>
      <p:sp>
        <p:nvSpPr>
          <p:cNvPr id="32" name="Rectangle 31">
            <a:extLst>
              <a:ext uri="{FF2B5EF4-FFF2-40B4-BE49-F238E27FC236}">
                <a16:creationId xmlns:a16="http://schemas.microsoft.com/office/drawing/2014/main" id="{D9DAFC65-BA04-D0D2-9710-A099775EFC2F}"/>
              </a:ext>
            </a:extLst>
          </p:cNvPr>
          <p:cNvSpPr>
            <a:spLocks noGrp="1"/>
          </p:cNvSpPr>
          <p:nvPr/>
        </p:nvSpPr>
        <p:spPr>
          <a:xfrm>
            <a:off x="742950" y="1981200"/>
            <a:ext cx="1714500" cy="20955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FFB454"/>
                </a:solidFill>
                <a:latin typeface="Aptos"/>
                <a:ea typeface="Aptos"/>
                <a:cs typeface="Aptos"/>
              </a:defRPr>
            </a:pPr>
            <a:endParaRPr sz="1050" b="1" dirty="0">
              <a:solidFill>
                <a:srgbClr val="FFB454"/>
              </a:solidFill>
              <a:latin typeface="Aptos"/>
              <a:ea typeface="Aptos"/>
              <a:cs typeface="Aptos"/>
            </a:endParaRPr>
          </a:p>
        </p:txBody>
      </p:sp>
      <p:sp>
        <p:nvSpPr>
          <p:cNvPr id="34" name="Rectangle 33">
            <a:extLst>
              <a:ext uri="{FF2B5EF4-FFF2-40B4-BE49-F238E27FC236}">
                <a16:creationId xmlns:a16="http://schemas.microsoft.com/office/drawing/2014/main" id="{6926BEF2-DA0A-A2D7-1635-212E77094A9B}"/>
              </a:ext>
            </a:extLst>
          </p:cNvPr>
          <p:cNvSpPr>
            <a:spLocks noGrp="1"/>
          </p:cNvSpPr>
          <p:nvPr/>
        </p:nvSpPr>
        <p:spPr>
          <a:xfrm>
            <a:off x="276225" y="2628899"/>
            <a:ext cx="4286250" cy="371475"/>
          </a:xfrm>
          <a:prstGeom prst="rect">
            <a:avLst/>
          </a:prstGeom>
          <a:noFill/>
          <a:ln w="0">
            <a:noFill/>
            <a:prstDash val="solid"/>
          </a:ln>
        </p:spPr>
        <p:txBody>
          <a:bodyPr wrap="square" lIns="0" tIns="0" rIns="0" bIns="0" anchor="t">
            <a:normAutofit/>
          </a:bodyPr>
          <a:lstStyle/>
          <a:p>
            <a:pPr algn="l">
              <a:lnSpc>
                <a:spcPct val="102000"/>
              </a:lnSpc>
              <a:buNone/>
              <a:defRPr sz="2325" b="1">
                <a:solidFill>
                  <a:srgbClr val="F4F7FB"/>
                </a:solidFill>
                <a:latin typeface="Aptos"/>
                <a:ea typeface="Aptos"/>
                <a:cs typeface="Aptos"/>
              </a:defRPr>
            </a:pPr>
            <a:endParaRPr sz="2325" b="1" dirty="0">
              <a:solidFill>
                <a:srgbClr val="F4F7FB"/>
              </a:solidFill>
              <a:latin typeface="Aptos"/>
              <a:ea typeface="Aptos"/>
              <a:cs typeface="Aptos"/>
            </a:endParaRPr>
          </a:p>
        </p:txBody>
      </p:sp>
      <p:sp>
        <p:nvSpPr>
          <p:cNvPr id="36" name="Rectangle 35">
            <a:extLst>
              <a:ext uri="{FF2B5EF4-FFF2-40B4-BE49-F238E27FC236}">
                <a16:creationId xmlns:a16="http://schemas.microsoft.com/office/drawing/2014/main" id="{C154B4D3-821F-1580-6BE6-4AAFD9C2A16C}"/>
              </a:ext>
            </a:extLst>
          </p:cNvPr>
          <p:cNvSpPr>
            <a:spLocks noGrp="1"/>
          </p:cNvSpPr>
          <p:nvPr/>
        </p:nvSpPr>
        <p:spPr>
          <a:xfrm>
            <a:off x="742950" y="3095625"/>
            <a:ext cx="4476750" cy="1866900"/>
          </a:xfrm>
          <a:prstGeom prst="rect">
            <a:avLst/>
          </a:prstGeom>
          <a:noFill/>
          <a:ln w="0">
            <a:noFill/>
            <a:prstDash val="solid"/>
          </a:ln>
        </p:spPr>
        <p:txBody>
          <a:bodyPr lIns="0" tIns="0" rIns="0" bIns="0">
            <a:normAutofit/>
          </a:bodyPr>
          <a:lstStyle/>
          <a:p>
            <a:pPr marL="22" indent="-13">
              <a:lnSpc>
                <a:spcPct val="102000"/>
              </a:lnSpc>
              <a:spcAft>
                <a:spcPts val="11"/>
              </a:spcAft>
              <a:buNone/>
              <a:defRPr sz="1350">
                <a:solidFill>
                  <a:srgbClr val="F4F7FB"/>
                </a:solidFill>
                <a:latin typeface="Aptos"/>
                <a:ea typeface="Aptos"/>
                <a:cs typeface="Aptos"/>
              </a:defRPr>
            </a:pPr>
            <a:endParaRPr sz="1350" dirty="0">
              <a:solidFill>
                <a:srgbClr val="F4F7FB"/>
              </a:solidFill>
              <a:latin typeface="Aptos"/>
              <a:ea typeface="Aptos"/>
              <a:cs typeface="Aptos"/>
            </a:endParaRPr>
          </a:p>
        </p:txBody>
      </p:sp>
      <p:sp>
        <p:nvSpPr>
          <p:cNvPr id="38" name="Rectangle 37">
            <a:extLst>
              <a:ext uri="{FF2B5EF4-FFF2-40B4-BE49-F238E27FC236}">
                <a16:creationId xmlns:a16="http://schemas.microsoft.com/office/drawing/2014/main" id="{02C6C157-8FA5-68FE-B044-D0CC1D80F31D}"/>
              </a:ext>
            </a:extLst>
          </p:cNvPr>
          <p:cNvSpPr>
            <a:spLocks noGrp="1"/>
          </p:cNvSpPr>
          <p:nvPr/>
        </p:nvSpPr>
        <p:spPr>
          <a:xfrm>
            <a:off x="1409700" y="1724025"/>
            <a:ext cx="8894826" cy="3733800"/>
          </a:xfrm>
          <a:prstGeom prst="rect">
            <a:avLst/>
          </a:prstGeom>
          <a:solidFill>
            <a:srgbClr val="151E2D"/>
          </a:solidFill>
          <a:ln w="19050">
            <a:solidFill>
              <a:srgbClr val="38E09F"/>
            </a:solidFill>
            <a:prstDash val="solid"/>
          </a:ln>
        </p:spPr>
        <p:txBody>
          <a:bodyPr/>
          <a:lstStyle/>
          <a:p>
            <a:endParaRPr lang="en-IN"/>
          </a:p>
        </p:txBody>
      </p:sp>
      <p:sp>
        <p:nvSpPr>
          <p:cNvPr id="40" name="Rectangle 39">
            <a:extLst>
              <a:ext uri="{FF2B5EF4-FFF2-40B4-BE49-F238E27FC236}">
                <a16:creationId xmlns:a16="http://schemas.microsoft.com/office/drawing/2014/main" id="{AE8E86F2-D7AC-5482-0F00-A6AD64578F5D}"/>
              </a:ext>
            </a:extLst>
          </p:cNvPr>
          <p:cNvSpPr>
            <a:spLocks noGrp="1"/>
          </p:cNvSpPr>
          <p:nvPr/>
        </p:nvSpPr>
        <p:spPr>
          <a:xfrm>
            <a:off x="1797558" y="2062734"/>
            <a:ext cx="1714500" cy="20955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38E09F"/>
                </a:solidFill>
                <a:latin typeface="Aptos"/>
                <a:ea typeface="Aptos"/>
                <a:cs typeface="Aptos"/>
              </a:defRPr>
            </a:pPr>
            <a:r>
              <a:rPr sz="1050" b="1" dirty="0">
                <a:solidFill>
                  <a:srgbClr val="38E09F"/>
                </a:solidFill>
                <a:latin typeface="Aptos"/>
                <a:ea typeface="Aptos"/>
                <a:cs typeface="Aptos"/>
              </a:rPr>
              <a:t>CIRCLE</a:t>
            </a:r>
          </a:p>
        </p:txBody>
      </p:sp>
      <p:sp>
        <p:nvSpPr>
          <p:cNvPr id="42" name="Rectangle 41">
            <a:extLst>
              <a:ext uri="{FF2B5EF4-FFF2-40B4-BE49-F238E27FC236}">
                <a16:creationId xmlns:a16="http://schemas.microsoft.com/office/drawing/2014/main" id="{3CE44C6E-5812-C488-0EAD-E9A53436FA77}"/>
              </a:ext>
            </a:extLst>
          </p:cNvPr>
          <p:cNvSpPr>
            <a:spLocks noGrp="1"/>
          </p:cNvSpPr>
          <p:nvPr/>
        </p:nvSpPr>
        <p:spPr>
          <a:xfrm>
            <a:off x="1618488" y="2609851"/>
            <a:ext cx="4381500" cy="371475"/>
          </a:xfrm>
          <a:prstGeom prst="rect">
            <a:avLst/>
          </a:prstGeom>
          <a:noFill/>
          <a:ln w="0">
            <a:noFill/>
            <a:prstDash val="solid"/>
          </a:ln>
        </p:spPr>
        <p:txBody>
          <a:bodyPr wrap="square" lIns="0" tIns="0" rIns="0" bIns="0" anchor="t">
            <a:normAutofit/>
          </a:bodyPr>
          <a:lstStyle/>
          <a:p>
            <a:pPr algn="l">
              <a:lnSpc>
                <a:spcPct val="102000"/>
              </a:lnSpc>
              <a:buNone/>
              <a:defRPr sz="2325" b="1">
                <a:solidFill>
                  <a:srgbClr val="F4F7FB"/>
                </a:solidFill>
                <a:latin typeface="Aptos"/>
                <a:ea typeface="Aptos"/>
                <a:cs typeface="Aptos"/>
              </a:defRPr>
            </a:pPr>
            <a:r>
              <a:rPr sz="2325" b="1" dirty="0">
                <a:solidFill>
                  <a:srgbClr val="F4F7FB"/>
                </a:solidFill>
                <a:latin typeface="Aptos"/>
                <a:ea typeface="Aptos"/>
                <a:cs typeface="Aptos"/>
              </a:rPr>
              <a:t>Prize-critical autonomous USDC</a:t>
            </a:r>
          </a:p>
        </p:txBody>
      </p:sp>
      <p:sp>
        <p:nvSpPr>
          <p:cNvPr id="44" name="Rectangle 43">
            <a:extLst>
              <a:ext uri="{FF2B5EF4-FFF2-40B4-BE49-F238E27FC236}">
                <a16:creationId xmlns:a16="http://schemas.microsoft.com/office/drawing/2014/main" id="{6FE9BE74-BF5F-54E0-D414-CC8875C415D0}"/>
              </a:ext>
            </a:extLst>
          </p:cNvPr>
          <p:cNvSpPr>
            <a:spLocks noGrp="1"/>
          </p:cNvSpPr>
          <p:nvPr/>
        </p:nvSpPr>
        <p:spPr>
          <a:xfrm>
            <a:off x="1618488" y="3324223"/>
            <a:ext cx="9163812" cy="1638301"/>
          </a:xfrm>
          <a:prstGeom prst="rect">
            <a:avLst/>
          </a:prstGeom>
          <a:noFill/>
          <a:ln w="0">
            <a:noFill/>
            <a:prstDash val="solid"/>
          </a:ln>
        </p:spPr>
        <p:txBody>
          <a:bodyPr lIns="0" tIns="0" rIns="0" bIns="0">
            <a:normAutofit/>
          </a:bodyPr>
          <a:lstStyle/>
          <a:p>
            <a:pPr marL="22" indent="-13">
              <a:lnSpc>
                <a:spcPct val="102000"/>
              </a:lnSpc>
              <a:spcAft>
                <a:spcPts val="11"/>
              </a:spcAft>
              <a:buNone/>
              <a:defRPr sz="1350">
                <a:solidFill>
                  <a:srgbClr val="F4F7FB"/>
                </a:solidFill>
                <a:latin typeface="Aptos"/>
                <a:ea typeface="Aptos"/>
                <a:cs typeface="Aptos"/>
              </a:defRPr>
            </a:pPr>
            <a:r>
              <a:rPr sz="1350" dirty="0">
                <a:solidFill>
                  <a:srgbClr val="F4F7FB"/>
                </a:solidFill>
                <a:latin typeface="Aptos"/>
                <a:ea typeface="Aptos"/>
                <a:cs typeface="Aptos"/>
              </a:rPr>
              <a:t>Fund and configure an Agent Wallet before the task.</a:t>
            </a:r>
          </a:p>
          <a:p>
            <a:pPr marL="22" indent="-13">
              <a:lnSpc>
                <a:spcPct val="102000"/>
              </a:lnSpc>
              <a:spcAft>
                <a:spcPts val="11"/>
              </a:spcAft>
              <a:buNone/>
              <a:defRPr sz="1350">
                <a:solidFill>
                  <a:srgbClr val="F4F7FB"/>
                </a:solidFill>
                <a:latin typeface="Aptos"/>
                <a:ea typeface="Aptos"/>
                <a:cs typeface="Aptos"/>
              </a:defRPr>
            </a:pPr>
            <a:r>
              <a:rPr sz="1350" dirty="0">
                <a:solidFill>
                  <a:srgbClr val="F4F7FB"/>
                </a:solidFill>
                <a:latin typeface="Aptos"/>
                <a:ea typeface="Aptos"/>
                <a:cs typeface="Aptos"/>
              </a:rPr>
              <a:t>Agent discovers, purchases, and pays without per-payment manual checkout.</a:t>
            </a:r>
          </a:p>
          <a:p>
            <a:pPr marL="22" indent="-13">
              <a:lnSpc>
                <a:spcPct val="102000"/>
              </a:lnSpc>
              <a:spcAft>
                <a:spcPts val="11"/>
              </a:spcAft>
              <a:buNone/>
              <a:defRPr sz="1350">
                <a:solidFill>
                  <a:srgbClr val="F4F7FB"/>
                </a:solidFill>
                <a:latin typeface="Aptos"/>
                <a:ea typeface="Aptos"/>
                <a:cs typeface="Aptos"/>
              </a:defRPr>
            </a:pPr>
            <a:r>
              <a:rPr sz="1350" dirty="0">
                <a:solidFill>
                  <a:srgbClr val="F4F7FB"/>
                </a:solidFill>
                <a:latin typeface="Aptos"/>
                <a:ea typeface="Aptos"/>
                <a:cs typeface="Aptos"/>
              </a:rPr>
              <a:t>Receipt includes wallet address, real transaction reference, and explorer URL.</a:t>
            </a:r>
          </a:p>
          <a:p>
            <a:pPr marL="22" indent="-13">
              <a:lnSpc>
                <a:spcPct val="102000"/>
              </a:lnSpc>
              <a:spcAft>
                <a:spcPts val="11"/>
              </a:spcAft>
              <a:buNone/>
              <a:defRPr sz="1350">
                <a:solidFill>
                  <a:srgbClr val="F4F7FB"/>
                </a:solidFill>
                <a:latin typeface="Aptos"/>
                <a:ea typeface="Aptos"/>
                <a:cs typeface="Aptos"/>
              </a:defRPr>
            </a:pPr>
            <a:r>
              <a:rPr sz="1350" dirty="0">
                <a:solidFill>
                  <a:srgbClr val="F4F7FB"/>
                </a:solidFill>
                <a:latin typeface="Aptos"/>
                <a:ea typeface="Aptos"/>
                <a:cs typeface="Aptos"/>
              </a:rPr>
              <a:t>Use this rail in the submission demo to satisfy Circle eligibility.</a:t>
            </a:r>
          </a:p>
        </p:txBody>
      </p:sp>
      <p:sp>
        <p:nvSpPr>
          <p:cNvPr id="46" name="Rectangle 45">
            <a:extLst>
              <a:ext uri="{FF2B5EF4-FFF2-40B4-BE49-F238E27FC236}">
                <a16:creationId xmlns:a16="http://schemas.microsoft.com/office/drawing/2014/main" id="{636F2F97-394F-AFC1-E548-752073980620}"/>
              </a:ext>
            </a:extLst>
          </p:cNvPr>
          <p:cNvSpPr>
            <a:spLocks noGrp="1"/>
          </p:cNvSpPr>
          <p:nvPr/>
        </p:nvSpPr>
        <p:spPr>
          <a:xfrm>
            <a:off x="552450" y="5857875"/>
            <a:ext cx="1162050" cy="171450"/>
          </a:xfrm>
          <a:prstGeom prst="rect">
            <a:avLst/>
          </a:prstGeom>
          <a:noFill/>
          <a:ln w="0">
            <a:noFill/>
            <a:prstDash val="solid"/>
          </a:ln>
        </p:spPr>
        <p:txBody>
          <a:bodyPr wrap="square" lIns="0" tIns="0" rIns="0" bIns="0" anchor="ctr">
            <a:normAutofit/>
          </a:bodyPr>
          <a:lstStyle/>
          <a:p>
            <a:pPr algn="ctr">
              <a:lnSpc>
                <a:spcPct val="102000"/>
              </a:lnSpc>
              <a:buNone/>
              <a:defRPr sz="1050" b="1">
                <a:solidFill>
                  <a:srgbClr val="070A0F"/>
                </a:solidFill>
                <a:latin typeface="Aptos"/>
                <a:ea typeface="Aptos"/>
                <a:cs typeface="Aptos"/>
              </a:defRPr>
            </a:pPr>
            <a:endParaRPr sz="1050" b="1" dirty="0">
              <a:solidFill>
                <a:srgbClr val="070A0F"/>
              </a:solidFill>
              <a:latin typeface="Aptos"/>
              <a:ea typeface="Aptos"/>
              <a:cs typeface="Aptos"/>
            </a:endParaRPr>
          </a:p>
        </p:txBody>
      </p:sp>
      <p:sp>
        <p:nvSpPr>
          <p:cNvPr id="48" name="Rectangle 47">
            <a:extLst>
              <a:ext uri="{FF2B5EF4-FFF2-40B4-BE49-F238E27FC236}">
                <a16:creationId xmlns:a16="http://schemas.microsoft.com/office/drawing/2014/main" id="{E19147DD-AB1E-804B-C1DC-CF8B8EA06071}"/>
              </a:ext>
            </a:extLst>
          </p:cNvPr>
          <p:cNvSpPr>
            <a:spLocks noGrp="1"/>
          </p:cNvSpPr>
          <p:nvPr/>
        </p:nvSpPr>
        <p:spPr>
          <a:xfrm>
            <a:off x="2114550" y="5829300"/>
            <a:ext cx="9124950" cy="228600"/>
          </a:xfrm>
          <a:prstGeom prst="rect">
            <a:avLst/>
          </a:prstGeom>
          <a:noFill/>
          <a:ln w="0">
            <a:noFill/>
            <a:prstDash val="solid"/>
          </a:ln>
        </p:spPr>
        <p:txBody>
          <a:bodyPr wrap="square" lIns="0" tIns="0" rIns="0" bIns="0" anchor="t">
            <a:normAutofit/>
          </a:bodyPr>
          <a:lstStyle/>
          <a:p>
            <a:pPr algn="l">
              <a:lnSpc>
                <a:spcPct val="102000"/>
              </a:lnSpc>
              <a:buNone/>
              <a:defRPr sz="1350" b="1">
                <a:solidFill>
                  <a:srgbClr val="F4F7FB"/>
                </a:solidFill>
                <a:latin typeface="Aptos"/>
                <a:ea typeface="Aptos"/>
                <a:cs typeface="Aptos"/>
              </a:defRPr>
            </a:pPr>
            <a:endParaRPr sz="1350" b="1" dirty="0">
              <a:solidFill>
                <a:srgbClr val="F4F7FB"/>
              </a:solidFill>
              <a:latin typeface="Aptos"/>
              <a:ea typeface="Aptos"/>
              <a:cs typeface="Aptos"/>
            </a:endParaRPr>
          </a:p>
        </p:txBody>
      </p:sp>
    </p:spTree>
    <p:extLst>
      <p:ext uri="{BB962C8B-B14F-4D97-AF65-F5344CB8AC3E}">
        <p14:creationId xmlns:p14="http://schemas.microsoft.com/office/powerpoint/2010/main" val="412904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A0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6EBC45B-734D-4BCB-B4F6-F3C8ABB0A0DE}"/>
              </a:ext>
            </a:extLst>
          </p:cNvPr>
          <p:cNvSpPr>
            <a:spLocks noGrp="1"/>
          </p:cNvSpPr>
          <p:nvPr/>
        </p:nvSpPr>
        <p:spPr>
          <a:xfrm>
            <a:off x="457200" y="209550"/>
            <a:ext cx="4953000" cy="1905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FF6673"/>
                </a:solidFill>
                <a:latin typeface="Aptos"/>
                <a:ea typeface="Aptos"/>
                <a:cs typeface="Aptos"/>
              </a:defRPr>
            </a:pPr>
            <a:r>
              <a:rPr sz="1050" b="1">
                <a:solidFill>
                  <a:srgbClr val="FF6673"/>
                </a:solidFill>
                <a:latin typeface="Aptos"/>
                <a:ea typeface="Aptos"/>
                <a:cs typeface="Aptos"/>
              </a:rPr>
              <a:t>SAFETY ARCHITECTURE</a:t>
            </a:r>
          </a:p>
        </p:txBody>
      </p:sp>
      <p:sp>
        <p:nvSpPr>
          <p:cNvPr id="2" name="Rectangle 1">
            <a:extLst>
              <a:ext uri="{FF2B5EF4-FFF2-40B4-BE49-F238E27FC236}">
                <a16:creationId xmlns:a16="http://schemas.microsoft.com/office/drawing/2014/main" id="{96B655B6-078A-4CE6-BB09-6BD565CB8F65}"/>
              </a:ext>
            </a:extLst>
          </p:cNvPr>
          <p:cNvSpPr>
            <a:spLocks noGrp="1"/>
          </p:cNvSpPr>
          <p:nvPr/>
        </p:nvSpPr>
        <p:spPr>
          <a:xfrm>
            <a:off x="457200" y="514350"/>
            <a:ext cx="11239500" cy="762000"/>
          </a:xfrm>
          <a:prstGeom prst="rect">
            <a:avLst/>
          </a:prstGeom>
          <a:noFill/>
          <a:ln w="0">
            <a:noFill/>
            <a:prstDash val="solid"/>
          </a:ln>
        </p:spPr>
        <p:txBody>
          <a:bodyPr wrap="square" lIns="0" tIns="0" rIns="0" bIns="0" anchor="t">
            <a:noAutofit/>
          </a:bodyPr>
          <a:lstStyle/>
          <a:p>
            <a:pPr algn="l">
              <a:lnSpc>
                <a:spcPct val="94000"/>
              </a:lnSpc>
              <a:buNone/>
              <a:defRPr sz="3300" b="1">
                <a:solidFill>
                  <a:srgbClr val="F4F7FB"/>
                </a:solidFill>
                <a:latin typeface="Aptos"/>
                <a:ea typeface="Aptos"/>
                <a:cs typeface="Aptos"/>
              </a:defRPr>
            </a:pPr>
            <a:r>
              <a:rPr sz="3300" b="1">
                <a:solidFill>
                  <a:srgbClr val="F4F7FB"/>
                </a:solidFill>
                <a:latin typeface="Aptos"/>
                <a:ea typeface="Aptos"/>
                <a:cs typeface="Aptos"/>
              </a:rPr>
              <a:t>The model proposes work. Deterministic code decides money.</a:t>
            </a:r>
          </a:p>
        </p:txBody>
      </p:sp>
      <p:sp>
        <p:nvSpPr>
          <p:cNvPr id="3" name="Straight Connector 2">
            <a:extLst>
              <a:ext uri="{FF2B5EF4-FFF2-40B4-BE49-F238E27FC236}">
                <a16:creationId xmlns:a16="http://schemas.microsoft.com/office/drawing/2014/main" id="{C600C94C-7F28-4EF2-814B-7F9ADD266FDA}"/>
              </a:ext>
            </a:extLst>
          </p:cNvPr>
          <p:cNvSpPr>
            <a:spLocks noGrp="1"/>
          </p:cNvSpPr>
          <p:nvPr/>
        </p:nvSpPr>
        <p:spPr>
          <a:xfrm>
            <a:off x="457200" y="1371600"/>
            <a:ext cx="11277600" cy="0"/>
          </a:xfrm>
          <a:prstGeom prst="line">
            <a:avLst/>
          </a:prstGeom>
          <a:noFill/>
          <a:ln w="9525">
            <a:solidFill>
              <a:srgbClr val="2A3548"/>
            </a:solidFill>
            <a:prstDash val="solid"/>
          </a:ln>
        </p:spPr>
        <p:txBody>
          <a:bodyPr/>
          <a:lstStyle/>
          <a:p>
            <a:endParaRPr lang="en-IN"/>
          </a:p>
        </p:txBody>
      </p:sp>
      <p:sp>
        <p:nvSpPr>
          <p:cNvPr id="4" name="Rectangle 3">
            <a:extLst>
              <a:ext uri="{FF2B5EF4-FFF2-40B4-BE49-F238E27FC236}">
                <a16:creationId xmlns:a16="http://schemas.microsoft.com/office/drawing/2014/main" id="{F191C5D0-2FD7-4C0B-8920-42DBF0C658FE}"/>
              </a:ext>
            </a:extLst>
          </p:cNvPr>
          <p:cNvSpPr>
            <a:spLocks noGrp="1"/>
          </p:cNvSpPr>
          <p:nvPr/>
        </p:nvSpPr>
        <p:spPr>
          <a:xfrm>
            <a:off x="457200" y="6457950"/>
            <a:ext cx="152400" cy="38100"/>
          </a:xfrm>
          <a:prstGeom prst="rect">
            <a:avLst/>
          </a:prstGeom>
          <a:solidFill>
            <a:srgbClr val="FF6673"/>
          </a:solidFill>
          <a:ln w="0">
            <a:noFill/>
            <a:prstDash val="solid"/>
          </a:ln>
        </p:spPr>
        <p:txBody>
          <a:bodyPr/>
          <a:lstStyle/>
          <a:p>
            <a:endParaRPr lang="en-IN"/>
          </a:p>
        </p:txBody>
      </p:sp>
      <p:sp>
        <p:nvSpPr>
          <p:cNvPr id="5" name="Rectangle 4">
            <a:extLst>
              <a:ext uri="{FF2B5EF4-FFF2-40B4-BE49-F238E27FC236}">
                <a16:creationId xmlns:a16="http://schemas.microsoft.com/office/drawing/2014/main" id="{95A828E4-E1B3-41F9-812C-1E32C93EFF18}"/>
              </a:ext>
            </a:extLst>
          </p:cNvPr>
          <p:cNvSpPr>
            <a:spLocks noGrp="1"/>
          </p:cNvSpPr>
          <p:nvPr/>
        </p:nvSpPr>
        <p:spPr>
          <a:xfrm>
            <a:off x="704850" y="6381750"/>
            <a:ext cx="1714500" cy="190500"/>
          </a:xfrm>
          <a:prstGeom prst="rect">
            <a:avLst/>
          </a:prstGeom>
          <a:noFill/>
          <a:ln w="0">
            <a:noFill/>
            <a:prstDash val="solid"/>
          </a:ln>
        </p:spPr>
        <p:txBody>
          <a:bodyPr wrap="square" lIns="0" tIns="0" rIns="0" bIns="0" anchor="t">
            <a:normAutofit/>
          </a:bodyPr>
          <a:lstStyle/>
          <a:p>
            <a:pPr algn="l">
              <a:lnSpc>
                <a:spcPct val="102000"/>
              </a:lnSpc>
              <a:buNone/>
              <a:defRPr sz="900" b="1">
                <a:solidFill>
                  <a:srgbClr val="99A6B8"/>
                </a:solidFill>
                <a:latin typeface="Aptos"/>
                <a:ea typeface="Aptos"/>
                <a:cs typeface="Aptos"/>
              </a:defRPr>
            </a:pPr>
            <a:r>
              <a:rPr sz="900" b="1">
                <a:solidFill>
                  <a:srgbClr val="99A6B8"/>
                </a:solidFill>
                <a:latin typeface="Aptos"/>
                <a:ea typeface="Aptos"/>
                <a:cs typeface="Aptos"/>
              </a:rPr>
              <a:t>PAYPILOT</a:t>
            </a:r>
          </a:p>
        </p:txBody>
      </p:sp>
      <p:sp>
        <p:nvSpPr>
          <p:cNvPr id="6" name="Rectangle 5">
            <a:extLst>
              <a:ext uri="{FF2B5EF4-FFF2-40B4-BE49-F238E27FC236}">
                <a16:creationId xmlns:a16="http://schemas.microsoft.com/office/drawing/2014/main" id="{83E90BA3-1696-49CA-A0DB-AE000D528AF3}"/>
              </a:ext>
            </a:extLst>
          </p:cNvPr>
          <p:cNvSpPr>
            <a:spLocks noGrp="1"/>
          </p:cNvSpPr>
          <p:nvPr/>
        </p:nvSpPr>
        <p:spPr>
          <a:xfrm>
            <a:off x="11182350" y="6381750"/>
            <a:ext cx="552450" cy="190500"/>
          </a:xfrm>
          <a:prstGeom prst="rect">
            <a:avLst/>
          </a:prstGeom>
          <a:noFill/>
          <a:ln w="0">
            <a:noFill/>
            <a:prstDash val="solid"/>
          </a:ln>
        </p:spPr>
        <p:txBody>
          <a:bodyPr wrap="square" lIns="0" tIns="0" rIns="0" bIns="0" anchor="t">
            <a:normAutofit/>
          </a:bodyPr>
          <a:lstStyle/>
          <a:p>
            <a:pPr algn="r">
              <a:lnSpc>
                <a:spcPct val="102000"/>
              </a:lnSpc>
              <a:buNone/>
              <a:defRPr sz="975" b="0">
                <a:solidFill>
                  <a:srgbClr val="99A6B8"/>
                </a:solidFill>
                <a:latin typeface="Aptos"/>
                <a:ea typeface="Aptos"/>
                <a:cs typeface="Aptos"/>
              </a:defRPr>
            </a:pPr>
            <a:r>
              <a:rPr sz="975" b="0">
                <a:solidFill>
                  <a:srgbClr val="99A6B8"/>
                </a:solidFill>
                <a:latin typeface="Aptos"/>
                <a:ea typeface="Aptos"/>
                <a:cs typeface="Aptos"/>
              </a:rPr>
              <a:t>10</a:t>
            </a:r>
          </a:p>
        </p:txBody>
      </p:sp>
      <p:sp>
        <p:nvSpPr>
          <p:cNvPr id="7" name="Rectangle 6">
            <a:extLst>
              <a:ext uri="{FF2B5EF4-FFF2-40B4-BE49-F238E27FC236}">
                <a16:creationId xmlns:a16="http://schemas.microsoft.com/office/drawing/2014/main" id="{B8FA7B6E-C3C8-436D-9858-2F02272EF15F}"/>
              </a:ext>
            </a:extLst>
          </p:cNvPr>
          <p:cNvSpPr>
            <a:spLocks noGrp="1"/>
          </p:cNvSpPr>
          <p:nvPr/>
        </p:nvSpPr>
        <p:spPr>
          <a:xfrm>
            <a:off x="457200" y="1752600"/>
            <a:ext cx="5124450" cy="3686175"/>
          </a:xfrm>
          <a:prstGeom prst="rect">
            <a:avLst/>
          </a:prstGeom>
          <a:solidFill>
            <a:srgbClr val="111827"/>
          </a:solidFill>
          <a:ln w="0">
            <a:noFill/>
            <a:prstDash val="solid"/>
          </a:ln>
        </p:spPr>
        <p:txBody>
          <a:bodyPr/>
          <a:lstStyle/>
          <a:p>
            <a:endParaRPr lang="en-IN"/>
          </a:p>
        </p:txBody>
      </p:sp>
      <p:sp>
        <p:nvSpPr>
          <p:cNvPr id="8" name="Rectangle 7">
            <a:extLst>
              <a:ext uri="{FF2B5EF4-FFF2-40B4-BE49-F238E27FC236}">
                <a16:creationId xmlns:a16="http://schemas.microsoft.com/office/drawing/2014/main" id="{CF87536D-01F5-4124-95CB-DDCB2D55EAC4}"/>
              </a:ext>
            </a:extLst>
          </p:cNvPr>
          <p:cNvSpPr>
            <a:spLocks noGrp="1"/>
          </p:cNvSpPr>
          <p:nvPr/>
        </p:nvSpPr>
        <p:spPr>
          <a:xfrm>
            <a:off x="6000750" y="1752600"/>
            <a:ext cx="5238750" cy="3686175"/>
          </a:xfrm>
          <a:prstGeom prst="rect">
            <a:avLst/>
          </a:prstGeom>
          <a:solidFill>
            <a:srgbClr val="151E2D"/>
          </a:solidFill>
          <a:ln w="19050">
            <a:solidFill>
              <a:srgbClr val="FF6673"/>
            </a:solidFill>
            <a:prstDash val="solid"/>
          </a:ln>
        </p:spPr>
        <p:txBody>
          <a:bodyPr/>
          <a:lstStyle/>
          <a:p>
            <a:endParaRPr lang="en-IN"/>
          </a:p>
        </p:txBody>
      </p:sp>
      <p:sp>
        <p:nvSpPr>
          <p:cNvPr id="9" name="Rectangle 8">
            <a:extLst>
              <a:ext uri="{FF2B5EF4-FFF2-40B4-BE49-F238E27FC236}">
                <a16:creationId xmlns:a16="http://schemas.microsoft.com/office/drawing/2014/main" id="{10B4E696-B3B4-4320-AC08-18A82782AFFF}"/>
              </a:ext>
            </a:extLst>
          </p:cNvPr>
          <p:cNvSpPr>
            <a:spLocks noGrp="1"/>
          </p:cNvSpPr>
          <p:nvPr/>
        </p:nvSpPr>
        <p:spPr>
          <a:xfrm>
            <a:off x="742950" y="2019300"/>
            <a:ext cx="1524000" cy="20955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5BE7FF"/>
                </a:solidFill>
                <a:latin typeface="Aptos"/>
                <a:ea typeface="Aptos"/>
                <a:cs typeface="Aptos"/>
              </a:defRPr>
            </a:pPr>
            <a:r>
              <a:rPr sz="1050" b="1">
                <a:solidFill>
                  <a:srgbClr val="5BE7FF"/>
                </a:solidFill>
                <a:latin typeface="Aptos"/>
                <a:ea typeface="Aptos"/>
                <a:cs typeface="Aptos"/>
              </a:rPr>
              <a:t>AI MAY</a:t>
            </a:r>
          </a:p>
        </p:txBody>
      </p:sp>
      <p:sp>
        <p:nvSpPr>
          <p:cNvPr id="10" name="Rectangle 9">
            <a:extLst>
              <a:ext uri="{FF2B5EF4-FFF2-40B4-BE49-F238E27FC236}">
                <a16:creationId xmlns:a16="http://schemas.microsoft.com/office/drawing/2014/main" id="{2C8A6DED-FC93-4C6A-8054-5A11A9789173}"/>
              </a:ext>
            </a:extLst>
          </p:cNvPr>
          <p:cNvSpPr>
            <a:spLocks noGrp="1"/>
          </p:cNvSpPr>
          <p:nvPr/>
        </p:nvSpPr>
        <p:spPr>
          <a:xfrm>
            <a:off x="742950" y="2390775"/>
            <a:ext cx="4095750" cy="361950"/>
          </a:xfrm>
          <a:prstGeom prst="rect">
            <a:avLst/>
          </a:prstGeom>
          <a:noFill/>
          <a:ln w="0">
            <a:noFill/>
            <a:prstDash val="solid"/>
          </a:ln>
        </p:spPr>
        <p:txBody>
          <a:bodyPr wrap="square" lIns="0" tIns="0" rIns="0" bIns="0" anchor="t">
            <a:normAutofit/>
          </a:bodyPr>
          <a:lstStyle/>
          <a:p>
            <a:pPr algn="l">
              <a:lnSpc>
                <a:spcPct val="102000"/>
              </a:lnSpc>
              <a:buNone/>
              <a:defRPr sz="2325" b="1">
                <a:solidFill>
                  <a:srgbClr val="F4F7FB"/>
                </a:solidFill>
                <a:latin typeface="Aptos"/>
                <a:ea typeface="Aptos"/>
                <a:cs typeface="Aptos"/>
              </a:defRPr>
            </a:pPr>
            <a:r>
              <a:rPr sz="2325" b="1">
                <a:solidFill>
                  <a:srgbClr val="F4F7FB"/>
                </a:solidFill>
                <a:latin typeface="Aptos"/>
                <a:ea typeface="Aptos"/>
                <a:cs typeface="Aptos"/>
              </a:rPr>
              <a:t>Optimize useful work</a:t>
            </a:r>
          </a:p>
        </p:txBody>
      </p:sp>
      <p:sp>
        <p:nvSpPr>
          <p:cNvPr id="11" name="Rectangle 10">
            <a:extLst>
              <a:ext uri="{FF2B5EF4-FFF2-40B4-BE49-F238E27FC236}">
                <a16:creationId xmlns:a16="http://schemas.microsoft.com/office/drawing/2014/main" id="{1DB89EFA-02A6-4FFE-88D3-A33904B684A9}"/>
              </a:ext>
            </a:extLst>
          </p:cNvPr>
          <p:cNvSpPr>
            <a:spLocks noGrp="1"/>
          </p:cNvSpPr>
          <p:nvPr/>
        </p:nvSpPr>
        <p:spPr>
          <a:xfrm>
            <a:off x="742950" y="3133725"/>
            <a:ext cx="4286250" cy="1752600"/>
          </a:xfrm>
          <a:prstGeom prst="rect">
            <a:avLst/>
          </a:prstGeom>
          <a:noFill/>
          <a:ln w="0">
            <a:noFill/>
            <a:prstDash val="solid"/>
          </a:ln>
        </p:spPr>
        <p:txBody>
          <a:bodyPr lIns="0" tIns="0" rIns="0" bIns="0">
            <a:normAutofit/>
          </a:bodyPr>
          <a:lstStyle/>
          <a:p>
            <a:pPr marL="22" indent="-13">
              <a:lnSpc>
                <a:spcPct val="102000"/>
              </a:lnSpc>
              <a:spcAft>
                <a:spcPts val="14"/>
              </a:spcAft>
              <a:buNone/>
              <a:defRPr sz="1425">
                <a:solidFill>
                  <a:srgbClr val="F4F7FB"/>
                </a:solidFill>
                <a:latin typeface="Aptos"/>
                <a:ea typeface="Aptos"/>
                <a:cs typeface="Aptos"/>
              </a:defRPr>
            </a:pPr>
            <a:r>
              <a:rPr sz="1425">
                <a:solidFill>
                  <a:srgbClr val="F4F7FB"/>
                </a:solidFill>
                <a:latin typeface="Aptos"/>
                <a:ea typeface="Aptos"/>
                <a:cs typeface="Aptos"/>
              </a:rPr>
              <a:t>Structure domain inputs and create a service plan</a:t>
            </a:r>
          </a:p>
          <a:p>
            <a:pPr marL="22" indent="-13">
              <a:lnSpc>
                <a:spcPct val="102000"/>
              </a:lnSpc>
              <a:spcAft>
                <a:spcPts val="14"/>
              </a:spcAft>
              <a:buNone/>
              <a:defRPr sz="1425">
                <a:solidFill>
                  <a:srgbClr val="F4F7FB"/>
                </a:solidFill>
                <a:latin typeface="Aptos"/>
                <a:ea typeface="Aptos"/>
                <a:cs typeface="Aptos"/>
              </a:defRPr>
            </a:pPr>
            <a:r>
              <a:rPr sz="1425">
                <a:solidFill>
                  <a:srgbClr val="F4F7FB"/>
                </a:solidFill>
                <a:latin typeface="Aptos"/>
                <a:ea typeface="Aptos"/>
                <a:cs typeface="Aptos"/>
              </a:rPr>
              <a:t>Choose the next permitted operation or tool</a:t>
            </a:r>
          </a:p>
          <a:p>
            <a:pPr marL="22" indent="-13">
              <a:lnSpc>
                <a:spcPct val="102000"/>
              </a:lnSpc>
              <a:spcAft>
                <a:spcPts val="14"/>
              </a:spcAft>
              <a:buNone/>
              <a:defRPr sz="1425">
                <a:solidFill>
                  <a:srgbClr val="F4F7FB"/>
                </a:solidFill>
                <a:latin typeface="Aptos"/>
                <a:ea typeface="Aptos"/>
                <a:cs typeface="Aptos"/>
              </a:defRPr>
            </a:pPr>
            <a:r>
              <a:rPr sz="1425">
                <a:solidFill>
                  <a:srgbClr val="F4F7FB"/>
                </a:solidFill>
                <a:latin typeface="Aptos"/>
                <a:ea typeface="Aptos"/>
                <a:cs typeface="Aptos"/>
              </a:rPr>
              <a:t>Call configured AI and business services</a:t>
            </a:r>
          </a:p>
          <a:p>
            <a:pPr marL="22" indent="-13">
              <a:lnSpc>
                <a:spcPct val="102000"/>
              </a:lnSpc>
              <a:spcAft>
                <a:spcPts val="14"/>
              </a:spcAft>
              <a:buNone/>
              <a:defRPr sz="1425">
                <a:solidFill>
                  <a:srgbClr val="F4F7FB"/>
                </a:solidFill>
                <a:latin typeface="Aptos"/>
                <a:ea typeface="Aptos"/>
                <a:cs typeface="Aptos"/>
              </a:defRPr>
            </a:pPr>
            <a:r>
              <a:rPr sz="1425">
                <a:solidFill>
                  <a:srgbClr val="F4F7FB"/>
                </a:solidFill>
                <a:latin typeface="Aptos"/>
                <a:ea typeface="Aptos"/>
                <a:cs typeface="Aptos"/>
              </a:rPr>
              <a:t>Return structured output plus provider usage</a:t>
            </a:r>
          </a:p>
        </p:txBody>
      </p:sp>
      <p:sp>
        <p:nvSpPr>
          <p:cNvPr id="12" name="Rectangle 11">
            <a:extLst>
              <a:ext uri="{FF2B5EF4-FFF2-40B4-BE49-F238E27FC236}">
                <a16:creationId xmlns:a16="http://schemas.microsoft.com/office/drawing/2014/main" id="{4DE9A7B9-AB96-4F38-BEFE-F3D69E103252}"/>
              </a:ext>
            </a:extLst>
          </p:cNvPr>
          <p:cNvSpPr>
            <a:spLocks noGrp="1"/>
          </p:cNvSpPr>
          <p:nvPr/>
        </p:nvSpPr>
        <p:spPr>
          <a:xfrm>
            <a:off x="6286500" y="2019300"/>
            <a:ext cx="1714500" cy="20955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FF6673"/>
                </a:solidFill>
                <a:latin typeface="Aptos"/>
                <a:ea typeface="Aptos"/>
                <a:cs typeface="Aptos"/>
              </a:defRPr>
            </a:pPr>
            <a:r>
              <a:rPr sz="1050" b="1">
                <a:solidFill>
                  <a:srgbClr val="FF6673"/>
                </a:solidFill>
                <a:latin typeface="Aptos"/>
                <a:ea typeface="Aptos"/>
                <a:cs typeface="Aptos"/>
              </a:rPr>
              <a:t>AI MAY NEVER</a:t>
            </a:r>
          </a:p>
        </p:txBody>
      </p:sp>
      <p:sp>
        <p:nvSpPr>
          <p:cNvPr id="13" name="Rectangle 12">
            <a:extLst>
              <a:ext uri="{FF2B5EF4-FFF2-40B4-BE49-F238E27FC236}">
                <a16:creationId xmlns:a16="http://schemas.microsoft.com/office/drawing/2014/main" id="{5439DFAF-C622-4A1B-83E1-B4F87AB8C976}"/>
              </a:ext>
            </a:extLst>
          </p:cNvPr>
          <p:cNvSpPr>
            <a:spLocks noGrp="1"/>
          </p:cNvSpPr>
          <p:nvPr/>
        </p:nvSpPr>
        <p:spPr>
          <a:xfrm>
            <a:off x="6286500" y="2390775"/>
            <a:ext cx="4191000" cy="361950"/>
          </a:xfrm>
          <a:prstGeom prst="rect">
            <a:avLst/>
          </a:prstGeom>
          <a:noFill/>
          <a:ln w="0">
            <a:noFill/>
            <a:prstDash val="solid"/>
          </a:ln>
        </p:spPr>
        <p:txBody>
          <a:bodyPr wrap="square" lIns="0" tIns="0" rIns="0" bIns="0" anchor="t">
            <a:normAutofit/>
          </a:bodyPr>
          <a:lstStyle/>
          <a:p>
            <a:pPr algn="l">
              <a:lnSpc>
                <a:spcPct val="102000"/>
              </a:lnSpc>
              <a:buNone/>
              <a:defRPr sz="2325" b="1">
                <a:solidFill>
                  <a:srgbClr val="F4F7FB"/>
                </a:solidFill>
                <a:latin typeface="Aptos"/>
                <a:ea typeface="Aptos"/>
                <a:cs typeface="Aptos"/>
              </a:defRPr>
            </a:pPr>
            <a:r>
              <a:rPr sz="2325" b="1">
                <a:solidFill>
                  <a:srgbClr val="F4F7FB"/>
                </a:solidFill>
                <a:latin typeface="Aptos"/>
                <a:ea typeface="Aptos"/>
                <a:cs typeface="Aptos"/>
              </a:rPr>
              <a:t>Control the wallet</a:t>
            </a:r>
          </a:p>
        </p:txBody>
      </p:sp>
      <p:sp>
        <p:nvSpPr>
          <p:cNvPr id="14" name="Rectangle 13">
            <a:extLst>
              <a:ext uri="{FF2B5EF4-FFF2-40B4-BE49-F238E27FC236}">
                <a16:creationId xmlns:a16="http://schemas.microsoft.com/office/drawing/2014/main" id="{67EDBA83-88EF-4ACA-B70B-2AEECA108386}"/>
              </a:ext>
            </a:extLst>
          </p:cNvPr>
          <p:cNvSpPr>
            <a:spLocks noGrp="1"/>
          </p:cNvSpPr>
          <p:nvPr/>
        </p:nvSpPr>
        <p:spPr>
          <a:xfrm>
            <a:off x="6286500" y="3133725"/>
            <a:ext cx="4286250" cy="1752600"/>
          </a:xfrm>
          <a:prstGeom prst="rect">
            <a:avLst/>
          </a:prstGeom>
          <a:noFill/>
          <a:ln w="0">
            <a:noFill/>
            <a:prstDash val="solid"/>
          </a:ln>
        </p:spPr>
        <p:txBody>
          <a:bodyPr lIns="0" tIns="0" rIns="0" bIns="0">
            <a:normAutofit/>
          </a:bodyPr>
          <a:lstStyle/>
          <a:p>
            <a:pPr marL="22" indent="-13">
              <a:lnSpc>
                <a:spcPct val="102000"/>
              </a:lnSpc>
              <a:spcAft>
                <a:spcPts val="14"/>
              </a:spcAft>
              <a:buNone/>
              <a:defRPr sz="1425">
                <a:solidFill>
                  <a:srgbClr val="F4F7FB"/>
                </a:solidFill>
                <a:latin typeface="Aptos"/>
                <a:ea typeface="Aptos"/>
                <a:cs typeface="Aptos"/>
              </a:defRPr>
            </a:pPr>
            <a:r>
              <a:rPr sz="1425">
                <a:solidFill>
                  <a:srgbClr val="F4F7FB"/>
                </a:solidFill>
                <a:latin typeface="Aptos"/>
                <a:ea typeface="Aptos"/>
                <a:cs typeface="Aptos"/>
              </a:rPr>
              <a:t>Set the price, cap, merchant, token, or network</a:t>
            </a:r>
          </a:p>
          <a:p>
            <a:pPr marL="22" indent="-13">
              <a:lnSpc>
                <a:spcPct val="102000"/>
              </a:lnSpc>
              <a:spcAft>
                <a:spcPts val="14"/>
              </a:spcAft>
              <a:buNone/>
              <a:defRPr sz="1425">
                <a:solidFill>
                  <a:srgbClr val="F4F7FB"/>
                </a:solidFill>
                <a:latin typeface="Aptos"/>
                <a:ea typeface="Aptos"/>
                <a:cs typeface="Aptos"/>
              </a:defRPr>
            </a:pPr>
            <a:r>
              <a:rPr sz="1425">
                <a:solidFill>
                  <a:srgbClr val="F4F7FB"/>
                </a:solidFill>
                <a:latin typeface="Aptos"/>
                <a:ea typeface="Aptos"/>
                <a:cs typeface="Aptos"/>
              </a:rPr>
              <a:t>Invent usage, a payment reference, or explorer URL</a:t>
            </a:r>
          </a:p>
          <a:p>
            <a:pPr marL="22" indent="-13">
              <a:lnSpc>
                <a:spcPct val="102000"/>
              </a:lnSpc>
              <a:spcAft>
                <a:spcPts val="14"/>
              </a:spcAft>
              <a:buNone/>
              <a:defRPr sz="1425">
                <a:solidFill>
                  <a:srgbClr val="F4F7FB"/>
                </a:solidFill>
                <a:latin typeface="Aptos"/>
                <a:ea typeface="Aptos"/>
                <a:cs typeface="Aptos"/>
              </a:defRPr>
            </a:pPr>
            <a:r>
              <a:rPr sz="1425">
                <a:solidFill>
                  <a:srgbClr val="F4F7FB"/>
                </a:solidFill>
                <a:latin typeface="Aptos"/>
                <a:ea typeface="Aptos"/>
                <a:cs typeface="Aptos"/>
              </a:rPr>
              <a:t>Receive Circle credentials or Razorpay secrets</a:t>
            </a:r>
          </a:p>
          <a:p>
            <a:pPr marL="22" indent="-13">
              <a:lnSpc>
                <a:spcPct val="102000"/>
              </a:lnSpc>
              <a:spcAft>
                <a:spcPts val="14"/>
              </a:spcAft>
              <a:buNone/>
              <a:defRPr sz="1425">
                <a:solidFill>
                  <a:srgbClr val="F4F7FB"/>
                </a:solidFill>
                <a:latin typeface="Aptos"/>
                <a:ea typeface="Aptos"/>
                <a:cs typeface="Aptos"/>
              </a:defRPr>
            </a:pPr>
            <a:r>
              <a:rPr sz="1425">
                <a:solidFill>
                  <a:srgbClr val="F4F7FB"/>
                </a:solidFill>
                <a:latin typeface="Aptos"/>
                <a:ea typeface="Aptos"/>
                <a:cs typeface="Aptos"/>
              </a:rPr>
              <a:t>Retry an uncertain settlement automatically</a:t>
            </a:r>
          </a:p>
        </p:txBody>
      </p:sp>
      <p:sp>
        <p:nvSpPr>
          <p:cNvPr id="15" name="Rectangle 14">
            <a:extLst>
              <a:ext uri="{FF2B5EF4-FFF2-40B4-BE49-F238E27FC236}">
                <a16:creationId xmlns:a16="http://schemas.microsoft.com/office/drawing/2014/main" id="{F8A0981A-AE5C-4013-B70D-BF3E24F61A4C}"/>
              </a:ext>
            </a:extLst>
          </p:cNvPr>
          <p:cNvSpPr>
            <a:spLocks noGrp="1"/>
          </p:cNvSpPr>
          <p:nvPr/>
        </p:nvSpPr>
        <p:spPr>
          <a:xfrm>
            <a:off x="457200" y="5743575"/>
            <a:ext cx="10782300" cy="371475"/>
          </a:xfrm>
          <a:prstGeom prst="rect">
            <a:avLst/>
          </a:prstGeom>
          <a:solidFill>
            <a:srgbClr val="111827"/>
          </a:solidFill>
          <a:ln w="9525">
            <a:solidFill>
              <a:srgbClr val="FF6673"/>
            </a:solidFill>
            <a:prstDash val="solid"/>
          </a:ln>
        </p:spPr>
        <p:txBody>
          <a:bodyPr/>
          <a:lstStyle/>
          <a:p>
            <a:endParaRPr lang="en-IN"/>
          </a:p>
        </p:txBody>
      </p:sp>
      <p:sp>
        <p:nvSpPr>
          <p:cNvPr id="16" name="Rectangle 15">
            <a:extLst>
              <a:ext uri="{FF2B5EF4-FFF2-40B4-BE49-F238E27FC236}">
                <a16:creationId xmlns:a16="http://schemas.microsoft.com/office/drawing/2014/main" id="{141A2555-6A22-49BF-8A80-E6AA54B363AE}"/>
              </a:ext>
            </a:extLst>
          </p:cNvPr>
          <p:cNvSpPr>
            <a:spLocks noGrp="1"/>
          </p:cNvSpPr>
          <p:nvPr/>
        </p:nvSpPr>
        <p:spPr>
          <a:xfrm>
            <a:off x="647700" y="5838825"/>
            <a:ext cx="10401300" cy="190500"/>
          </a:xfrm>
          <a:prstGeom prst="rect">
            <a:avLst/>
          </a:prstGeom>
          <a:noFill/>
          <a:ln w="0">
            <a:noFill/>
            <a:prstDash val="solid"/>
          </a:ln>
        </p:spPr>
        <p:txBody>
          <a:bodyPr wrap="square" lIns="0" tIns="0" rIns="0" bIns="0" anchor="t">
            <a:normAutofit fontScale="96117"/>
          </a:bodyPr>
          <a:lstStyle/>
          <a:p>
            <a:pPr algn="ctr">
              <a:lnSpc>
                <a:spcPct val="102000"/>
              </a:lnSpc>
              <a:buNone/>
              <a:defRPr sz="1275" b="1">
                <a:solidFill>
                  <a:srgbClr val="F4F7FB"/>
                </a:solidFill>
                <a:latin typeface="Aptos"/>
                <a:ea typeface="Aptos"/>
                <a:cs typeface="Aptos"/>
              </a:defRPr>
            </a:pPr>
            <a:r>
              <a:rPr sz="1275" b="1">
                <a:solidFill>
                  <a:srgbClr val="F4F7FB"/>
                </a:solidFill>
                <a:latin typeface="Aptos"/>
                <a:ea typeface="Aptos"/>
                <a:cs typeface="Aptos"/>
              </a:rPr>
              <a:t>Fail closed on malformed AI output, missing usage, tampering, invalid state, cap violation, or ambiguous payment.</a:t>
            </a:r>
          </a:p>
        </p:txBody>
      </p:sp>
    </p:spTree>
    <p:extLst>
      <p:ext uri="{BB962C8B-B14F-4D97-AF65-F5344CB8AC3E}">
        <p14:creationId xmlns:p14="http://schemas.microsoft.com/office/powerpoint/2010/main" val="1920084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0A0F"/>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BF083252-B242-411C-92EE-6E06A9118033}"/>
              </a:ext>
            </a:extLst>
          </p:cNvPr>
          <p:cNvSpPr>
            <a:spLocks noGrp="1"/>
          </p:cNvSpPr>
          <p:nvPr/>
        </p:nvSpPr>
        <p:spPr>
          <a:xfrm>
            <a:off x="457200" y="209550"/>
            <a:ext cx="4953000" cy="1905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38E09F"/>
                </a:solidFill>
                <a:latin typeface="Aptos"/>
                <a:ea typeface="Aptos"/>
                <a:cs typeface="Aptos"/>
              </a:defRPr>
            </a:pPr>
            <a:r>
              <a:rPr sz="1050" b="1">
                <a:solidFill>
                  <a:srgbClr val="38E09F"/>
                </a:solidFill>
                <a:latin typeface="Aptos"/>
                <a:ea typeface="Aptos"/>
                <a:cs typeface="Aptos"/>
              </a:rPr>
              <a:t>TRANSACTION PROOF</a:t>
            </a:r>
          </a:p>
        </p:txBody>
      </p:sp>
      <p:sp>
        <p:nvSpPr>
          <p:cNvPr id="2" name="Rectangle 1">
            <a:extLst>
              <a:ext uri="{FF2B5EF4-FFF2-40B4-BE49-F238E27FC236}">
                <a16:creationId xmlns:a16="http://schemas.microsoft.com/office/drawing/2014/main" id="{A2D7ED33-7606-41EE-B3F0-0EACFC72349E}"/>
              </a:ext>
            </a:extLst>
          </p:cNvPr>
          <p:cNvSpPr>
            <a:spLocks noGrp="1"/>
          </p:cNvSpPr>
          <p:nvPr/>
        </p:nvSpPr>
        <p:spPr>
          <a:xfrm>
            <a:off x="457200" y="514350"/>
            <a:ext cx="11239500" cy="762000"/>
          </a:xfrm>
          <a:prstGeom prst="rect">
            <a:avLst/>
          </a:prstGeom>
          <a:noFill/>
          <a:ln w="0">
            <a:noFill/>
            <a:prstDash val="solid"/>
          </a:ln>
        </p:spPr>
        <p:txBody>
          <a:bodyPr wrap="square" lIns="0" tIns="0" rIns="0" bIns="0" anchor="t">
            <a:noAutofit/>
          </a:bodyPr>
          <a:lstStyle/>
          <a:p>
            <a:pPr algn="l">
              <a:lnSpc>
                <a:spcPct val="94000"/>
              </a:lnSpc>
              <a:buNone/>
              <a:defRPr sz="3150" b="1">
                <a:solidFill>
                  <a:srgbClr val="F4F7FB"/>
                </a:solidFill>
                <a:latin typeface="Aptos"/>
                <a:ea typeface="Aptos"/>
                <a:cs typeface="Aptos"/>
              </a:defRPr>
            </a:pPr>
            <a:r>
              <a:rPr sz="3150" b="1">
                <a:solidFill>
                  <a:srgbClr val="F4F7FB"/>
                </a:solidFill>
                <a:latin typeface="Aptos"/>
                <a:ea typeface="Aptos"/>
                <a:cs typeface="Aptos"/>
              </a:rPr>
              <a:t>The receipt must turn payment into independently verifiable evidence.</a:t>
            </a:r>
          </a:p>
        </p:txBody>
      </p:sp>
      <p:sp>
        <p:nvSpPr>
          <p:cNvPr id="3" name="Straight Connector 2">
            <a:extLst>
              <a:ext uri="{FF2B5EF4-FFF2-40B4-BE49-F238E27FC236}">
                <a16:creationId xmlns:a16="http://schemas.microsoft.com/office/drawing/2014/main" id="{C0801799-1BDD-47B6-AE1A-9FB3B2097EC0}"/>
              </a:ext>
            </a:extLst>
          </p:cNvPr>
          <p:cNvSpPr>
            <a:spLocks noGrp="1"/>
          </p:cNvSpPr>
          <p:nvPr/>
        </p:nvSpPr>
        <p:spPr>
          <a:xfrm>
            <a:off x="457200" y="1371600"/>
            <a:ext cx="11277600" cy="0"/>
          </a:xfrm>
          <a:prstGeom prst="line">
            <a:avLst/>
          </a:prstGeom>
          <a:noFill/>
          <a:ln w="9525">
            <a:solidFill>
              <a:srgbClr val="2A3548"/>
            </a:solidFill>
            <a:prstDash val="solid"/>
          </a:ln>
        </p:spPr>
        <p:txBody>
          <a:bodyPr/>
          <a:lstStyle/>
          <a:p>
            <a:endParaRPr lang="en-IN"/>
          </a:p>
        </p:txBody>
      </p:sp>
      <p:sp>
        <p:nvSpPr>
          <p:cNvPr id="4" name="Rectangle 3">
            <a:extLst>
              <a:ext uri="{FF2B5EF4-FFF2-40B4-BE49-F238E27FC236}">
                <a16:creationId xmlns:a16="http://schemas.microsoft.com/office/drawing/2014/main" id="{96C6C29B-F207-492F-92D4-6F28F35B5CF3}"/>
              </a:ext>
            </a:extLst>
          </p:cNvPr>
          <p:cNvSpPr>
            <a:spLocks noGrp="1"/>
          </p:cNvSpPr>
          <p:nvPr/>
        </p:nvSpPr>
        <p:spPr>
          <a:xfrm>
            <a:off x="457200" y="6457950"/>
            <a:ext cx="152400" cy="38100"/>
          </a:xfrm>
          <a:prstGeom prst="rect">
            <a:avLst/>
          </a:prstGeom>
          <a:solidFill>
            <a:srgbClr val="38E09F"/>
          </a:solidFill>
          <a:ln w="0">
            <a:noFill/>
            <a:prstDash val="solid"/>
          </a:ln>
        </p:spPr>
        <p:txBody>
          <a:bodyPr/>
          <a:lstStyle/>
          <a:p>
            <a:endParaRPr lang="en-IN"/>
          </a:p>
        </p:txBody>
      </p:sp>
      <p:sp>
        <p:nvSpPr>
          <p:cNvPr id="5" name="Rectangle 4">
            <a:extLst>
              <a:ext uri="{FF2B5EF4-FFF2-40B4-BE49-F238E27FC236}">
                <a16:creationId xmlns:a16="http://schemas.microsoft.com/office/drawing/2014/main" id="{9A927A5D-4E3E-4C34-BB2B-3464441B56DA}"/>
              </a:ext>
            </a:extLst>
          </p:cNvPr>
          <p:cNvSpPr>
            <a:spLocks noGrp="1"/>
          </p:cNvSpPr>
          <p:nvPr/>
        </p:nvSpPr>
        <p:spPr>
          <a:xfrm>
            <a:off x="704850" y="6381750"/>
            <a:ext cx="1714500" cy="190500"/>
          </a:xfrm>
          <a:prstGeom prst="rect">
            <a:avLst/>
          </a:prstGeom>
          <a:noFill/>
          <a:ln w="0">
            <a:noFill/>
            <a:prstDash val="solid"/>
          </a:ln>
        </p:spPr>
        <p:txBody>
          <a:bodyPr wrap="square" lIns="0" tIns="0" rIns="0" bIns="0" anchor="t">
            <a:normAutofit/>
          </a:bodyPr>
          <a:lstStyle/>
          <a:p>
            <a:pPr algn="l">
              <a:lnSpc>
                <a:spcPct val="102000"/>
              </a:lnSpc>
              <a:buNone/>
              <a:defRPr sz="900" b="1">
                <a:solidFill>
                  <a:srgbClr val="99A6B8"/>
                </a:solidFill>
                <a:latin typeface="Aptos"/>
                <a:ea typeface="Aptos"/>
                <a:cs typeface="Aptos"/>
              </a:defRPr>
            </a:pPr>
            <a:r>
              <a:rPr sz="900" b="1">
                <a:solidFill>
                  <a:srgbClr val="99A6B8"/>
                </a:solidFill>
                <a:latin typeface="Aptos"/>
                <a:ea typeface="Aptos"/>
                <a:cs typeface="Aptos"/>
              </a:rPr>
              <a:t>PAYPILOT</a:t>
            </a:r>
          </a:p>
        </p:txBody>
      </p:sp>
      <p:sp>
        <p:nvSpPr>
          <p:cNvPr id="6" name="Rectangle 5">
            <a:extLst>
              <a:ext uri="{FF2B5EF4-FFF2-40B4-BE49-F238E27FC236}">
                <a16:creationId xmlns:a16="http://schemas.microsoft.com/office/drawing/2014/main" id="{1547FB91-F89B-4F02-B466-A0981987AA5D}"/>
              </a:ext>
            </a:extLst>
          </p:cNvPr>
          <p:cNvSpPr>
            <a:spLocks noGrp="1"/>
          </p:cNvSpPr>
          <p:nvPr/>
        </p:nvSpPr>
        <p:spPr>
          <a:xfrm>
            <a:off x="11182350" y="6381750"/>
            <a:ext cx="552450" cy="190500"/>
          </a:xfrm>
          <a:prstGeom prst="rect">
            <a:avLst/>
          </a:prstGeom>
          <a:noFill/>
          <a:ln w="0">
            <a:noFill/>
            <a:prstDash val="solid"/>
          </a:ln>
        </p:spPr>
        <p:txBody>
          <a:bodyPr wrap="square" lIns="0" tIns="0" rIns="0" bIns="0" anchor="t">
            <a:normAutofit/>
          </a:bodyPr>
          <a:lstStyle/>
          <a:p>
            <a:pPr algn="r">
              <a:lnSpc>
                <a:spcPct val="102000"/>
              </a:lnSpc>
              <a:buNone/>
              <a:defRPr sz="975" b="0">
                <a:solidFill>
                  <a:srgbClr val="99A6B8"/>
                </a:solidFill>
                <a:latin typeface="Aptos"/>
                <a:ea typeface="Aptos"/>
                <a:cs typeface="Aptos"/>
              </a:defRPr>
            </a:pPr>
            <a:r>
              <a:rPr sz="975" b="0">
                <a:solidFill>
                  <a:srgbClr val="99A6B8"/>
                </a:solidFill>
                <a:latin typeface="Aptos"/>
                <a:ea typeface="Aptos"/>
                <a:cs typeface="Aptos"/>
              </a:rPr>
              <a:t>11</a:t>
            </a:r>
          </a:p>
        </p:txBody>
      </p:sp>
      <p:sp>
        <p:nvSpPr>
          <p:cNvPr id="7" name="Rectangle 6">
            <a:extLst>
              <a:ext uri="{FF2B5EF4-FFF2-40B4-BE49-F238E27FC236}">
                <a16:creationId xmlns:a16="http://schemas.microsoft.com/office/drawing/2014/main" id="{EFC0F897-B782-43C4-9ED6-3659CD646B99}"/>
              </a:ext>
            </a:extLst>
          </p:cNvPr>
          <p:cNvSpPr>
            <a:spLocks noGrp="1"/>
          </p:cNvSpPr>
          <p:nvPr/>
        </p:nvSpPr>
        <p:spPr>
          <a:xfrm>
            <a:off x="457200" y="1733550"/>
            <a:ext cx="6858000" cy="3943350"/>
          </a:xfrm>
          <a:prstGeom prst="rect">
            <a:avLst/>
          </a:prstGeom>
          <a:solidFill>
            <a:srgbClr val="151E2D"/>
          </a:solidFill>
          <a:ln w="19050">
            <a:solidFill>
              <a:srgbClr val="38E09F"/>
            </a:solidFill>
            <a:prstDash val="solid"/>
          </a:ln>
        </p:spPr>
        <p:txBody>
          <a:bodyPr/>
          <a:lstStyle/>
          <a:p>
            <a:endParaRPr lang="en-IN"/>
          </a:p>
        </p:txBody>
      </p:sp>
      <p:sp>
        <p:nvSpPr>
          <p:cNvPr id="8" name="Rectangle 7">
            <a:extLst>
              <a:ext uri="{FF2B5EF4-FFF2-40B4-BE49-F238E27FC236}">
                <a16:creationId xmlns:a16="http://schemas.microsoft.com/office/drawing/2014/main" id="{4682E8B6-A594-4CAA-AB9E-48133EAABD47}"/>
              </a:ext>
            </a:extLst>
          </p:cNvPr>
          <p:cNvSpPr>
            <a:spLocks noGrp="1"/>
          </p:cNvSpPr>
          <p:nvPr/>
        </p:nvSpPr>
        <p:spPr>
          <a:xfrm>
            <a:off x="742950" y="2000250"/>
            <a:ext cx="2095500" cy="20955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38E09F"/>
                </a:solidFill>
                <a:latin typeface="Aptos"/>
                <a:ea typeface="Aptos"/>
                <a:cs typeface="Aptos"/>
              </a:defRPr>
            </a:pPr>
            <a:r>
              <a:rPr sz="1050" b="1">
                <a:solidFill>
                  <a:srgbClr val="38E09F"/>
                </a:solidFill>
                <a:latin typeface="Aptos"/>
                <a:ea typeface="Aptos"/>
                <a:cs typeface="Aptos"/>
              </a:rPr>
              <a:t>TARGET RECEIPT</a:t>
            </a:r>
          </a:p>
        </p:txBody>
      </p:sp>
      <p:sp>
        <p:nvSpPr>
          <p:cNvPr id="9" name="Rectangle 8">
            <a:extLst>
              <a:ext uri="{FF2B5EF4-FFF2-40B4-BE49-F238E27FC236}">
                <a16:creationId xmlns:a16="http://schemas.microsoft.com/office/drawing/2014/main" id="{819ADB84-6700-45F5-977C-AD4618F95C01}"/>
              </a:ext>
            </a:extLst>
          </p:cNvPr>
          <p:cNvSpPr>
            <a:spLocks noGrp="1"/>
          </p:cNvSpPr>
          <p:nvPr/>
        </p:nvSpPr>
        <p:spPr>
          <a:xfrm>
            <a:off x="742950" y="2381250"/>
            <a:ext cx="2190750" cy="219075"/>
          </a:xfrm>
          <a:prstGeom prst="rect">
            <a:avLst/>
          </a:prstGeom>
          <a:noFill/>
          <a:ln w="0">
            <a:noFill/>
            <a:prstDash val="solid"/>
          </a:ln>
        </p:spPr>
        <p:txBody>
          <a:bodyPr wrap="square" lIns="0" tIns="0" rIns="0" bIns="0" anchor="t">
            <a:normAutofit/>
          </a:bodyPr>
          <a:lstStyle/>
          <a:p>
            <a:pPr algn="l">
              <a:lnSpc>
                <a:spcPct val="102000"/>
              </a:lnSpc>
              <a:buNone/>
              <a:defRPr sz="1275" b="1">
                <a:solidFill>
                  <a:srgbClr val="5BE7FF"/>
                </a:solidFill>
                <a:latin typeface="Aptos"/>
                <a:ea typeface="Aptos"/>
                <a:cs typeface="Aptos"/>
              </a:defRPr>
            </a:pPr>
            <a:r>
              <a:rPr sz="1275" b="1">
                <a:solidFill>
                  <a:srgbClr val="5BE7FF"/>
                </a:solidFill>
                <a:latin typeface="Aptos"/>
                <a:ea typeface="Aptos"/>
                <a:cs typeface="Aptos"/>
              </a:rPr>
              <a:t>circleWalletAddress</a:t>
            </a:r>
          </a:p>
        </p:txBody>
      </p:sp>
      <p:sp>
        <p:nvSpPr>
          <p:cNvPr id="10" name="Rectangle 9">
            <a:extLst>
              <a:ext uri="{FF2B5EF4-FFF2-40B4-BE49-F238E27FC236}">
                <a16:creationId xmlns:a16="http://schemas.microsoft.com/office/drawing/2014/main" id="{C2E784A4-2E55-4182-8D77-BBE91249428B}"/>
              </a:ext>
            </a:extLst>
          </p:cNvPr>
          <p:cNvSpPr>
            <a:spLocks noGrp="1"/>
          </p:cNvSpPr>
          <p:nvPr/>
        </p:nvSpPr>
        <p:spPr>
          <a:xfrm>
            <a:off x="3067050" y="2381250"/>
            <a:ext cx="3857625" cy="219075"/>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F4F7FB"/>
                </a:solidFill>
                <a:latin typeface="Aptos"/>
                <a:ea typeface="Aptos"/>
                <a:cs typeface="Aptos"/>
              </a:defRPr>
            </a:pPr>
            <a:r>
              <a:rPr sz="1275" b="0">
                <a:solidFill>
                  <a:srgbClr val="F4F7FB"/>
                </a:solidFill>
                <a:latin typeface="Aptos"/>
                <a:ea typeface="Aptos"/>
                <a:cs typeface="Aptos"/>
              </a:rPr>
              <a:t>0x… agent wallet</a:t>
            </a:r>
          </a:p>
        </p:txBody>
      </p:sp>
      <p:sp>
        <p:nvSpPr>
          <p:cNvPr id="11" name="Straight Connector 10">
            <a:extLst>
              <a:ext uri="{FF2B5EF4-FFF2-40B4-BE49-F238E27FC236}">
                <a16:creationId xmlns:a16="http://schemas.microsoft.com/office/drawing/2014/main" id="{22CA0018-E545-4049-9CEA-0E26B2BA67C8}"/>
              </a:ext>
            </a:extLst>
          </p:cNvPr>
          <p:cNvSpPr>
            <a:spLocks noGrp="1"/>
          </p:cNvSpPr>
          <p:nvPr/>
        </p:nvSpPr>
        <p:spPr>
          <a:xfrm>
            <a:off x="742950" y="2676525"/>
            <a:ext cx="6172200" cy="0"/>
          </a:xfrm>
          <a:prstGeom prst="line">
            <a:avLst/>
          </a:prstGeom>
          <a:noFill/>
          <a:ln w="9525">
            <a:solidFill>
              <a:srgbClr val="2A3548"/>
            </a:solidFill>
            <a:prstDash val="solid"/>
          </a:ln>
        </p:spPr>
        <p:txBody>
          <a:bodyPr/>
          <a:lstStyle/>
          <a:p>
            <a:endParaRPr lang="en-IN"/>
          </a:p>
        </p:txBody>
      </p:sp>
      <p:sp>
        <p:nvSpPr>
          <p:cNvPr id="12" name="Rectangle 11">
            <a:extLst>
              <a:ext uri="{FF2B5EF4-FFF2-40B4-BE49-F238E27FC236}">
                <a16:creationId xmlns:a16="http://schemas.microsoft.com/office/drawing/2014/main" id="{2E66F3C9-CDBB-4CFE-9AC6-79407F12719A}"/>
              </a:ext>
            </a:extLst>
          </p:cNvPr>
          <p:cNvSpPr>
            <a:spLocks noGrp="1"/>
          </p:cNvSpPr>
          <p:nvPr/>
        </p:nvSpPr>
        <p:spPr>
          <a:xfrm>
            <a:off x="742950" y="2790825"/>
            <a:ext cx="2190750" cy="219075"/>
          </a:xfrm>
          <a:prstGeom prst="rect">
            <a:avLst/>
          </a:prstGeom>
          <a:noFill/>
          <a:ln w="0">
            <a:noFill/>
            <a:prstDash val="solid"/>
          </a:ln>
        </p:spPr>
        <p:txBody>
          <a:bodyPr wrap="square" lIns="0" tIns="0" rIns="0" bIns="0" anchor="t">
            <a:normAutofit/>
          </a:bodyPr>
          <a:lstStyle/>
          <a:p>
            <a:pPr algn="l">
              <a:lnSpc>
                <a:spcPct val="102000"/>
              </a:lnSpc>
              <a:buNone/>
              <a:defRPr sz="1275" b="1">
                <a:solidFill>
                  <a:srgbClr val="5BE7FF"/>
                </a:solidFill>
                <a:latin typeface="Aptos"/>
                <a:ea typeface="Aptos"/>
                <a:cs typeface="Aptos"/>
              </a:defRPr>
            </a:pPr>
            <a:r>
              <a:rPr sz="1275" b="1">
                <a:solidFill>
                  <a:srgbClr val="5BE7FF"/>
                </a:solidFill>
                <a:latin typeface="Aptos"/>
                <a:ea typeface="Aptos"/>
                <a:cs typeface="Aptos"/>
              </a:rPr>
              <a:t>network</a:t>
            </a:r>
          </a:p>
        </p:txBody>
      </p:sp>
      <p:sp>
        <p:nvSpPr>
          <p:cNvPr id="13" name="Rectangle 12">
            <a:extLst>
              <a:ext uri="{FF2B5EF4-FFF2-40B4-BE49-F238E27FC236}">
                <a16:creationId xmlns:a16="http://schemas.microsoft.com/office/drawing/2014/main" id="{73AC75B6-AB9A-45D0-BE98-30227308ABCB}"/>
              </a:ext>
            </a:extLst>
          </p:cNvPr>
          <p:cNvSpPr>
            <a:spLocks noGrp="1"/>
          </p:cNvSpPr>
          <p:nvPr/>
        </p:nvSpPr>
        <p:spPr>
          <a:xfrm>
            <a:off x="3067050" y="2790825"/>
            <a:ext cx="3857625" cy="219075"/>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F4F7FB"/>
                </a:solidFill>
                <a:latin typeface="Aptos"/>
                <a:ea typeface="Aptos"/>
                <a:cs typeface="Aptos"/>
              </a:defRPr>
            </a:pPr>
            <a:r>
              <a:rPr sz="1275" b="0">
                <a:solidFill>
                  <a:srgbClr val="F4F7FB"/>
                </a:solidFill>
                <a:latin typeface="Aptos"/>
                <a:ea typeface="Aptos"/>
                <a:cs typeface="Aptos"/>
              </a:rPr>
              <a:t>Base / supported chain</a:t>
            </a:r>
          </a:p>
        </p:txBody>
      </p:sp>
      <p:sp>
        <p:nvSpPr>
          <p:cNvPr id="14" name="Straight Connector 13">
            <a:extLst>
              <a:ext uri="{FF2B5EF4-FFF2-40B4-BE49-F238E27FC236}">
                <a16:creationId xmlns:a16="http://schemas.microsoft.com/office/drawing/2014/main" id="{B5F5F1E6-99A6-49FF-90A0-911232DC73AC}"/>
              </a:ext>
            </a:extLst>
          </p:cNvPr>
          <p:cNvSpPr>
            <a:spLocks noGrp="1"/>
          </p:cNvSpPr>
          <p:nvPr/>
        </p:nvSpPr>
        <p:spPr>
          <a:xfrm>
            <a:off x="742950" y="3086100"/>
            <a:ext cx="6172200" cy="0"/>
          </a:xfrm>
          <a:prstGeom prst="line">
            <a:avLst/>
          </a:prstGeom>
          <a:noFill/>
          <a:ln w="9525">
            <a:solidFill>
              <a:srgbClr val="2A3548"/>
            </a:solidFill>
            <a:prstDash val="solid"/>
          </a:ln>
        </p:spPr>
        <p:txBody>
          <a:bodyPr/>
          <a:lstStyle/>
          <a:p>
            <a:endParaRPr lang="en-IN"/>
          </a:p>
        </p:txBody>
      </p:sp>
      <p:sp>
        <p:nvSpPr>
          <p:cNvPr id="15" name="Rectangle 14">
            <a:extLst>
              <a:ext uri="{FF2B5EF4-FFF2-40B4-BE49-F238E27FC236}">
                <a16:creationId xmlns:a16="http://schemas.microsoft.com/office/drawing/2014/main" id="{4363ECAC-C141-4E47-A0C8-2FBFECC04E67}"/>
              </a:ext>
            </a:extLst>
          </p:cNvPr>
          <p:cNvSpPr>
            <a:spLocks noGrp="1"/>
          </p:cNvSpPr>
          <p:nvPr/>
        </p:nvSpPr>
        <p:spPr>
          <a:xfrm>
            <a:off x="742950" y="3200400"/>
            <a:ext cx="2190750" cy="219075"/>
          </a:xfrm>
          <a:prstGeom prst="rect">
            <a:avLst/>
          </a:prstGeom>
          <a:noFill/>
          <a:ln w="0">
            <a:noFill/>
            <a:prstDash val="solid"/>
          </a:ln>
        </p:spPr>
        <p:txBody>
          <a:bodyPr wrap="square" lIns="0" tIns="0" rIns="0" bIns="0" anchor="t">
            <a:normAutofit/>
          </a:bodyPr>
          <a:lstStyle/>
          <a:p>
            <a:pPr algn="l">
              <a:lnSpc>
                <a:spcPct val="102000"/>
              </a:lnSpc>
              <a:buNone/>
              <a:defRPr sz="1275" b="1">
                <a:solidFill>
                  <a:srgbClr val="5BE7FF"/>
                </a:solidFill>
                <a:latin typeface="Aptos"/>
                <a:ea typeface="Aptos"/>
                <a:cs typeface="Aptos"/>
              </a:defRPr>
            </a:pPr>
            <a:r>
              <a:rPr sz="1275" b="1">
                <a:solidFill>
                  <a:srgbClr val="5BE7FF"/>
                </a:solidFill>
                <a:latin typeface="Aptos"/>
                <a:ea typeface="Aptos"/>
                <a:cs typeface="Aptos"/>
              </a:rPr>
              <a:t>transactionHash</a:t>
            </a:r>
          </a:p>
        </p:txBody>
      </p:sp>
      <p:sp>
        <p:nvSpPr>
          <p:cNvPr id="16" name="Rectangle 15">
            <a:extLst>
              <a:ext uri="{FF2B5EF4-FFF2-40B4-BE49-F238E27FC236}">
                <a16:creationId xmlns:a16="http://schemas.microsoft.com/office/drawing/2014/main" id="{B00F7607-B6F9-465A-9627-DEEF7AC9B40F}"/>
              </a:ext>
            </a:extLst>
          </p:cNvPr>
          <p:cNvSpPr>
            <a:spLocks noGrp="1"/>
          </p:cNvSpPr>
          <p:nvPr/>
        </p:nvSpPr>
        <p:spPr>
          <a:xfrm>
            <a:off x="3067050" y="3200400"/>
            <a:ext cx="3857625" cy="219075"/>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F4F7FB"/>
                </a:solidFill>
                <a:latin typeface="Aptos"/>
                <a:ea typeface="Aptos"/>
                <a:cs typeface="Aptos"/>
              </a:defRPr>
            </a:pPr>
            <a:r>
              <a:rPr sz="1275" b="0">
                <a:solidFill>
                  <a:srgbClr val="F4F7FB"/>
                </a:solidFill>
                <a:latin typeface="Aptos"/>
                <a:ea typeface="Aptos"/>
                <a:cs typeface="Aptos"/>
              </a:rPr>
              <a:t>real provider / on-chain reference</a:t>
            </a:r>
          </a:p>
        </p:txBody>
      </p:sp>
      <p:sp>
        <p:nvSpPr>
          <p:cNvPr id="17" name="Straight Connector 16">
            <a:extLst>
              <a:ext uri="{FF2B5EF4-FFF2-40B4-BE49-F238E27FC236}">
                <a16:creationId xmlns:a16="http://schemas.microsoft.com/office/drawing/2014/main" id="{A097D6AE-6263-4319-8646-1FA4962A1EE7}"/>
              </a:ext>
            </a:extLst>
          </p:cNvPr>
          <p:cNvSpPr>
            <a:spLocks noGrp="1"/>
          </p:cNvSpPr>
          <p:nvPr/>
        </p:nvSpPr>
        <p:spPr>
          <a:xfrm>
            <a:off x="742950" y="3495675"/>
            <a:ext cx="6172200" cy="0"/>
          </a:xfrm>
          <a:prstGeom prst="line">
            <a:avLst/>
          </a:prstGeom>
          <a:noFill/>
          <a:ln w="9525">
            <a:solidFill>
              <a:srgbClr val="2A3548"/>
            </a:solidFill>
            <a:prstDash val="solid"/>
          </a:ln>
        </p:spPr>
        <p:txBody>
          <a:bodyPr/>
          <a:lstStyle/>
          <a:p>
            <a:endParaRPr lang="en-IN"/>
          </a:p>
        </p:txBody>
      </p:sp>
      <p:sp>
        <p:nvSpPr>
          <p:cNvPr id="18" name="Rectangle 17">
            <a:extLst>
              <a:ext uri="{FF2B5EF4-FFF2-40B4-BE49-F238E27FC236}">
                <a16:creationId xmlns:a16="http://schemas.microsoft.com/office/drawing/2014/main" id="{9697324C-8CD6-4B7A-8417-06C6B43B4450}"/>
              </a:ext>
            </a:extLst>
          </p:cNvPr>
          <p:cNvSpPr>
            <a:spLocks noGrp="1"/>
          </p:cNvSpPr>
          <p:nvPr/>
        </p:nvSpPr>
        <p:spPr>
          <a:xfrm>
            <a:off x="742950" y="3609975"/>
            <a:ext cx="2190750" cy="219075"/>
          </a:xfrm>
          <a:prstGeom prst="rect">
            <a:avLst/>
          </a:prstGeom>
          <a:noFill/>
          <a:ln w="0">
            <a:noFill/>
            <a:prstDash val="solid"/>
          </a:ln>
        </p:spPr>
        <p:txBody>
          <a:bodyPr wrap="square" lIns="0" tIns="0" rIns="0" bIns="0" anchor="t">
            <a:normAutofit/>
          </a:bodyPr>
          <a:lstStyle/>
          <a:p>
            <a:pPr algn="l">
              <a:lnSpc>
                <a:spcPct val="102000"/>
              </a:lnSpc>
              <a:buNone/>
              <a:defRPr sz="1275" b="1">
                <a:solidFill>
                  <a:srgbClr val="5BE7FF"/>
                </a:solidFill>
                <a:latin typeface="Aptos"/>
                <a:ea typeface="Aptos"/>
                <a:cs typeface="Aptos"/>
              </a:defRPr>
            </a:pPr>
            <a:r>
              <a:rPr sz="1275" b="1">
                <a:solidFill>
                  <a:srgbClr val="5BE7FF"/>
                </a:solidFill>
                <a:latin typeface="Aptos"/>
                <a:ea typeface="Aptos"/>
                <a:cs typeface="Aptos"/>
              </a:rPr>
              <a:t>explorerUrl</a:t>
            </a:r>
          </a:p>
        </p:txBody>
      </p:sp>
      <p:sp>
        <p:nvSpPr>
          <p:cNvPr id="19" name="Rectangle 18">
            <a:extLst>
              <a:ext uri="{FF2B5EF4-FFF2-40B4-BE49-F238E27FC236}">
                <a16:creationId xmlns:a16="http://schemas.microsoft.com/office/drawing/2014/main" id="{C5F4CCF2-44AA-47A0-AA18-4E9FFADA52DF}"/>
              </a:ext>
            </a:extLst>
          </p:cNvPr>
          <p:cNvSpPr>
            <a:spLocks noGrp="1"/>
          </p:cNvSpPr>
          <p:nvPr/>
        </p:nvSpPr>
        <p:spPr>
          <a:xfrm>
            <a:off x="3067050" y="3609975"/>
            <a:ext cx="3857625" cy="219075"/>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F4F7FB"/>
                </a:solidFill>
                <a:latin typeface="Aptos"/>
                <a:ea typeface="Aptos"/>
                <a:cs typeface="Aptos"/>
              </a:defRPr>
            </a:pPr>
            <a:r>
              <a:rPr sz="1275" b="0">
                <a:solidFill>
                  <a:srgbClr val="F4F7FB"/>
                </a:solidFill>
                <a:latin typeface="Aptos"/>
                <a:ea typeface="Aptos"/>
                <a:cs typeface="Aptos"/>
              </a:rPr>
              <a:t>https://basescan.org/tx/{hash}</a:t>
            </a:r>
          </a:p>
        </p:txBody>
      </p:sp>
      <p:sp>
        <p:nvSpPr>
          <p:cNvPr id="20" name="Straight Connector 19">
            <a:extLst>
              <a:ext uri="{FF2B5EF4-FFF2-40B4-BE49-F238E27FC236}">
                <a16:creationId xmlns:a16="http://schemas.microsoft.com/office/drawing/2014/main" id="{9284D60E-CB8F-4D02-BCA5-73FEE0BCB550}"/>
              </a:ext>
            </a:extLst>
          </p:cNvPr>
          <p:cNvSpPr>
            <a:spLocks noGrp="1"/>
          </p:cNvSpPr>
          <p:nvPr/>
        </p:nvSpPr>
        <p:spPr>
          <a:xfrm>
            <a:off x="742950" y="3905250"/>
            <a:ext cx="6172200" cy="0"/>
          </a:xfrm>
          <a:prstGeom prst="line">
            <a:avLst/>
          </a:prstGeom>
          <a:noFill/>
          <a:ln w="9525">
            <a:solidFill>
              <a:srgbClr val="2A3548"/>
            </a:solidFill>
            <a:prstDash val="solid"/>
          </a:ln>
        </p:spPr>
        <p:txBody>
          <a:bodyPr/>
          <a:lstStyle/>
          <a:p>
            <a:endParaRPr lang="en-IN"/>
          </a:p>
        </p:txBody>
      </p:sp>
      <p:sp>
        <p:nvSpPr>
          <p:cNvPr id="21" name="Rectangle 20">
            <a:extLst>
              <a:ext uri="{FF2B5EF4-FFF2-40B4-BE49-F238E27FC236}">
                <a16:creationId xmlns:a16="http://schemas.microsoft.com/office/drawing/2014/main" id="{20D1F62C-9EB4-4C00-89DA-0C8A1F95B41A}"/>
              </a:ext>
            </a:extLst>
          </p:cNvPr>
          <p:cNvSpPr>
            <a:spLocks noGrp="1"/>
          </p:cNvSpPr>
          <p:nvPr/>
        </p:nvSpPr>
        <p:spPr>
          <a:xfrm>
            <a:off x="742950" y="4019550"/>
            <a:ext cx="2190750" cy="219075"/>
          </a:xfrm>
          <a:prstGeom prst="rect">
            <a:avLst/>
          </a:prstGeom>
          <a:noFill/>
          <a:ln w="0">
            <a:noFill/>
            <a:prstDash val="solid"/>
          </a:ln>
        </p:spPr>
        <p:txBody>
          <a:bodyPr wrap="square" lIns="0" tIns="0" rIns="0" bIns="0" anchor="t">
            <a:normAutofit/>
          </a:bodyPr>
          <a:lstStyle/>
          <a:p>
            <a:pPr algn="l">
              <a:lnSpc>
                <a:spcPct val="102000"/>
              </a:lnSpc>
              <a:buNone/>
              <a:defRPr sz="1275" b="1">
                <a:solidFill>
                  <a:srgbClr val="5BE7FF"/>
                </a:solidFill>
                <a:latin typeface="Aptos"/>
                <a:ea typeface="Aptos"/>
                <a:cs typeface="Aptos"/>
              </a:defRPr>
            </a:pPr>
            <a:r>
              <a:rPr sz="1275" b="1">
                <a:solidFill>
                  <a:srgbClr val="5BE7FF"/>
                </a:solidFill>
                <a:latin typeface="Aptos"/>
                <a:ea typeface="Aptos"/>
                <a:cs typeface="Aptos"/>
              </a:rPr>
              <a:t>amount + token</a:t>
            </a:r>
          </a:p>
        </p:txBody>
      </p:sp>
      <p:sp>
        <p:nvSpPr>
          <p:cNvPr id="22" name="Rectangle 21">
            <a:extLst>
              <a:ext uri="{FF2B5EF4-FFF2-40B4-BE49-F238E27FC236}">
                <a16:creationId xmlns:a16="http://schemas.microsoft.com/office/drawing/2014/main" id="{BD424557-142C-4AAA-AD36-EF1D2071B023}"/>
              </a:ext>
            </a:extLst>
          </p:cNvPr>
          <p:cNvSpPr>
            <a:spLocks noGrp="1"/>
          </p:cNvSpPr>
          <p:nvPr/>
        </p:nvSpPr>
        <p:spPr>
          <a:xfrm>
            <a:off x="3067050" y="4019550"/>
            <a:ext cx="3857625" cy="219075"/>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F4F7FB"/>
                </a:solidFill>
                <a:latin typeface="Aptos"/>
                <a:ea typeface="Aptos"/>
                <a:cs typeface="Aptos"/>
              </a:defRPr>
            </a:pPr>
            <a:r>
              <a:rPr sz="1275" b="0">
                <a:solidFill>
                  <a:srgbClr val="F4F7FB"/>
                </a:solidFill>
                <a:latin typeface="Aptos"/>
                <a:ea typeface="Aptos"/>
                <a:cs typeface="Aptos"/>
              </a:rPr>
              <a:t>0.xxxxxx USDC</a:t>
            </a:r>
          </a:p>
        </p:txBody>
      </p:sp>
      <p:sp>
        <p:nvSpPr>
          <p:cNvPr id="23" name="Straight Connector 22">
            <a:extLst>
              <a:ext uri="{FF2B5EF4-FFF2-40B4-BE49-F238E27FC236}">
                <a16:creationId xmlns:a16="http://schemas.microsoft.com/office/drawing/2014/main" id="{240861A3-82A0-480C-BDBB-D7B82E95BD65}"/>
              </a:ext>
            </a:extLst>
          </p:cNvPr>
          <p:cNvSpPr>
            <a:spLocks noGrp="1"/>
          </p:cNvSpPr>
          <p:nvPr/>
        </p:nvSpPr>
        <p:spPr>
          <a:xfrm>
            <a:off x="742950" y="4314825"/>
            <a:ext cx="6172200" cy="0"/>
          </a:xfrm>
          <a:prstGeom prst="line">
            <a:avLst/>
          </a:prstGeom>
          <a:noFill/>
          <a:ln w="9525">
            <a:solidFill>
              <a:srgbClr val="2A3548"/>
            </a:solidFill>
            <a:prstDash val="solid"/>
          </a:ln>
        </p:spPr>
        <p:txBody>
          <a:bodyPr/>
          <a:lstStyle/>
          <a:p>
            <a:endParaRPr lang="en-IN"/>
          </a:p>
        </p:txBody>
      </p:sp>
      <p:sp>
        <p:nvSpPr>
          <p:cNvPr id="24" name="Rectangle 23">
            <a:extLst>
              <a:ext uri="{FF2B5EF4-FFF2-40B4-BE49-F238E27FC236}">
                <a16:creationId xmlns:a16="http://schemas.microsoft.com/office/drawing/2014/main" id="{180877ED-22C1-4FE4-8D73-3FC3AA841436}"/>
              </a:ext>
            </a:extLst>
          </p:cNvPr>
          <p:cNvSpPr>
            <a:spLocks noGrp="1"/>
          </p:cNvSpPr>
          <p:nvPr/>
        </p:nvSpPr>
        <p:spPr>
          <a:xfrm>
            <a:off x="742950" y="4429125"/>
            <a:ext cx="2190750" cy="219075"/>
          </a:xfrm>
          <a:prstGeom prst="rect">
            <a:avLst/>
          </a:prstGeom>
          <a:noFill/>
          <a:ln w="0">
            <a:noFill/>
            <a:prstDash val="solid"/>
          </a:ln>
        </p:spPr>
        <p:txBody>
          <a:bodyPr wrap="square" lIns="0" tIns="0" rIns="0" bIns="0" anchor="t">
            <a:normAutofit/>
          </a:bodyPr>
          <a:lstStyle/>
          <a:p>
            <a:pPr algn="l">
              <a:lnSpc>
                <a:spcPct val="102000"/>
              </a:lnSpc>
              <a:buNone/>
              <a:defRPr sz="1275" b="1">
                <a:solidFill>
                  <a:srgbClr val="5BE7FF"/>
                </a:solidFill>
                <a:latin typeface="Aptos"/>
                <a:ea typeface="Aptos"/>
                <a:cs typeface="Aptos"/>
              </a:defRPr>
            </a:pPr>
            <a:r>
              <a:rPr sz="1275" b="1">
                <a:solidFill>
                  <a:srgbClr val="5BE7FF"/>
                </a:solidFill>
                <a:latin typeface="Aptos"/>
                <a:ea typeface="Aptos"/>
                <a:cs typeface="Aptos"/>
              </a:rPr>
              <a:t>merchant + service</a:t>
            </a:r>
          </a:p>
        </p:txBody>
      </p:sp>
      <p:sp>
        <p:nvSpPr>
          <p:cNvPr id="25" name="Rectangle 24">
            <a:extLst>
              <a:ext uri="{FF2B5EF4-FFF2-40B4-BE49-F238E27FC236}">
                <a16:creationId xmlns:a16="http://schemas.microsoft.com/office/drawing/2014/main" id="{7F7002C7-9CDB-4396-AC69-B8C8F49AE96C}"/>
              </a:ext>
            </a:extLst>
          </p:cNvPr>
          <p:cNvSpPr>
            <a:spLocks noGrp="1"/>
          </p:cNvSpPr>
          <p:nvPr/>
        </p:nvSpPr>
        <p:spPr>
          <a:xfrm>
            <a:off x="3067050" y="4429125"/>
            <a:ext cx="3857625" cy="219075"/>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F4F7FB"/>
                </a:solidFill>
                <a:latin typeface="Aptos"/>
                <a:ea typeface="Aptos"/>
                <a:cs typeface="Aptos"/>
              </a:defRPr>
            </a:pPr>
            <a:r>
              <a:rPr sz="1275" b="0">
                <a:solidFill>
                  <a:srgbClr val="F4F7FB"/>
                </a:solidFill>
                <a:latin typeface="Aptos"/>
                <a:ea typeface="Aptos"/>
                <a:cs typeface="Aptos"/>
              </a:rPr>
              <a:t>registered receiver + product</a:t>
            </a:r>
          </a:p>
        </p:txBody>
      </p:sp>
      <p:sp>
        <p:nvSpPr>
          <p:cNvPr id="26" name="Straight Connector 25">
            <a:extLst>
              <a:ext uri="{FF2B5EF4-FFF2-40B4-BE49-F238E27FC236}">
                <a16:creationId xmlns:a16="http://schemas.microsoft.com/office/drawing/2014/main" id="{E8EEF5DF-AC4E-4A38-8685-913BF9C176AB}"/>
              </a:ext>
            </a:extLst>
          </p:cNvPr>
          <p:cNvSpPr>
            <a:spLocks noGrp="1"/>
          </p:cNvSpPr>
          <p:nvPr/>
        </p:nvSpPr>
        <p:spPr>
          <a:xfrm>
            <a:off x="742950" y="4724400"/>
            <a:ext cx="6172200" cy="0"/>
          </a:xfrm>
          <a:prstGeom prst="line">
            <a:avLst/>
          </a:prstGeom>
          <a:noFill/>
          <a:ln w="9525">
            <a:solidFill>
              <a:srgbClr val="2A3548"/>
            </a:solidFill>
            <a:prstDash val="solid"/>
          </a:ln>
        </p:spPr>
        <p:txBody>
          <a:bodyPr/>
          <a:lstStyle/>
          <a:p>
            <a:endParaRPr lang="en-IN"/>
          </a:p>
        </p:txBody>
      </p:sp>
      <p:sp>
        <p:nvSpPr>
          <p:cNvPr id="27" name="Rectangle 26">
            <a:extLst>
              <a:ext uri="{FF2B5EF4-FFF2-40B4-BE49-F238E27FC236}">
                <a16:creationId xmlns:a16="http://schemas.microsoft.com/office/drawing/2014/main" id="{3F022B8D-960B-49B1-B6EA-0734A4C016C4}"/>
              </a:ext>
            </a:extLst>
          </p:cNvPr>
          <p:cNvSpPr>
            <a:spLocks noGrp="1"/>
          </p:cNvSpPr>
          <p:nvPr/>
        </p:nvSpPr>
        <p:spPr>
          <a:xfrm>
            <a:off x="742950" y="4838700"/>
            <a:ext cx="2190750" cy="219075"/>
          </a:xfrm>
          <a:prstGeom prst="rect">
            <a:avLst/>
          </a:prstGeom>
          <a:noFill/>
          <a:ln w="0">
            <a:noFill/>
            <a:prstDash val="solid"/>
          </a:ln>
        </p:spPr>
        <p:txBody>
          <a:bodyPr wrap="square" lIns="0" tIns="0" rIns="0" bIns="0" anchor="t">
            <a:normAutofit/>
          </a:bodyPr>
          <a:lstStyle/>
          <a:p>
            <a:pPr algn="l">
              <a:lnSpc>
                <a:spcPct val="102000"/>
              </a:lnSpc>
              <a:buNone/>
              <a:defRPr sz="1275" b="1">
                <a:solidFill>
                  <a:srgbClr val="5BE7FF"/>
                </a:solidFill>
                <a:latin typeface="Aptos"/>
                <a:ea typeface="Aptos"/>
                <a:cs typeface="Aptos"/>
              </a:defRPr>
            </a:pPr>
            <a:r>
              <a:rPr sz="1275" b="1">
                <a:solidFill>
                  <a:srgbClr val="5BE7FF"/>
                </a:solidFill>
                <a:latin typeface="Aptos"/>
                <a:ea typeface="Aptos"/>
                <a:cs typeface="Aptos"/>
              </a:rPr>
              <a:t>session + policy digest</a:t>
            </a:r>
          </a:p>
        </p:txBody>
      </p:sp>
      <p:sp>
        <p:nvSpPr>
          <p:cNvPr id="28" name="Rectangle 27">
            <a:extLst>
              <a:ext uri="{FF2B5EF4-FFF2-40B4-BE49-F238E27FC236}">
                <a16:creationId xmlns:a16="http://schemas.microsoft.com/office/drawing/2014/main" id="{92B5EE84-5D7F-478D-A5F8-DF93AC7980D0}"/>
              </a:ext>
            </a:extLst>
          </p:cNvPr>
          <p:cNvSpPr>
            <a:spLocks noGrp="1"/>
          </p:cNvSpPr>
          <p:nvPr/>
        </p:nvSpPr>
        <p:spPr>
          <a:xfrm>
            <a:off x="3067050" y="4838700"/>
            <a:ext cx="3857625" cy="219075"/>
          </a:xfrm>
          <a:prstGeom prst="rect">
            <a:avLst/>
          </a:prstGeom>
          <a:noFill/>
          <a:ln w="0">
            <a:noFill/>
            <a:prstDash val="solid"/>
          </a:ln>
        </p:spPr>
        <p:txBody>
          <a:bodyPr wrap="square" lIns="0" tIns="0" rIns="0" bIns="0" anchor="t">
            <a:normAutofit/>
          </a:bodyPr>
          <a:lstStyle/>
          <a:p>
            <a:pPr algn="l">
              <a:lnSpc>
                <a:spcPct val="102000"/>
              </a:lnSpc>
              <a:buNone/>
              <a:defRPr sz="1275" b="0">
                <a:solidFill>
                  <a:srgbClr val="F4F7FB"/>
                </a:solidFill>
                <a:latin typeface="Aptos"/>
                <a:ea typeface="Aptos"/>
                <a:cs typeface="Aptos"/>
              </a:defRPr>
            </a:pPr>
            <a:r>
              <a:rPr sz="1275" b="0">
                <a:solidFill>
                  <a:srgbClr val="F4F7FB"/>
                </a:solidFill>
                <a:latin typeface="Aptos"/>
                <a:ea typeface="Aptos"/>
                <a:cs typeface="Aptos"/>
              </a:rPr>
              <a:t>ties consent, work, and settlement</a:t>
            </a:r>
          </a:p>
        </p:txBody>
      </p:sp>
      <p:sp>
        <p:nvSpPr>
          <p:cNvPr id="29" name="Straight Connector 28">
            <a:extLst>
              <a:ext uri="{FF2B5EF4-FFF2-40B4-BE49-F238E27FC236}">
                <a16:creationId xmlns:a16="http://schemas.microsoft.com/office/drawing/2014/main" id="{633DB495-2146-46D9-A58F-AE96D31B88CF}"/>
              </a:ext>
            </a:extLst>
          </p:cNvPr>
          <p:cNvSpPr>
            <a:spLocks noGrp="1"/>
          </p:cNvSpPr>
          <p:nvPr/>
        </p:nvSpPr>
        <p:spPr>
          <a:xfrm>
            <a:off x="742950" y="5133975"/>
            <a:ext cx="6172200" cy="0"/>
          </a:xfrm>
          <a:prstGeom prst="line">
            <a:avLst/>
          </a:prstGeom>
          <a:noFill/>
          <a:ln w="9525">
            <a:solidFill>
              <a:srgbClr val="2A3548"/>
            </a:solidFill>
            <a:prstDash val="solid"/>
          </a:ln>
        </p:spPr>
        <p:txBody>
          <a:bodyPr/>
          <a:lstStyle/>
          <a:p>
            <a:endParaRPr lang="en-IN"/>
          </a:p>
        </p:txBody>
      </p:sp>
      <p:sp>
        <p:nvSpPr>
          <p:cNvPr id="30" name="Rectangle 29">
            <a:extLst>
              <a:ext uri="{FF2B5EF4-FFF2-40B4-BE49-F238E27FC236}">
                <a16:creationId xmlns:a16="http://schemas.microsoft.com/office/drawing/2014/main" id="{5E96CAA9-50ED-4B7E-AEC1-2FCA572F40EA}"/>
              </a:ext>
            </a:extLst>
          </p:cNvPr>
          <p:cNvSpPr>
            <a:spLocks noGrp="1"/>
          </p:cNvSpPr>
          <p:nvPr/>
        </p:nvSpPr>
        <p:spPr>
          <a:xfrm>
            <a:off x="7715250" y="1733550"/>
            <a:ext cx="3524250" cy="3943350"/>
          </a:xfrm>
          <a:prstGeom prst="rect">
            <a:avLst/>
          </a:prstGeom>
          <a:solidFill>
            <a:srgbClr val="111827"/>
          </a:solidFill>
          <a:ln w="9525">
            <a:solidFill>
              <a:srgbClr val="2A3548"/>
            </a:solidFill>
            <a:prstDash val="solid"/>
          </a:ln>
        </p:spPr>
        <p:txBody>
          <a:bodyPr/>
          <a:lstStyle/>
          <a:p>
            <a:endParaRPr lang="en-IN"/>
          </a:p>
        </p:txBody>
      </p:sp>
      <p:sp>
        <p:nvSpPr>
          <p:cNvPr id="31" name="Rectangle 30">
            <a:extLst>
              <a:ext uri="{FF2B5EF4-FFF2-40B4-BE49-F238E27FC236}">
                <a16:creationId xmlns:a16="http://schemas.microsoft.com/office/drawing/2014/main" id="{F2FCD1B3-C637-403E-B7FA-5572BE5FE0F1}"/>
              </a:ext>
            </a:extLst>
          </p:cNvPr>
          <p:cNvSpPr>
            <a:spLocks noGrp="1"/>
          </p:cNvSpPr>
          <p:nvPr/>
        </p:nvSpPr>
        <p:spPr>
          <a:xfrm>
            <a:off x="8001000" y="2000250"/>
            <a:ext cx="2095500" cy="20955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FF6673"/>
                </a:solidFill>
                <a:latin typeface="Aptos"/>
                <a:ea typeface="Aptos"/>
                <a:cs typeface="Aptos"/>
              </a:defRPr>
            </a:pPr>
            <a:r>
              <a:rPr sz="1050" b="1">
                <a:solidFill>
                  <a:srgbClr val="FF6673"/>
                </a:solidFill>
                <a:latin typeface="Aptos"/>
                <a:ea typeface="Aptos"/>
                <a:cs typeface="Aptos"/>
              </a:rPr>
              <a:t>STATUS TODAY</a:t>
            </a:r>
          </a:p>
        </p:txBody>
      </p:sp>
      <p:sp>
        <p:nvSpPr>
          <p:cNvPr id="32" name="Rectangle 31">
            <a:extLst>
              <a:ext uri="{FF2B5EF4-FFF2-40B4-BE49-F238E27FC236}">
                <a16:creationId xmlns:a16="http://schemas.microsoft.com/office/drawing/2014/main" id="{D333F807-E018-4FE7-8739-AF3A319FDB74}"/>
              </a:ext>
            </a:extLst>
          </p:cNvPr>
          <p:cNvSpPr>
            <a:spLocks noGrp="1"/>
          </p:cNvSpPr>
          <p:nvPr/>
        </p:nvSpPr>
        <p:spPr>
          <a:xfrm>
            <a:off x="8001000" y="2457450"/>
            <a:ext cx="2857500" cy="619125"/>
          </a:xfrm>
          <a:prstGeom prst="rect">
            <a:avLst/>
          </a:prstGeom>
          <a:noFill/>
          <a:ln w="0">
            <a:noFill/>
            <a:prstDash val="solid"/>
          </a:ln>
        </p:spPr>
        <p:txBody>
          <a:bodyPr wrap="square" lIns="0" tIns="0" rIns="0" bIns="0" anchor="t">
            <a:normAutofit/>
          </a:bodyPr>
          <a:lstStyle/>
          <a:p>
            <a:pPr algn="l">
              <a:lnSpc>
                <a:spcPct val="95000"/>
              </a:lnSpc>
              <a:buNone/>
              <a:defRPr sz="2400" b="1">
                <a:solidFill>
                  <a:srgbClr val="F4F7FB"/>
                </a:solidFill>
                <a:latin typeface="Aptos"/>
                <a:ea typeface="Aptos"/>
                <a:cs typeface="Aptos"/>
              </a:defRPr>
            </a:pPr>
            <a:r>
              <a:rPr sz="2400" b="1">
                <a:solidFill>
                  <a:srgbClr val="F4F7FB"/>
                </a:solidFill>
                <a:latin typeface="Aptos"/>
                <a:ea typeface="Aptos"/>
                <a:cs typeface="Aptos"/>
              </a:rPr>
              <a:t>No real Circle proof</a:t>
            </a:r>
          </a:p>
        </p:txBody>
      </p:sp>
      <p:sp>
        <p:nvSpPr>
          <p:cNvPr id="33" name="Rectangle 32">
            <a:extLst>
              <a:ext uri="{FF2B5EF4-FFF2-40B4-BE49-F238E27FC236}">
                <a16:creationId xmlns:a16="http://schemas.microsoft.com/office/drawing/2014/main" id="{3F632FE1-9824-4A6A-94C7-BE4A1600BCAA}"/>
              </a:ext>
            </a:extLst>
          </p:cNvPr>
          <p:cNvSpPr>
            <a:spLocks noGrp="1"/>
          </p:cNvSpPr>
          <p:nvPr/>
        </p:nvSpPr>
        <p:spPr>
          <a:xfrm>
            <a:off x="8001000" y="3371850"/>
            <a:ext cx="2857500" cy="1066800"/>
          </a:xfrm>
          <a:prstGeom prst="rect">
            <a:avLst/>
          </a:prstGeom>
          <a:noFill/>
          <a:ln w="0">
            <a:noFill/>
            <a:prstDash val="solid"/>
          </a:ln>
        </p:spPr>
        <p:txBody>
          <a:bodyPr wrap="square" lIns="0" tIns="0" rIns="0" bIns="0" anchor="t">
            <a:normAutofit fontScale="96319"/>
          </a:bodyPr>
          <a:lstStyle/>
          <a:p>
            <a:pPr algn="l">
              <a:lnSpc>
                <a:spcPct val="102000"/>
              </a:lnSpc>
              <a:buNone/>
              <a:defRPr sz="1425" b="0">
                <a:solidFill>
                  <a:srgbClr val="99A6B8"/>
                </a:solidFill>
                <a:latin typeface="Aptos"/>
                <a:ea typeface="Aptos"/>
                <a:cs typeface="Aptos"/>
              </a:defRPr>
            </a:pPr>
            <a:r>
              <a:rPr sz="1425" b="0">
                <a:solidFill>
                  <a:srgbClr val="99A6B8"/>
                </a:solidFill>
                <a:latin typeface="Aptos"/>
                <a:ea typeface="Aptos"/>
                <a:cs typeface="Aptos"/>
              </a:rPr>
              <a:t>The local demo receipt has signed session evidence and a simulator reference. It does not have a real Circle wallet transaction or block-explorer URL.</a:t>
            </a:r>
          </a:p>
        </p:txBody>
      </p:sp>
      <p:sp>
        <p:nvSpPr>
          <p:cNvPr id="34" name="Rectangle: Rounded Corners 33">
            <a:extLst>
              <a:ext uri="{FF2B5EF4-FFF2-40B4-BE49-F238E27FC236}">
                <a16:creationId xmlns:a16="http://schemas.microsoft.com/office/drawing/2014/main" id="{611EF035-9741-4DB2-B1FC-411846F58232}"/>
              </a:ext>
            </a:extLst>
          </p:cNvPr>
          <p:cNvSpPr>
            <a:spLocks noGrp="1"/>
          </p:cNvSpPr>
          <p:nvPr/>
        </p:nvSpPr>
        <p:spPr>
          <a:xfrm>
            <a:off x="8001000" y="4876800"/>
            <a:ext cx="2000250" cy="285750"/>
          </a:xfrm>
          <a:prstGeom prst="roundRect">
            <a:avLst>
              <a:gd name="adj" fmla="val 50000"/>
            </a:avLst>
          </a:prstGeom>
          <a:solidFill>
            <a:srgbClr val="FF6673"/>
          </a:solidFill>
          <a:ln w="0">
            <a:noFill/>
            <a:prstDash val="solid"/>
          </a:ln>
        </p:spPr>
        <p:txBody>
          <a:bodyPr/>
          <a:lstStyle/>
          <a:p>
            <a:endParaRPr lang="en-IN"/>
          </a:p>
        </p:txBody>
      </p:sp>
      <p:sp>
        <p:nvSpPr>
          <p:cNvPr id="35" name="Rectangle 34">
            <a:extLst>
              <a:ext uri="{FF2B5EF4-FFF2-40B4-BE49-F238E27FC236}">
                <a16:creationId xmlns:a16="http://schemas.microsoft.com/office/drawing/2014/main" id="{7AA1F68E-AB20-4A5C-A7A7-4C96C86DD4DD}"/>
              </a:ext>
            </a:extLst>
          </p:cNvPr>
          <p:cNvSpPr>
            <a:spLocks noGrp="1"/>
          </p:cNvSpPr>
          <p:nvPr/>
        </p:nvSpPr>
        <p:spPr>
          <a:xfrm>
            <a:off x="8096250" y="4924425"/>
            <a:ext cx="1809750" cy="190500"/>
          </a:xfrm>
          <a:prstGeom prst="rect">
            <a:avLst/>
          </a:prstGeom>
          <a:noFill/>
          <a:ln w="0">
            <a:noFill/>
            <a:prstDash val="solid"/>
          </a:ln>
        </p:spPr>
        <p:txBody>
          <a:bodyPr wrap="square" lIns="0" tIns="0" rIns="0" bIns="0" anchor="ctr">
            <a:normAutofit/>
          </a:bodyPr>
          <a:lstStyle/>
          <a:p>
            <a:pPr algn="ctr">
              <a:lnSpc>
                <a:spcPct val="102000"/>
              </a:lnSpc>
              <a:buNone/>
              <a:defRPr sz="1050" b="1">
                <a:solidFill>
                  <a:srgbClr val="070A0F"/>
                </a:solidFill>
                <a:latin typeface="Aptos"/>
                <a:ea typeface="Aptos"/>
                <a:cs typeface="Aptos"/>
              </a:defRPr>
            </a:pPr>
            <a:r>
              <a:rPr sz="1050" b="1">
                <a:solidFill>
                  <a:srgbClr val="070A0F"/>
                </a:solidFill>
                <a:latin typeface="Aptos"/>
                <a:ea typeface="Aptos"/>
                <a:cs typeface="Aptos"/>
              </a:rPr>
              <a:t>DO NOT FABRICATE</a:t>
            </a:r>
          </a:p>
        </p:txBody>
      </p:sp>
      <p:sp>
        <p:nvSpPr>
          <p:cNvPr id="36" name="Rectangle 35">
            <a:extLst>
              <a:ext uri="{FF2B5EF4-FFF2-40B4-BE49-F238E27FC236}">
                <a16:creationId xmlns:a16="http://schemas.microsoft.com/office/drawing/2014/main" id="{027957AA-789D-478B-86C3-B2E72D34DC25}"/>
              </a:ext>
            </a:extLst>
          </p:cNvPr>
          <p:cNvSpPr>
            <a:spLocks noGrp="1"/>
          </p:cNvSpPr>
          <p:nvPr/>
        </p:nvSpPr>
        <p:spPr>
          <a:xfrm>
            <a:off x="457200" y="5905500"/>
            <a:ext cx="10782300" cy="228600"/>
          </a:xfrm>
          <a:prstGeom prst="rect">
            <a:avLst/>
          </a:prstGeom>
          <a:noFill/>
          <a:ln w="0">
            <a:noFill/>
            <a:prstDash val="solid"/>
          </a:ln>
        </p:spPr>
        <p:txBody>
          <a:bodyPr wrap="square" lIns="0" tIns="0" rIns="0" bIns="0" anchor="t">
            <a:normAutofit/>
          </a:bodyPr>
          <a:lstStyle/>
          <a:p>
            <a:pPr algn="ctr">
              <a:lnSpc>
                <a:spcPct val="102000"/>
              </a:lnSpc>
              <a:buNone/>
              <a:defRPr sz="1350" b="1">
                <a:solidFill>
                  <a:srgbClr val="38E09F"/>
                </a:solidFill>
                <a:latin typeface="Aptos"/>
                <a:ea typeface="Aptos"/>
                <a:cs typeface="Aptos"/>
              </a:defRPr>
            </a:pPr>
            <a:endParaRPr sz="1350" b="1" dirty="0">
              <a:solidFill>
                <a:srgbClr val="38E09F"/>
              </a:solidFill>
              <a:latin typeface="Aptos"/>
              <a:ea typeface="Aptos"/>
              <a:cs typeface="Aptos"/>
            </a:endParaRPr>
          </a:p>
        </p:txBody>
      </p:sp>
    </p:spTree>
    <p:extLst>
      <p:ext uri="{BB962C8B-B14F-4D97-AF65-F5344CB8AC3E}">
        <p14:creationId xmlns:p14="http://schemas.microsoft.com/office/powerpoint/2010/main" val="1907386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0A0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5E0C15A3-9CE7-483C-A1A9-8F60EC733399}"/>
              </a:ext>
            </a:extLst>
          </p:cNvPr>
          <p:cNvSpPr>
            <a:spLocks noGrp="1"/>
          </p:cNvSpPr>
          <p:nvPr/>
        </p:nvSpPr>
        <p:spPr>
          <a:xfrm>
            <a:off x="457200" y="209550"/>
            <a:ext cx="4953000" cy="19050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38E09F"/>
                </a:solidFill>
                <a:latin typeface="Aptos"/>
                <a:ea typeface="Aptos"/>
                <a:cs typeface="Aptos"/>
              </a:defRPr>
            </a:pPr>
            <a:r>
              <a:rPr sz="1050" b="1">
                <a:solidFill>
                  <a:srgbClr val="38E09F"/>
                </a:solidFill>
                <a:latin typeface="Aptos"/>
                <a:ea typeface="Aptos"/>
                <a:cs typeface="Aptos"/>
              </a:rPr>
              <a:t>DELIVERY PLAN</a:t>
            </a:r>
          </a:p>
        </p:txBody>
      </p:sp>
      <p:sp>
        <p:nvSpPr>
          <p:cNvPr id="2" name="Rectangle 1">
            <a:extLst>
              <a:ext uri="{FF2B5EF4-FFF2-40B4-BE49-F238E27FC236}">
                <a16:creationId xmlns:a16="http://schemas.microsoft.com/office/drawing/2014/main" id="{D2971B5C-7DF4-4126-B595-720F7E336972}"/>
              </a:ext>
            </a:extLst>
          </p:cNvPr>
          <p:cNvSpPr>
            <a:spLocks noGrp="1"/>
          </p:cNvSpPr>
          <p:nvPr/>
        </p:nvSpPr>
        <p:spPr>
          <a:xfrm>
            <a:off x="457200" y="514350"/>
            <a:ext cx="11239500" cy="762000"/>
          </a:xfrm>
          <a:prstGeom prst="rect">
            <a:avLst/>
          </a:prstGeom>
          <a:noFill/>
          <a:ln w="0">
            <a:noFill/>
            <a:prstDash val="solid"/>
          </a:ln>
        </p:spPr>
        <p:txBody>
          <a:bodyPr wrap="square" lIns="0" tIns="0" rIns="0" bIns="0" anchor="t">
            <a:noAutofit/>
          </a:bodyPr>
          <a:lstStyle/>
          <a:p>
            <a:pPr algn="l">
              <a:lnSpc>
                <a:spcPct val="94000"/>
              </a:lnSpc>
              <a:buNone/>
              <a:defRPr sz="3300" b="1">
                <a:solidFill>
                  <a:srgbClr val="F4F7FB"/>
                </a:solidFill>
                <a:latin typeface="Aptos"/>
                <a:ea typeface="Aptos"/>
                <a:cs typeface="Aptos"/>
              </a:defRPr>
            </a:pPr>
            <a:r>
              <a:rPr sz="3300" b="1">
                <a:solidFill>
                  <a:srgbClr val="F4F7FB"/>
                </a:solidFill>
                <a:latin typeface="Aptos"/>
                <a:ea typeface="Aptos"/>
                <a:cs typeface="Aptos"/>
              </a:rPr>
              <a:t>Production rollout follows the money path.</a:t>
            </a:r>
          </a:p>
        </p:txBody>
      </p:sp>
      <p:sp>
        <p:nvSpPr>
          <p:cNvPr id="3" name="Straight Connector 2">
            <a:extLst>
              <a:ext uri="{FF2B5EF4-FFF2-40B4-BE49-F238E27FC236}">
                <a16:creationId xmlns:a16="http://schemas.microsoft.com/office/drawing/2014/main" id="{3504D729-4D85-4381-B383-815329B8E0EC}"/>
              </a:ext>
            </a:extLst>
          </p:cNvPr>
          <p:cNvSpPr>
            <a:spLocks noGrp="1"/>
          </p:cNvSpPr>
          <p:nvPr/>
        </p:nvSpPr>
        <p:spPr>
          <a:xfrm>
            <a:off x="457200" y="1371600"/>
            <a:ext cx="11277600" cy="0"/>
          </a:xfrm>
          <a:prstGeom prst="line">
            <a:avLst/>
          </a:prstGeom>
          <a:noFill/>
          <a:ln w="9525">
            <a:solidFill>
              <a:srgbClr val="2A3548"/>
            </a:solidFill>
            <a:prstDash val="solid"/>
          </a:ln>
        </p:spPr>
        <p:txBody>
          <a:bodyPr/>
          <a:lstStyle/>
          <a:p>
            <a:endParaRPr lang="en-IN"/>
          </a:p>
        </p:txBody>
      </p:sp>
      <p:sp>
        <p:nvSpPr>
          <p:cNvPr id="4" name="Rectangle 3">
            <a:extLst>
              <a:ext uri="{FF2B5EF4-FFF2-40B4-BE49-F238E27FC236}">
                <a16:creationId xmlns:a16="http://schemas.microsoft.com/office/drawing/2014/main" id="{FD604CD1-A980-4317-BD65-ED7F0B771405}"/>
              </a:ext>
            </a:extLst>
          </p:cNvPr>
          <p:cNvSpPr>
            <a:spLocks noGrp="1"/>
          </p:cNvSpPr>
          <p:nvPr/>
        </p:nvSpPr>
        <p:spPr>
          <a:xfrm>
            <a:off x="457200" y="6457950"/>
            <a:ext cx="152400" cy="38100"/>
          </a:xfrm>
          <a:prstGeom prst="rect">
            <a:avLst/>
          </a:prstGeom>
          <a:solidFill>
            <a:srgbClr val="38E09F"/>
          </a:solidFill>
          <a:ln w="0">
            <a:noFill/>
            <a:prstDash val="solid"/>
          </a:ln>
        </p:spPr>
        <p:txBody>
          <a:bodyPr/>
          <a:lstStyle/>
          <a:p>
            <a:endParaRPr lang="en-IN"/>
          </a:p>
        </p:txBody>
      </p:sp>
      <p:sp>
        <p:nvSpPr>
          <p:cNvPr id="5" name="Rectangle 4">
            <a:extLst>
              <a:ext uri="{FF2B5EF4-FFF2-40B4-BE49-F238E27FC236}">
                <a16:creationId xmlns:a16="http://schemas.microsoft.com/office/drawing/2014/main" id="{69D50934-9DE5-4F4C-B9AC-816A05C6F81D}"/>
              </a:ext>
            </a:extLst>
          </p:cNvPr>
          <p:cNvSpPr>
            <a:spLocks noGrp="1"/>
          </p:cNvSpPr>
          <p:nvPr/>
        </p:nvSpPr>
        <p:spPr>
          <a:xfrm>
            <a:off x="704850" y="6381750"/>
            <a:ext cx="1714500" cy="190500"/>
          </a:xfrm>
          <a:prstGeom prst="rect">
            <a:avLst/>
          </a:prstGeom>
          <a:noFill/>
          <a:ln w="0">
            <a:noFill/>
            <a:prstDash val="solid"/>
          </a:ln>
        </p:spPr>
        <p:txBody>
          <a:bodyPr wrap="square" lIns="0" tIns="0" rIns="0" bIns="0" anchor="t">
            <a:normAutofit/>
          </a:bodyPr>
          <a:lstStyle/>
          <a:p>
            <a:pPr algn="l">
              <a:lnSpc>
                <a:spcPct val="102000"/>
              </a:lnSpc>
              <a:buNone/>
              <a:defRPr sz="900" b="1">
                <a:solidFill>
                  <a:srgbClr val="99A6B8"/>
                </a:solidFill>
                <a:latin typeface="Aptos"/>
                <a:ea typeface="Aptos"/>
                <a:cs typeface="Aptos"/>
              </a:defRPr>
            </a:pPr>
            <a:r>
              <a:rPr sz="900" b="1">
                <a:solidFill>
                  <a:srgbClr val="99A6B8"/>
                </a:solidFill>
                <a:latin typeface="Aptos"/>
                <a:ea typeface="Aptos"/>
                <a:cs typeface="Aptos"/>
              </a:rPr>
              <a:t>PAYPILOT</a:t>
            </a:r>
          </a:p>
        </p:txBody>
      </p:sp>
      <p:sp>
        <p:nvSpPr>
          <p:cNvPr id="6" name="Rectangle 5">
            <a:extLst>
              <a:ext uri="{FF2B5EF4-FFF2-40B4-BE49-F238E27FC236}">
                <a16:creationId xmlns:a16="http://schemas.microsoft.com/office/drawing/2014/main" id="{4337BF6F-4002-4FDF-8683-FD88B3E30FDA}"/>
              </a:ext>
            </a:extLst>
          </p:cNvPr>
          <p:cNvSpPr>
            <a:spLocks noGrp="1"/>
          </p:cNvSpPr>
          <p:nvPr/>
        </p:nvSpPr>
        <p:spPr>
          <a:xfrm>
            <a:off x="11182350" y="6381750"/>
            <a:ext cx="552450" cy="190500"/>
          </a:xfrm>
          <a:prstGeom prst="rect">
            <a:avLst/>
          </a:prstGeom>
          <a:noFill/>
          <a:ln w="0">
            <a:noFill/>
            <a:prstDash val="solid"/>
          </a:ln>
        </p:spPr>
        <p:txBody>
          <a:bodyPr wrap="square" lIns="0" tIns="0" rIns="0" bIns="0" anchor="t">
            <a:normAutofit/>
          </a:bodyPr>
          <a:lstStyle/>
          <a:p>
            <a:pPr algn="r">
              <a:lnSpc>
                <a:spcPct val="102000"/>
              </a:lnSpc>
              <a:buNone/>
              <a:defRPr sz="975" b="0">
                <a:solidFill>
                  <a:srgbClr val="99A6B8"/>
                </a:solidFill>
                <a:latin typeface="Aptos"/>
                <a:ea typeface="Aptos"/>
                <a:cs typeface="Aptos"/>
              </a:defRPr>
            </a:pPr>
            <a:r>
              <a:rPr sz="975" b="0">
                <a:solidFill>
                  <a:srgbClr val="99A6B8"/>
                </a:solidFill>
                <a:latin typeface="Aptos"/>
                <a:ea typeface="Aptos"/>
                <a:cs typeface="Aptos"/>
              </a:rPr>
              <a:t>12</a:t>
            </a:r>
          </a:p>
        </p:txBody>
      </p:sp>
      <p:sp>
        <p:nvSpPr>
          <p:cNvPr id="7" name="Straight Connector 6">
            <a:extLst>
              <a:ext uri="{FF2B5EF4-FFF2-40B4-BE49-F238E27FC236}">
                <a16:creationId xmlns:a16="http://schemas.microsoft.com/office/drawing/2014/main" id="{0D265D0E-E084-4FA2-BAAA-3006FCAC7D22}"/>
              </a:ext>
            </a:extLst>
          </p:cNvPr>
          <p:cNvSpPr>
            <a:spLocks noGrp="1"/>
          </p:cNvSpPr>
          <p:nvPr/>
        </p:nvSpPr>
        <p:spPr>
          <a:xfrm>
            <a:off x="685800" y="2952750"/>
            <a:ext cx="10287000" cy="0"/>
          </a:xfrm>
          <a:prstGeom prst="line">
            <a:avLst/>
          </a:prstGeom>
          <a:noFill/>
          <a:ln w="19050">
            <a:solidFill>
              <a:srgbClr val="2A3548"/>
            </a:solidFill>
            <a:prstDash val="solid"/>
          </a:ln>
        </p:spPr>
        <p:txBody>
          <a:bodyPr/>
          <a:lstStyle/>
          <a:p>
            <a:endParaRPr lang="en-IN"/>
          </a:p>
        </p:txBody>
      </p:sp>
      <p:sp>
        <p:nvSpPr>
          <p:cNvPr id="8" name="Oval 7">
            <a:extLst>
              <a:ext uri="{FF2B5EF4-FFF2-40B4-BE49-F238E27FC236}">
                <a16:creationId xmlns:a16="http://schemas.microsoft.com/office/drawing/2014/main" id="{471DE9EA-EE9C-4504-9E1E-B0CD9859B6C9}"/>
              </a:ext>
            </a:extLst>
          </p:cNvPr>
          <p:cNvSpPr>
            <a:spLocks noGrp="1"/>
          </p:cNvSpPr>
          <p:nvPr/>
        </p:nvSpPr>
        <p:spPr>
          <a:xfrm>
            <a:off x="457200" y="2876550"/>
            <a:ext cx="171450" cy="171450"/>
          </a:xfrm>
          <a:prstGeom prst="ellipse">
            <a:avLst/>
          </a:prstGeom>
          <a:solidFill>
            <a:srgbClr val="38E09F"/>
          </a:solidFill>
          <a:ln w="0">
            <a:noFill/>
            <a:prstDash val="solid"/>
          </a:ln>
        </p:spPr>
        <p:txBody>
          <a:bodyPr/>
          <a:lstStyle/>
          <a:p>
            <a:endParaRPr lang="en-IN"/>
          </a:p>
        </p:txBody>
      </p:sp>
      <p:sp>
        <p:nvSpPr>
          <p:cNvPr id="9" name="Rectangle 8">
            <a:extLst>
              <a:ext uri="{FF2B5EF4-FFF2-40B4-BE49-F238E27FC236}">
                <a16:creationId xmlns:a16="http://schemas.microsoft.com/office/drawing/2014/main" id="{4B1E1732-7CDF-439C-B713-3CD2CD94507E}"/>
              </a:ext>
            </a:extLst>
          </p:cNvPr>
          <p:cNvSpPr>
            <a:spLocks noGrp="1"/>
          </p:cNvSpPr>
          <p:nvPr/>
        </p:nvSpPr>
        <p:spPr>
          <a:xfrm>
            <a:off x="457200" y="2343150"/>
            <a:ext cx="1428750" cy="20955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38E09F"/>
                </a:solidFill>
                <a:latin typeface="Aptos"/>
                <a:ea typeface="Aptos"/>
                <a:cs typeface="Aptos"/>
              </a:defRPr>
            </a:pPr>
            <a:r>
              <a:rPr sz="1050" b="1">
                <a:solidFill>
                  <a:srgbClr val="38E09F"/>
                </a:solidFill>
                <a:latin typeface="Aptos"/>
                <a:ea typeface="Aptos"/>
                <a:cs typeface="Aptos"/>
              </a:rPr>
              <a:t>PHASE 1</a:t>
            </a:r>
          </a:p>
        </p:txBody>
      </p:sp>
      <p:sp>
        <p:nvSpPr>
          <p:cNvPr id="10" name="Rectangle 9">
            <a:extLst>
              <a:ext uri="{FF2B5EF4-FFF2-40B4-BE49-F238E27FC236}">
                <a16:creationId xmlns:a16="http://schemas.microsoft.com/office/drawing/2014/main" id="{23068375-A82E-4C77-85AB-1BF9C26CB96E}"/>
              </a:ext>
            </a:extLst>
          </p:cNvPr>
          <p:cNvSpPr>
            <a:spLocks noGrp="1"/>
          </p:cNvSpPr>
          <p:nvPr/>
        </p:nvSpPr>
        <p:spPr>
          <a:xfrm>
            <a:off x="457200" y="3381375"/>
            <a:ext cx="2381250" cy="342900"/>
          </a:xfrm>
          <a:prstGeom prst="rect">
            <a:avLst/>
          </a:prstGeom>
          <a:noFill/>
          <a:ln w="0">
            <a:noFill/>
            <a:prstDash val="solid"/>
          </a:ln>
        </p:spPr>
        <p:txBody>
          <a:bodyPr wrap="square" lIns="0" tIns="0" rIns="0" bIns="0" anchor="t">
            <a:normAutofit/>
          </a:bodyPr>
          <a:lstStyle/>
          <a:p>
            <a:pPr algn="l">
              <a:lnSpc>
                <a:spcPct val="102000"/>
              </a:lnSpc>
              <a:buNone/>
              <a:defRPr sz="2025" b="1">
                <a:solidFill>
                  <a:srgbClr val="F4F7FB"/>
                </a:solidFill>
                <a:latin typeface="Aptos"/>
                <a:ea typeface="Aptos"/>
                <a:cs typeface="Aptos"/>
              </a:defRPr>
            </a:pPr>
            <a:r>
              <a:rPr sz="2025" b="1">
                <a:solidFill>
                  <a:srgbClr val="F4F7FB"/>
                </a:solidFill>
                <a:latin typeface="Aptos"/>
                <a:ea typeface="Aptos"/>
                <a:cs typeface="Aptos"/>
              </a:rPr>
              <a:t>Circle first</a:t>
            </a:r>
          </a:p>
        </p:txBody>
      </p:sp>
      <p:sp>
        <p:nvSpPr>
          <p:cNvPr id="11" name="Rectangle 10">
            <a:extLst>
              <a:ext uri="{FF2B5EF4-FFF2-40B4-BE49-F238E27FC236}">
                <a16:creationId xmlns:a16="http://schemas.microsoft.com/office/drawing/2014/main" id="{DBC89021-7532-4400-98F1-0BB70C0F85CE}"/>
              </a:ext>
            </a:extLst>
          </p:cNvPr>
          <p:cNvSpPr>
            <a:spLocks noGrp="1"/>
          </p:cNvSpPr>
          <p:nvPr/>
        </p:nvSpPr>
        <p:spPr>
          <a:xfrm>
            <a:off x="457200" y="3933825"/>
            <a:ext cx="2381250" cy="857250"/>
          </a:xfrm>
          <a:prstGeom prst="rect">
            <a:avLst/>
          </a:prstGeom>
          <a:noFill/>
          <a:ln w="0">
            <a:noFill/>
            <a:prstDash val="solid"/>
          </a:ln>
        </p:spPr>
        <p:txBody>
          <a:bodyPr wrap="square" lIns="0" tIns="0" rIns="0" bIns="0" anchor="t">
            <a:normAutofit/>
          </a:bodyPr>
          <a:lstStyle/>
          <a:p>
            <a:pPr algn="l">
              <a:lnSpc>
                <a:spcPct val="115000"/>
              </a:lnSpc>
              <a:buNone/>
              <a:defRPr sz="1425" b="0">
                <a:solidFill>
                  <a:srgbClr val="99A6B8"/>
                </a:solidFill>
                <a:latin typeface="Aptos"/>
                <a:ea typeface="Aptos"/>
                <a:cs typeface="Aptos"/>
              </a:defRPr>
            </a:pPr>
            <a:r>
              <a:rPr sz="1425" b="0">
                <a:solidFill>
                  <a:srgbClr val="99A6B8"/>
                </a:solidFill>
                <a:latin typeface="Aptos"/>
                <a:ea typeface="Aptos"/>
                <a:cs typeface="Aptos"/>
              </a:rPr>
              <a:t>Agent Wallet + policy</a:t>
            </a:r>
          </a:p>
          <a:p>
            <a:pPr algn="l">
              <a:lnSpc>
                <a:spcPct val="115000"/>
              </a:lnSpc>
              <a:buNone/>
              <a:defRPr sz="1425" b="0">
                <a:solidFill>
                  <a:srgbClr val="99A6B8"/>
                </a:solidFill>
                <a:latin typeface="Aptos"/>
                <a:ea typeface="Aptos"/>
                <a:cs typeface="Aptos"/>
              </a:defRPr>
            </a:pPr>
            <a:r>
              <a:rPr sz="1425" b="0">
                <a:solidFill>
                  <a:srgbClr val="99A6B8"/>
                </a:solidFill>
                <a:latin typeface="Aptos"/>
                <a:ea typeface="Aptos"/>
                <a:cs typeface="Aptos"/>
              </a:rPr>
              <a:t>Circle agent tools</a:t>
            </a:r>
          </a:p>
          <a:p>
            <a:pPr algn="l">
              <a:lnSpc>
                <a:spcPct val="115000"/>
              </a:lnSpc>
              <a:buNone/>
              <a:defRPr sz="1425" b="0">
                <a:solidFill>
                  <a:srgbClr val="99A6B8"/>
                </a:solidFill>
                <a:latin typeface="Aptos"/>
                <a:ea typeface="Aptos"/>
                <a:cs typeface="Aptos"/>
              </a:defRPr>
            </a:pPr>
            <a:r>
              <a:rPr sz="1425" b="0">
                <a:solidFill>
                  <a:srgbClr val="99A6B8"/>
                </a:solidFill>
                <a:latin typeface="Aptos"/>
                <a:ea typeface="Aptos"/>
                <a:cs typeface="Aptos"/>
              </a:rPr>
              <a:t>real USDC + proof</a:t>
            </a:r>
          </a:p>
        </p:txBody>
      </p:sp>
      <p:sp>
        <p:nvSpPr>
          <p:cNvPr id="12" name="Oval 11">
            <a:extLst>
              <a:ext uri="{FF2B5EF4-FFF2-40B4-BE49-F238E27FC236}">
                <a16:creationId xmlns:a16="http://schemas.microsoft.com/office/drawing/2014/main" id="{7AC280AA-9E03-499F-9CDB-4D20F556A720}"/>
              </a:ext>
            </a:extLst>
          </p:cNvPr>
          <p:cNvSpPr>
            <a:spLocks noGrp="1"/>
          </p:cNvSpPr>
          <p:nvPr/>
        </p:nvSpPr>
        <p:spPr>
          <a:xfrm>
            <a:off x="3238500" y="2876550"/>
            <a:ext cx="171450" cy="171450"/>
          </a:xfrm>
          <a:prstGeom prst="ellipse">
            <a:avLst/>
          </a:prstGeom>
          <a:solidFill>
            <a:srgbClr val="B29CFF"/>
          </a:solidFill>
          <a:ln w="0">
            <a:noFill/>
            <a:prstDash val="solid"/>
          </a:ln>
        </p:spPr>
        <p:txBody>
          <a:bodyPr/>
          <a:lstStyle/>
          <a:p>
            <a:endParaRPr lang="en-IN"/>
          </a:p>
        </p:txBody>
      </p:sp>
      <p:sp>
        <p:nvSpPr>
          <p:cNvPr id="13" name="Rectangle 12">
            <a:extLst>
              <a:ext uri="{FF2B5EF4-FFF2-40B4-BE49-F238E27FC236}">
                <a16:creationId xmlns:a16="http://schemas.microsoft.com/office/drawing/2014/main" id="{24FBD661-A58D-433E-BA8C-9DEF7058E606}"/>
              </a:ext>
            </a:extLst>
          </p:cNvPr>
          <p:cNvSpPr>
            <a:spLocks noGrp="1"/>
          </p:cNvSpPr>
          <p:nvPr/>
        </p:nvSpPr>
        <p:spPr>
          <a:xfrm>
            <a:off x="3238500" y="2343150"/>
            <a:ext cx="1428750" cy="20955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B29CFF"/>
                </a:solidFill>
                <a:latin typeface="Aptos"/>
                <a:ea typeface="Aptos"/>
                <a:cs typeface="Aptos"/>
              </a:defRPr>
            </a:pPr>
            <a:r>
              <a:rPr sz="1050" b="1">
                <a:solidFill>
                  <a:srgbClr val="B29CFF"/>
                </a:solidFill>
                <a:latin typeface="Aptos"/>
                <a:ea typeface="Aptos"/>
                <a:cs typeface="Aptos"/>
              </a:rPr>
              <a:t>PHASE 2</a:t>
            </a:r>
          </a:p>
        </p:txBody>
      </p:sp>
      <p:sp>
        <p:nvSpPr>
          <p:cNvPr id="14" name="Rectangle 13">
            <a:extLst>
              <a:ext uri="{FF2B5EF4-FFF2-40B4-BE49-F238E27FC236}">
                <a16:creationId xmlns:a16="http://schemas.microsoft.com/office/drawing/2014/main" id="{743FB6B0-0D19-409A-B11D-EB2B11E72C83}"/>
              </a:ext>
            </a:extLst>
          </p:cNvPr>
          <p:cNvSpPr>
            <a:spLocks noGrp="1"/>
          </p:cNvSpPr>
          <p:nvPr/>
        </p:nvSpPr>
        <p:spPr>
          <a:xfrm>
            <a:off x="3238500" y="3381375"/>
            <a:ext cx="2381250" cy="342900"/>
          </a:xfrm>
          <a:prstGeom prst="rect">
            <a:avLst/>
          </a:prstGeom>
          <a:noFill/>
          <a:ln w="0">
            <a:noFill/>
            <a:prstDash val="solid"/>
          </a:ln>
        </p:spPr>
        <p:txBody>
          <a:bodyPr wrap="square" lIns="0" tIns="0" rIns="0" bIns="0" anchor="t">
            <a:normAutofit/>
          </a:bodyPr>
          <a:lstStyle/>
          <a:p>
            <a:pPr algn="l">
              <a:lnSpc>
                <a:spcPct val="102000"/>
              </a:lnSpc>
              <a:buNone/>
              <a:defRPr sz="2025" b="1">
                <a:solidFill>
                  <a:srgbClr val="F4F7FB"/>
                </a:solidFill>
                <a:latin typeface="Aptos"/>
                <a:ea typeface="Aptos"/>
                <a:cs typeface="Aptos"/>
              </a:defRPr>
            </a:pPr>
            <a:r>
              <a:rPr sz="2025" b="1">
                <a:solidFill>
                  <a:srgbClr val="F4F7FB"/>
                </a:solidFill>
                <a:latin typeface="Aptos"/>
                <a:ea typeface="Aptos"/>
                <a:cs typeface="Aptos"/>
              </a:rPr>
              <a:t>Business integration</a:t>
            </a:r>
          </a:p>
        </p:txBody>
      </p:sp>
      <p:sp>
        <p:nvSpPr>
          <p:cNvPr id="15" name="Rectangle 14">
            <a:extLst>
              <a:ext uri="{FF2B5EF4-FFF2-40B4-BE49-F238E27FC236}">
                <a16:creationId xmlns:a16="http://schemas.microsoft.com/office/drawing/2014/main" id="{EBEE484F-B528-4AA6-96CF-DFC63893B3EB}"/>
              </a:ext>
            </a:extLst>
          </p:cNvPr>
          <p:cNvSpPr>
            <a:spLocks noGrp="1"/>
          </p:cNvSpPr>
          <p:nvPr/>
        </p:nvSpPr>
        <p:spPr>
          <a:xfrm>
            <a:off x="3238500" y="3933825"/>
            <a:ext cx="2381250" cy="857250"/>
          </a:xfrm>
          <a:prstGeom prst="rect">
            <a:avLst/>
          </a:prstGeom>
          <a:noFill/>
          <a:ln w="0">
            <a:noFill/>
            <a:prstDash val="solid"/>
          </a:ln>
        </p:spPr>
        <p:txBody>
          <a:bodyPr wrap="square" lIns="0" tIns="0" rIns="0" bIns="0" anchor="t">
            <a:normAutofit/>
          </a:bodyPr>
          <a:lstStyle/>
          <a:p>
            <a:pPr algn="l">
              <a:lnSpc>
                <a:spcPct val="115000"/>
              </a:lnSpc>
              <a:buNone/>
              <a:defRPr sz="1425" b="0">
                <a:solidFill>
                  <a:srgbClr val="99A6B8"/>
                </a:solidFill>
                <a:latin typeface="Aptos"/>
                <a:ea typeface="Aptos"/>
                <a:cs typeface="Aptos"/>
              </a:defRPr>
            </a:pPr>
            <a:r>
              <a:rPr sz="1425" b="0">
                <a:solidFill>
                  <a:srgbClr val="99A6B8"/>
                </a:solidFill>
                <a:latin typeface="Aptos"/>
                <a:ea typeface="Aptos"/>
                <a:cs typeface="Aptos"/>
              </a:rPr>
              <a:t>Publish HTTPS API or</a:t>
            </a:r>
          </a:p>
          <a:p>
            <a:pPr algn="l">
              <a:lnSpc>
                <a:spcPct val="115000"/>
              </a:lnSpc>
              <a:buNone/>
              <a:defRPr sz="1425" b="0">
                <a:solidFill>
                  <a:srgbClr val="99A6B8"/>
                </a:solidFill>
                <a:latin typeface="Aptos"/>
                <a:ea typeface="Aptos"/>
                <a:cs typeface="Aptos"/>
              </a:defRPr>
            </a:pPr>
            <a:r>
              <a:rPr sz="1425" b="0">
                <a:solidFill>
                  <a:srgbClr val="99A6B8"/>
                </a:solidFill>
                <a:latin typeface="Aptos"/>
                <a:ea typeface="Aptos"/>
                <a:cs typeface="Aptos"/>
              </a:rPr>
              <a:t>private adapter</a:t>
            </a:r>
          </a:p>
          <a:p>
            <a:pPr algn="l">
              <a:lnSpc>
                <a:spcPct val="115000"/>
              </a:lnSpc>
              <a:buNone/>
              <a:defRPr sz="1425" b="0">
                <a:solidFill>
                  <a:srgbClr val="99A6B8"/>
                </a:solidFill>
                <a:latin typeface="Aptos"/>
                <a:ea typeface="Aptos"/>
                <a:cs typeface="Aptos"/>
              </a:defRPr>
            </a:pPr>
            <a:r>
              <a:rPr sz="1425" b="0">
                <a:solidFill>
                  <a:srgbClr val="99A6B8"/>
                </a:solidFill>
                <a:latin typeface="Aptos"/>
                <a:ea typeface="Aptos"/>
                <a:cs typeface="Aptos"/>
              </a:rPr>
              <a:t>service + usage contract</a:t>
            </a:r>
          </a:p>
        </p:txBody>
      </p:sp>
      <p:sp>
        <p:nvSpPr>
          <p:cNvPr id="16" name="Oval 15">
            <a:extLst>
              <a:ext uri="{FF2B5EF4-FFF2-40B4-BE49-F238E27FC236}">
                <a16:creationId xmlns:a16="http://schemas.microsoft.com/office/drawing/2014/main" id="{81DC6F99-E7F7-47CB-81BE-7807D9BE1830}"/>
              </a:ext>
            </a:extLst>
          </p:cNvPr>
          <p:cNvSpPr>
            <a:spLocks noGrp="1"/>
          </p:cNvSpPr>
          <p:nvPr/>
        </p:nvSpPr>
        <p:spPr>
          <a:xfrm>
            <a:off x="6019800" y="2876550"/>
            <a:ext cx="171450" cy="171450"/>
          </a:xfrm>
          <a:prstGeom prst="ellipse">
            <a:avLst/>
          </a:prstGeom>
          <a:solidFill>
            <a:srgbClr val="5BE7FF"/>
          </a:solidFill>
          <a:ln w="0">
            <a:noFill/>
            <a:prstDash val="solid"/>
          </a:ln>
        </p:spPr>
        <p:txBody>
          <a:bodyPr/>
          <a:lstStyle/>
          <a:p>
            <a:endParaRPr lang="en-IN"/>
          </a:p>
        </p:txBody>
      </p:sp>
      <p:sp>
        <p:nvSpPr>
          <p:cNvPr id="17" name="Rectangle 16">
            <a:extLst>
              <a:ext uri="{FF2B5EF4-FFF2-40B4-BE49-F238E27FC236}">
                <a16:creationId xmlns:a16="http://schemas.microsoft.com/office/drawing/2014/main" id="{DA349F9B-3560-4FBA-905A-403E2678F12E}"/>
              </a:ext>
            </a:extLst>
          </p:cNvPr>
          <p:cNvSpPr>
            <a:spLocks noGrp="1"/>
          </p:cNvSpPr>
          <p:nvPr/>
        </p:nvSpPr>
        <p:spPr>
          <a:xfrm>
            <a:off x="6019800" y="2343150"/>
            <a:ext cx="1428750" cy="20955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5BE7FF"/>
                </a:solidFill>
                <a:latin typeface="Aptos"/>
                <a:ea typeface="Aptos"/>
                <a:cs typeface="Aptos"/>
              </a:defRPr>
            </a:pPr>
            <a:r>
              <a:rPr sz="1050" b="1">
                <a:solidFill>
                  <a:srgbClr val="5BE7FF"/>
                </a:solidFill>
                <a:latin typeface="Aptos"/>
                <a:ea typeface="Aptos"/>
                <a:cs typeface="Aptos"/>
              </a:rPr>
              <a:t>PHASE 3</a:t>
            </a:r>
          </a:p>
        </p:txBody>
      </p:sp>
      <p:sp>
        <p:nvSpPr>
          <p:cNvPr id="18" name="Rectangle 17">
            <a:extLst>
              <a:ext uri="{FF2B5EF4-FFF2-40B4-BE49-F238E27FC236}">
                <a16:creationId xmlns:a16="http://schemas.microsoft.com/office/drawing/2014/main" id="{37C8EA2C-0C63-47F8-97EC-85FD2212C7B1}"/>
              </a:ext>
            </a:extLst>
          </p:cNvPr>
          <p:cNvSpPr>
            <a:spLocks noGrp="1"/>
          </p:cNvSpPr>
          <p:nvPr/>
        </p:nvSpPr>
        <p:spPr>
          <a:xfrm>
            <a:off x="6019800" y="3381375"/>
            <a:ext cx="2381250" cy="342900"/>
          </a:xfrm>
          <a:prstGeom prst="rect">
            <a:avLst/>
          </a:prstGeom>
          <a:noFill/>
          <a:ln w="0">
            <a:noFill/>
            <a:prstDash val="solid"/>
          </a:ln>
        </p:spPr>
        <p:txBody>
          <a:bodyPr wrap="square" lIns="0" tIns="0" rIns="0" bIns="0" anchor="t">
            <a:normAutofit/>
          </a:bodyPr>
          <a:lstStyle/>
          <a:p>
            <a:pPr algn="l">
              <a:lnSpc>
                <a:spcPct val="102000"/>
              </a:lnSpc>
              <a:buNone/>
              <a:defRPr sz="2025" b="1">
                <a:solidFill>
                  <a:srgbClr val="F4F7FB"/>
                </a:solidFill>
                <a:latin typeface="Aptos"/>
                <a:ea typeface="Aptos"/>
                <a:cs typeface="Aptos"/>
              </a:defRPr>
            </a:pPr>
            <a:r>
              <a:rPr sz="2025" b="1">
                <a:solidFill>
                  <a:srgbClr val="F4F7FB"/>
                </a:solidFill>
                <a:latin typeface="Aptos"/>
                <a:ea typeface="Aptos"/>
                <a:cs typeface="Aptos"/>
              </a:rPr>
              <a:t>Payment proof</a:t>
            </a:r>
          </a:p>
        </p:txBody>
      </p:sp>
      <p:sp>
        <p:nvSpPr>
          <p:cNvPr id="19" name="Rectangle 18">
            <a:extLst>
              <a:ext uri="{FF2B5EF4-FFF2-40B4-BE49-F238E27FC236}">
                <a16:creationId xmlns:a16="http://schemas.microsoft.com/office/drawing/2014/main" id="{8644C294-40CE-4605-BC03-5FE011B6C4B3}"/>
              </a:ext>
            </a:extLst>
          </p:cNvPr>
          <p:cNvSpPr>
            <a:spLocks noGrp="1"/>
          </p:cNvSpPr>
          <p:nvPr/>
        </p:nvSpPr>
        <p:spPr>
          <a:xfrm>
            <a:off x="6019800" y="3933825"/>
            <a:ext cx="2381250" cy="857250"/>
          </a:xfrm>
          <a:prstGeom prst="rect">
            <a:avLst/>
          </a:prstGeom>
          <a:noFill/>
          <a:ln w="0">
            <a:noFill/>
            <a:prstDash val="solid"/>
          </a:ln>
        </p:spPr>
        <p:txBody>
          <a:bodyPr wrap="square" lIns="0" tIns="0" rIns="0" bIns="0" anchor="t">
            <a:normAutofit/>
          </a:bodyPr>
          <a:lstStyle/>
          <a:p>
            <a:pPr algn="l">
              <a:lnSpc>
                <a:spcPct val="115000"/>
              </a:lnSpc>
              <a:buNone/>
              <a:defRPr sz="1425" b="0">
                <a:solidFill>
                  <a:srgbClr val="99A6B8"/>
                </a:solidFill>
                <a:latin typeface="Aptos"/>
                <a:ea typeface="Aptos"/>
                <a:cs typeface="Aptos"/>
              </a:defRPr>
            </a:pPr>
            <a:r>
              <a:rPr sz="1425" b="0">
                <a:solidFill>
                  <a:srgbClr val="99A6B8"/>
                </a:solidFill>
                <a:latin typeface="Aptos"/>
                <a:ea typeface="Aptos"/>
                <a:cs typeface="Aptos"/>
              </a:rPr>
              <a:t>Verified transaction</a:t>
            </a:r>
          </a:p>
          <a:p>
            <a:pPr algn="l">
              <a:lnSpc>
                <a:spcPct val="115000"/>
              </a:lnSpc>
              <a:buNone/>
              <a:defRPr sz="1425" b="0">
                <a:solidFill>
                  <a:srgbClr val="99A6B8"/>
                </a:solidFill>
                <a:latin typeface="Aptos"/>
                <a:ea typeface="Aptos"/>
                <a:cs typeface="Aptos"/>
              </a:defRPr>
            </a:pPr>
            <a:r>
              <a:rPr sz="1425" b="0">
                <a:solidFill>
                  <a:srgbClr val="99A6B8"/>
                </a:solidFill>
                <a:latin typeface="Aptos"/>
                <a:ea typeface="Aptos"/>
                <a:cs typeface="Aptos"/>
              </a:rPr>
              <a:t>wallet + explorer URL</a:t>
            </a:r>
          </a:p>
          <a:p>
            <a:pPr algn="l">
              <a:lnSpc>
                <a:spcPct val="115000"/>
              </a:lnSpc>
              <a:buNone/>
              <a:defRPr sz="1425" b="0">
                <a:solidFill>
                  <a:srgbClr val="99A6B8"/>
                </a:solidFill>
                <a:latin typeface="Aptos"/>
                <a:ea typeface="Aptos"/>
                <a:cs typeface="Aptos"/>
              </a:defRPr>
            </a:pPr>
            <a:r>
              <a:rPr sz="1425" b="0">
                <a:solidFill>
                  <a:srgbClr val="99A6B8"/>
                </a:solidFill>
                <a:latin typeface="Aptos"/>
                <a:ea typeface="Aptos"/>
                <a:cs typeface="Aptos"/>
              </a:rPr>
              <a:t>receipt reconciliation</a:t>
            </a:r>
          </a:p>
        </p:txBody>
      </p:sp>
      <p:sp>
        <p:nvSpPr>
          <p:cNvPr id="20" name="Oval 19">
            <a:extLst>
              <a:ext uri="{FF2B5EF4-FFF2-40B4-BE49-F238E27FC236}">
                <a16:creationId xmlns:a16="http://schemas.microsoft.com/office/drawing/2014/main" id="{FC22D98C-C5C2-4C72-A018-AA61326FAD22}"/>
              </a:ext>
            </a:extLst>
          </p:cNvPr>
          <p:cNvSpPr>
            <a:spLocks noGrp="1"/>
          </p:cNvSpPr>
          <p:nvPr/>
        </p:nvSpPr>
        <p:spPr>
          <a:xfrm>
            <a:off x="8801100" y="2876550"/>
            <a:ext cx="171450" cy="171450"/>
          </a:xfrm>
          <a:prstGeom prst="ellipse">
            <a:avLst/>
          </a:prstGeom>
          <a:solidFill>
            <a:srgbClr val="FFB454"/>
          </a:solidFill>
          <a:ln w="0">
            <a:noFill/>
            <a:prstDash val="solid"/>
          </a:ln>
        </p:spPr>
        <p:txBody>
          <a:bodyPr/>
          <a:lstStyle/>
          <a:p>
            <a:endParaRPr lang="en-IN"/>
          </a:p>
        </p:txBody>
      </p:sp>
      <p:sp>
        <p:nvSpPr>
          <p:cNvPr id="21" name="Rectangle 20">
            <a:extLst>
              <a:ext uri="{FF2B5EF4-FFF2-40B4-BE49-F238E27FC236}">
                <a16:creationId xmlns:a16="http://schemas.microsoft.com/office/drawing/2014/main" id="{455AD0A5-A242-4933-9A78-6B6DECF3FCD0}"/>
              </a:ext>
            </a:extLst>
          </p:cNvPr>
          <p:cNvSpPr>
            <a:spLocks noGrp="1"/>
          </p:cNvSpPr>
          <p:nvPr/>
        </p:nvSpPr>
        <p:spPr>
          <a:xfrm>
            <a:off x="8801100" y="2343150"/>
            <a:ext cx="1428750" cy="209550"/>
          </a:xfrm>
          <a:prstGeom prst="rect">
            <a:avLst/>
          </a:prstGeom>
          <a:noFill/>
          <a:ln w="0">
            <a:noFill/>
            <a:prstDash val="solid"/>
          </a:ln>
        </p:spPr>
        <p:txBody>
          <a:bodyPr wrap="square" lIns="0" tIns="0" rIns="0" bIns="0" anchor="t">
            <a:normAutofit/>
          </a:bodyPr>
          <a:lstStyle/>
          <a:p>
            <a:pPr algn="l">
              <a:lnSpc>
                <a:spcPct val="102000"/>
              </a:lnSpc>
              <a:buNone/>
              <a:defRPr sz="1050" b="1">
                <a:solidFill>
                  <a:srgbClr val="FFB454"/>
                </a:solidFill>
                <a:latin typeface="Aptos"/>
                <a:ea typeface="Aptos"/>
                <a:cs typeface="Aptos"/>
              </a:defRPr>
            </a:pPr>
            <a:r>
              <a:rPr sz="1050" b="1">
                <a:solidFill>
                  <a:srgbClr val="FFB454"/>
                </a:solidFill>
                <a:latin typeface="Aptos"/>
                <a:ea typeface="Aptos"/>
                <a:cs typeface="Aptos"/>
              </a:rPr>
              <a:t>PHASE 4</a:t>
            </a:r>
          </a:p>
        </p:txBody>
      </p:sp>
      <p:sp>
        <p:nvSpPr>
          <p:cNvPr id="22" name="Rectangle 21">
            <a:extLst>
              <a:ext uri="{FF2B5EF4-FFF2-40B4-BE49-F238E27FC236}">
                <a16:creationId xmlns:a16="http://schemas.microsoft.com/office/drawing/2014/main" id="{EE0DDEE5-298C-43D6-A662-98A3D886CE14}"/>
              </a:ext>
            </a:extLst>
          </p:cNvPr>
          <p:cNvSpPr>
            <a:spLocks noGrp="1"/>
          </p:cNvSpPr>
          <p:nvPr/>
        </p:nvSpPr>
        <p:spPr>
          <a:xfrm>
            <a:off x="8801100" y="3381375"/>
            <a:ext cx="2381250" cy="342900"/>
          </a:xfrm>
          <a:prstGeom prst="rect">
            <a:avLst/>
          </a:prstGeom>
          <a:noFill/>
          <a:ln w="0">
            <a:noFill/>
            <a:prstDash val="solid"/>
          </a:ln>
        </p:spPr>
        <p:txBody>
          <a:bodyPr wrap="square" lIns="0" tIns="0" rIns="0" bIns="0" anchor="t">
            <a:normAutofit/>
          </a:bodyPr>
          <a:lstStyle/>
          <a:p>
            <a:pPr algn="l">
              <a:lnSpc>
                <a:spcPct val="102000"/>
              </a:lnSpc>
              <a:buNone/>
              <a:defRPr sz="2025" b="1">
                <a:solidFill>
                  <a:srgbClr val="F4F7FB"/>
                </a:solidFill>
                <a:latin typeface="Aptos"/>
                <a:ea typeface="Aptos"/>
                <a:cs typeface="Aptos"/>
              </a:defRPr>
            </a:pPr>
            <a:r>
              <a:rPr sz="2025" b="1">
                <a:solidFill>
                  <a:srgbClr val="F4F7FB"/>
                </a:solidFill>
                <a:latin typeface="Aptos"/>
                <a:ea typeface="Aptos"/>
                <a:cs typeface="Aptos"/>
              </a:rPr>
              <a:t>Commercial rails</a:t>
            </a:r>
          </a:p>
        </p:txBody>
      </p:sp>
      <p:sp>
        <p:nvSpPr>
          <p:cNvPr id="23" name="Rectangle 22">
            <a:extLst>
              <a:ext uri="{FF2B5EF4-FFF2-40B4-BE49-F238E27FC236}">
                <a16:creationId xmlns:a16="http://schemas.microsoft.com/office/drawing/2014/main" id="{DF7EA0FE-8CD1-4B88-9FEB-27B31F2A68F0}"/>
              </a:ext>
            </a:extLst>
          </p:cNvPr>
          <p:cNvSpPr>
            <a:spLocks noGrp="1"/>
          </p:cNvSpPr>
          <p:nvPr/>
        </p:nvSpPr>
        <p:spPr>
          <a:xfrm>
            <a:off x="8801100" y="3933825"/>
            <a:ext cx="2381250" cy="857250"/>
          </a:xfrm>
          <a:prstGeom prst="rect">
            <a:avLst/>
          </a:prstGeom>
          <a:noFill/>
          <a:ln w="0">
            <a:noFill/>
            <a:prstDash val="solid"/>
          </a:ln>
        </p:spPr>
        <p:txBody>
          <a:bodyPr wrap="square" lIns="0" tIns="0" rIns="0" bIns="0" anchor="t">
            <a:normAutofit/>
          </a:bodyPr>
          <a:lstStyle/>
          <a:p>
            <a:pPr algn="l">
              <a:lnSpc>
                <a:spcPct val="115000"/>
              </a:lnSpc>
              <a:buNone/>
              <a:defRPr sz="1425" b="0">
                <a:solidFill>
                  <a:srgbClr val="99A6B8"/>
                </a:solidFill>
                <a:latin typeface="Aptos"/>
                <a:ea typeface="Aptos"/>
                <a:cs typeface="Aptos"/>
              </a:defRPr>
            </a:pPr>
            <a:r>
              <a:rPr sz="1425" b="0">
                <a:solidFill>
                  <a:srgbClr val="99A6B8"/>
                </a:solidFill>
                <a:latin typeface="Aptos"/>
                <a:ea typeface="Aptos"/>
                <a:cs typeface="Aptos"/>
              </a:rPr>
              <a:t>Cloud SQL + operations</a:t>
            </a:r>
          </a:p>
          <a:p>
            <a:pPr algn="l">
              <a:lnSpc>
                <a:spcPct val="115000"/>
              </a:lnSpc>
              <a:buNone/>
              <a:defRPr sz="1425" b="0">
                <a:solidFill>
                  <a:srgbClr val="99A6B8"/>
                </a:solidFill>
                <a:latin typeface="Aptos"/>
                <a:ea typeface="Aptos"/>
                <a:cs typeface="Aptos"/>
              </a:defRPr>
            </a:pPr>
            <a:r>
              <a:rPr sz="1425" b="0">
                <a:solidFill>
                  <a:srgbClr val="99A6B8"/>
                </a:solidFill>
                <a:latin typeface="Aptos"/>
                <a:ea typeface="Aptos"/>
                <a:cs typeface="Aptos"/>
              </a:rPr>
              <a:t>Razorpay INR option</a:t>
            </a:r>
          </a:p>
          <a:p>
            <a:pPr algn="l">
              <a:lnSpc>
                <a:spcPct val="115000"/>
              </a:lnSpc>
              <a:buNone/>
              <a:defRPr sz="1425" b="0">
                <a:solidFill>
                  <a:srgbClr val="99A6B8"/>
                </a:solidFill>
                <a:latin typeface="Aptos"/>
                <a:ea typeface="Aptos"/>
                <a:cs typeface="Aptos"/>
              </a:defRPr>
            </a:pPr>
            <a:r>
              <a:rPr sz="1425" b="0">
                <a:solidFill>
                  <a:srgbClr val="99A6B8"/>
                </a:solidFill>
                <a:latin typeface="Aptos"/>
                <a:ea typeface="Aptos"/>
                <a:cs typeface="Aptos"/>
              </a:rPr>
              <a:t>pilot + scale</a:t>
            </a:r>
          </a:p>
        </p:txBody>
      </p:sp>
      <p:sp>
        <p:nvSpPr>
          <p:cNvPr id="25" name="Rectangle 24">
            <a:extLst>
              <a:ext uri="{FF2B5EF4-FFF2-40B4-BE49-F238E27FC236}">
                <a16:creationId xmlns:a16="http://schemas.microsoft.com/office/drawing/2014/main" id="{DECD69EB-2D6A-4892-B58D-BB4161F000F6}"/>
              </a:ext>
            </a:extLst>
          </p:cNvPr>
          <p:cNvSpPr>
            <a:spLocks noGrp="1"/>
          </p:cNvSpPr>
          <p:nvPr/>
        </p:nvSpPr>
        <p:spPr>
          <a:xfrm>
            <a:off x="685800" y="5514975"/>
            <a:ext cx="1619250" cy="247650"/>
          </a:xfrm>
          <a:prstGeom prst="rect">
            <a:avLst/>
          </a:prstGeom>
          <a:noFill/>
          <a:ln w="0">
            <a:noFill/>
            <a:prstDash val="solid"/>
          </a:ln>
        </p:spPr>
        <p:txBody>
          <a:bodyPr wrap="square" lIns="0" tIns="0" rIns="0" bIns="0" anchor="t">
            <a:normAutofit/>
          </a:bodyPr>
          <a:lstStyle/>
          <a:p>
            <a:pPr algn="l">
              <a:lnSpc>
                <a:spcPct val="102000"/>
              </a:lnSpc>
              <a:buNone/>
              <a:defRPr sz="1500" b="1">
                <a:solidFill>
                  <a:srgbClr val="38E09F"/>
                </a:solidFill>
                <a:latin typeface="Aptos"/>
                <a:ea typeface="Aptos"/>
                <a:cs typeface="Aptos"/>
              </a:defRPr>
            </a:pPr>
            <a:endParaRPr sz="1500" b="1" dirty="0">
              <a:solidFill>
                <a:srgbClr val="38E09F"/>
              </a:solidFill>
              <a:latin typeface="Aptos"/>
              <a:ea typeface="Aptos"/>
              <a:cs typeface="Aptos"/>
            </a:endParaRPr>
          </a:p>
        </p:txBody>
      </p:sp>
      <p:sp>
        <p:nvSpPr>
          <p:cNvPr id="26" name="Rectangle 25">
            <a:extLst>
              <a:ext uri="{FF2B5EF4-FFF2-40B4-BE49-F238E27FC236}">
                <a16:creationId xmlns:a16="http://schemas.microsoft.com/office/drawing/2014/main" id="{E4C2DB42-966F-4BF7-AB02-BA117C1AF48D}"/>
              </a:ext>
            </a:extLst>
          </p:cNvPr>
          <p:cNvSpPr>
            <a:spLocks noGrp="1"/>
          </p:cNvSpPr>
          <p:nvPr/>
        </p:nvSpPr>
        <p:spPr>
          <a:xfrm>
            <a:off x="2457450" y="5429250"/>
            <a:ext cx="8439150" cy="400050"/>
          </a:xfrm>
          <a:prstGeom prst="rect">
            <a:avLst/>
          </a:prstGeom>
          <a:noFill/>
          <a:ln w="0">
            <a:noFill/>
            <a:prstDash val="solid"/>
          </a:ln>
        </p:spPr>
        <p:txBody>
          <a:bodyPr wrap="square" lIns="0" tIns="0" rIns="0" bIns="0" anchor="t">
            <a:normAutofit fontScale="99360"/>
          </a:bodyPr>
          <a:lstStyle/>
          <a:p>
            <a:pPr algn="ctr">
              <a:lnSpc>
                <a:spcPct val="102000"/>
              </a:lnSpc>
              <a:buNone/>
              <a:defRPr sz="1425" b="1">
                <a:solidFill>
                  <a:srgbClr val="F4F7FB"/>
                </a:solidFill>
                <a:latin typeface="Aptos"/>
                <a:ea typeface="Aptos"/>
                <a:cs typeface="Aptos"/>
              </a:defRPr>
            </a:pPr>
            <a:endParaRPr sz="1425" b="1" dirty="0">
              <a:solidFill>
                <a:srgbClr val="F4F7FB"/>
              </a:solidFill>
              <a:latin typeface="Aptos"/>
              <a:ea typeface="Aptos"/>
              <a:cs typeface="Aptos"/>
            </a:endParaRPr>
          </a:p>
        </p:txBody>
      </p:sp>
    </p:spTree>
    <p:extLst>
      <p:ext uri="{BB962C8B-B14F-4D97-AF65-F5344CB8AC3E}">
        <p14:creationId xmlns:p14="http://schemas.microsoft.com/office/powerpoint/2010/main" val="43079636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2232</Words>
  <Application>Microsoft Office PowerPoint</Application>
  <DocSecurity>0</DocSecurity>
  <PresentationFormat>Widescreen</PresentationFormat>
  <Paragraphs>309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Aptos</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Anuveshika  Prasad</cp:lastModifiedBy>
  <cp:revision>1</cp:revision>
  <dcterms:created xsi:type="dcterms:W3CDTF">2026-08-17T14:19:19Z</dcterms:created>
  <dcterms:modified xsi:type="dcterms:W3CDTF">2026-08-17T14:28:16Z</dcterms:modified>
</cp:coreProperties>
</file>